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介绍方法的整体顺序，后续六页逐步展开。沿开发工作流拆解任务，定位模型知识获取环节与指标。M1至M10用五档标准，M11为连续百分制，均以可检查的证据判分，减少主观性。先比较每个模型内的两个生态，再检查跨模型差异方向和重复出现的缺口，不计算三个模型混合总均分。GLM-5.3初评，GPT-5.6 Luna辅助指定内容复核，GPT-6 Astra主审定。复核属于证据和内容复核，不等于硬件端到端运行验证。正式结果使用2026-09-21冻结量规。Benchmark Skill用于执行并持续沉淀可复用方法，当前安装默认版本并不代表覆盖正式结果的每项指标。图示是后续页面的真实片段，仅供概览，细节在相应页面展开。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/Users/hsin/Documents/Coding/opknow/paper/ai-usability/slides/实验方法与过程-20261008/AI可用性研究-实验方法与过程-六页精简版-Skill输入层级版.pptx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个生态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生态视觉编码：CUDA生态采用NVIDIA绿的浅色底，CANN生态采用红的浅色底。第4页使用官方NVIDIA横向标识与CANN软件字标，比例保持原样；此编码仅表示生态，不表示得分或优劣。第8页生态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low。这些设置不等于操作系统隔离。模型别名不保证固定底层快照；搜索提供方未独立锁定。每个模型在每个生态只有一次有效入选运行，三模型不代替同模型重复试验。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本页说明模型分工、记录如何变成分数，以及复核与汇总方式。下面的真实案例可用于口头补充或问答。我们使用B任务的CUDA生态Kimi运行，原题是：PyTorch模型GPU利用率不高，怎么用Nsight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个生态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个生态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生态视觉编码：CUDA生态采用NVIDIA绿的浅色底，CANN生态采用红的浅色底。第4页使用官方NVIDIA横向标识与CANN软件字标，比例保持原样；此编码仅表示生态，不表示得分或优劣。本页生态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个生态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生态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个生态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本页展示将实验方法沉淀为可重复使用的Benchmark Skill。任务、生态和实际执行模型是可配置输入，页面列多个示例，说明方法可以在其他对象上复用。任务示例包括性能瓶颈定位、模型转换与部署和版本配套排查。当前正式实验的生态为CANN与CUDA，实际执行模型为GLM-5.3、DeepSeek V4.1 Flash和Kimi（kimi-k3-2）。华为云等生态属于可扩展示例，并非本次已经完成的实测结果。</a:t>
            </a:r>
          </a:p>
          <a:p/>
          <a:p>
            <a:r>
              <a:t>实际Skill允许用户指定其他生态，也允许使用其他具备所需工具的模型。扩展前需要明确具体任务和服务、资料范围、执行条件与评分适用范围，配置后复用实验和评价流程。本页不声称只替换名称即可自动完成其他生态的评测。正式批次采用冻结版本，当前安装入口的默认评分定义与正式批次分别管理。</a:t>
            </a:r>
          </a:p>
          <a:p/>
          <a:p>
            <a:r>
              <a:t>流程依次为准备实验、执行实验、评分与复核。准备阶段选择输入并确定实验要求；执行阶段先保存无工具回答，再检索资料并形成最终回答；后续按照对应规则评价并回查证据。执行实验保留process.jsonl，评分与复核保留evaluation.json。虚线只表示动作产生或保存对应文件，过程记录和评分记录并不构成新的实验步骤。评分可回查过程文件中的原始证据，因此记录支持后续复核。</a:t>
            </a:r>
          </a:p>
          <a:p/>
          <a:p>
            <a:r>
              <a:t>下方两份真实片段都来自同一次B题/CANN/GLM-5.3性能分析运行。过程文件展示原问句、首次查询和首条搜索结果。评价文件展示M1官方发现指标的5分及其判分依据，并非整个实验的总分。真实记录片段及文件名保留，用于说明输出可以回溯原始证据；这些片段不属于华为云或其他扩展对象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>
            <a:r>
              <a:t>/Users/hsin/.codex/skills/ai-usability-benchmark/SKILL.md:9</a:t>
            </a:r>
          </a:p>
          <a:p>
            <a:r>
              <a:t>/Users/hsin/Documents/Coding/ai-usability-benchmark/experiments/full-rerun-protocol-20260921/protocol.json /ecosystems</a:t>
            </a:r>
          </a:p>
          <a:p>
            <a:r>
              <a:t>/Users/hsin/Documents/Coding/opknow/paper/ai-usability/revisions/full-rerun-20260921/manuscript-cn.md:205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实验整体流程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实验方法概览</a:t>
            </a:r>
          </a:p>
        </p:txBody>
      </p:sp>
      <p:sp>
        <p:nvSpPr>
          <p:cNvPr id="7" name="实验方法阶段：任务与流程分析"/>
          <p:cNvSpPr/>
          <p:nvPr/>
        </p:nvSpPr>
        <p:spPr>
          <a:xfrm>
            <a:off x="62179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任务与流程分析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沿开发工作流拆解任务
定位知识获取和指标位置</a:t>
            </a:r>
          </a:p>
        </p:txBody>
      </p:sp>
      <p:sp>
        <p:nvSpPr>
          <p:cNvPr id="10" name="实验方法阶段：指标与评分规则"/>
          <p:cNvSpPr/>
          <p:nvPr/>
        </p:nvSpPr>
        <p:spPr>
          <a:xfrm>
            <a:off x="341071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C6975"/>
                </a:solidFill>
                <a:latin typeface="PingFang SC"/>
                <a:ea typeface="PingFang SC"/>
              </a:rPr>
              <a:t>指标与评分规则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定义指标，明确评分标准
按可核验证据判分</a:t>
            </a:r>
          </a:p>
        </p:txBody>
      </p:sp>
      <p:sp>
        <p:nvSpPr>
          <p:cNvPr id="13" name="实验方法阶段：问题对与实验执行"/>
          <p:cNvSpPr/>
          <p:nvPr/>
        </p:nvSpPr>
        <p:spPr>
          <a:xfrm>
            <a:off x="619963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问题对与实验执行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为两个生态设计对照问题
按统一要求执行实验</a:t>
            </a:r>
          </a:p>
        </p:txBody>
      </p:sp>
      <p:sp>
        <p:nvSpPr>
          <p:cNvPr id="16" name="实验方法阶段：评分复核与方法沉淀"/>
          <p:cNvSpPr/>
          <p:nvPr/>
        </p:nvSpPr>
        <p:spPr>
          <a:xfrm>
            <a:off x="898855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评分复核与方法沉淀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复核评分，比较结果
保存证据，复用实验方法</a:t>
            </a:r>
          </a:p>
        </p:txBody>
      </p:sp>
      <p:sp>
        <p:nvSpPr>
          <p:cNvPr id="19" name="真实材料图示区域：workflow"/>
          <p:cNvSpPr/>
          <p:nvPr/>
        </p:nvSpPr>
        <p:spPr>
          <a:xfrm>
            <a:off x="62179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现有知识获取Workflow完整图示" descr="slide-2.png"/>
          <p:cNvPicPr>
            <a:picLocks noChangeAspect="1"/>
          </p:cNvPicPr>
          <p:nvPr/>
        </p:nvPicPr>
        <p:blipFill>
          <a:blip r:embed="rId3"/>
          <a:srcRect l="5312" t="17130" r="6510" b="2685"/>
          <a:stretch>
            <a:fillRect/>
          </a:stretch>
        </p:blipFill>
        <p:spPr>
          <a:xfrm>
            <a:off x="621792" y="3638177"/>
            <a:ext cx="2578608" cy="1319004"/>
          </a:xfrm>
          <a:prstGeom prst="rect">
            <a:avLst/>
          </a:prstGeom>
        </p:spPr>
      </p:pic>
      <p:sp>
        <p:nvSpPr>
          <p:cNvPr id="21" name="真实材料图示区域：rubric"/>
          <p:cNvSpPr/>
          <p:nvPr/>
        </p:nvSpPr>
        <p:spPr>
          <a:xfrm>
            <a:off x="341071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现有五档评分标准图示" descr="slide-2.png"/>
          <p:cNvPicPr>
            <a:picLocks noChangeAspect="1"/>
          </p:cNvPicPr>
          <p:nvPr/>
        </p:nvPicPr>
        <p:blipFill>
          <a:blip r:embed="rId4"/>
          <a:srcRect l="3906" t="15741" r="3906" b="6481"/>
          <a:stretch>
            <a:fillRect/>
          </a:stretch>
        </p:blipFill>
        <p:spPr>
          <a:xfrm>
            <a:off x="3410712" y="3685806"/>
            <a:ext cx="2578608" cy="1223746"/>
          </a:xfrm>
          <a:prstGeom prst="rect">
            <a:avLst/>
          </a:prstGeom>
        </p:spPr>
      </p:pic>
      <p:sp>
        <p:nvSpPr>
          <p:cNvPr id="23" name="真实材料图示区域：pairs"/>
          <p:cNvSpPr/>
          <p:nvPr/>
        </p:nvSpPr>
        <p:spPr>
          <a:xfrm>
            <a:off x="619963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B任务CUDA原有问题示例" descr="slide-4.png"/>
          <p:cNvPicPr>
            <a:picLocks noChangeAspect="1"/>
          </p:cNvPicPr>
          <p:nvPr/>
        </p:nvPicPr>
        <p:blipFill>
          <a:blip r:embed="rId5"/>
          <a:srcRect l="5104" t="51389" r="52188" b="16667"/>
          <a:stretch>
            <a:fillRect/>
          </a:stretch>
        </p:blipFill>
        <p:spPr>
          <a:xfrm>
            <a:off x="6199632" y="3156296"/>
            <a:ext cx="2578608" cy="1084902"/>
          </a:xfrm>
          <a:prstGeom prst="rect">
            <a:avLst/>
          </a:prstGeom>
        </p:spPr>
      </p:pic>
      <p:pic>
        <p:nvPicPr>
          <p:cNvPr id="25" name="B任务CANN原有问题示例" descr="slide-4.png"/>
          <p:cNvPicPr>
            <a:picLocks noChangeAspect="1"/>
          </p:cNvPicPr>
          <p:nvPr/>
        </p:nvPicPr>
        <p:blipFill>
          <a:blip r:embed="rId5"/>
          <a:srcRect l="52188" t="51389" r="5052" b="16667"/>
          <a:stretch>
            <a:fillRect/>
          </a:stretch>
        </p:blipFill>
        <p:spPr>
          <a:xfrm>
            <a:off x="6199632" y="4354821"/>
            <a:ext cx="2578608" cy="1083580"/>
          </a:xfrm>
          <a:prstGeom prst="rect">
            <a:avLst/>
          </a:prstGeom>
        </p:spPr>
      </p:pic>
      <p:sp>
        <p:nvSpPr>
          <p:cNvPr id="26" name="真实材料图示区域：records"/>
          <p:cNvSpPr/>
          <p:nvPr/>
        </p:nvSpPr>
        <p:spPr>
          <a:xfrm>
            <a:off x="898855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真实过程记录文件及原文片段" descr="slide-6.png"/>
          <p:cNvPicPr>
            <a:picLocks noChangeAspect="1"/>
          </p:cNvPicPr>
          <p:nvPr/>
        </p:nvPicPr>
        <p:blipFill>
          <a:blip r:embed="rId6"/>
          <a:srcRect l="25990" t="43611" r="43125" b="30741"/>
          <a:stretch>
            <a:fillRect/>
          </a:stretch>
        </p:blipFill>
        <p:spPr>
          <a:xfrm>
            <a:off x="9113118" y="3154680"/>
            <a:ext cx="2329475" cy="1088136"/>
          </a:xfrm>
          <a:prstGeom prst="rect">
            <a:avLst/>
          </a:prstGeom>
        </p:spPr>
      </p:pic>
      <p:pic>
        <p:nvPicPr>
          <p:cNvPr id="28" name="真实评分记录文件及原文片段" descr="slide-6.png"/>
          <p:cNvPicPr>
            <a:picLocks noChangeAspect="1"/>
          </p:cNvPicPr>
          <p:nvPr/>
        </p:nvPicPr>
        <p:blipFill>
          <a:blip r:embed="rId6"/>
          <a:srcRect l="65312" t="43611" r="3854" b="34167"/>
          <a:stretch>
            <a:fillRect/>
          </a:stretch>
        </p:blipFill>
        <p:spPr>
          <a:xfrm>
            <a:off x="8988552" y="4373921"/>
            <a:ext cx="2578608" cy="10453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同一个开发目标，设计两个生态的对照问题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设计生态对照问题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166360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166360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目标相近，工具和交付要求按各自生态设置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25组问题对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700784"/>
            <a:ext cx="10945368" cy="45720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801368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8" name="Oval 17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1" name="Oval 20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生态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8" name="生态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各模型内，按指标计算两个生态均分</a:t>
            </a:r>
          </a:p>
        </p:txBody>
      </p:sp>
      <p:sp>
        <p:nvSpPr>
          <p:cNvPr id="52" name="独立模型生态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5" name="独立模型生态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8" name="独立模型生态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可替换输入：任务、生态、模型"/>
          <p:cNvSpPr/>
          <p:nvPr/>
        </p:nvSpPr>
        <p:spPr>
          <a:xfrm>
            <a:off x="621792" y="1408176"/>
            <a:ext cx="10945368" cy="1133856"/>
          </a:xfrm>
          <a:prstGeom prst="rect">
            <a:avLst/>
          </a:prstGeom>
          <a:solidFill>
            <a:srgbClr val="FFFFFF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主要输入图标：任务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618488"/>
            <a:ext cx="237744" cy="237744"/>
          </a:xfrm>
          <a:prstGeom prst="rect">
            <a:avLst/>
          </a:prstGeom>
        </p:spPr>
      </p:pic>
      <p:sp>
        <p:nvSpPr>
          <p:cNvPr id="15" name="主要输入标题：任务"/>
          <p:cNvSpPr txBox="1"/>
          <p:nvPr/>
        </p:nvSpPr>
        <p:spPr>
          <a:xfrm>
            <a:off x="1143000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16" name="主要输入图标：生态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618488"/>
            <a:ext cx="237744" cy="237744"/>
          </a:xfrm>
          <a:prstGeom prst="rect">
            <a:avLst/>
          </a:prstGeom>
        </p:spPr>
      </p:pic>
      <p:sp>
        <p:nvSpPr>
          <p:cNvPr id="17" name="主要输入标题：生态"/>
          <p:cNvSpPr txBox="1"/>
          <p:nvPr/>
        </p:nvSpPr>
        <p:spPr>
          <a:xfrm>
            <a:off x="4818888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生态</a:t>
            </a:r>
          </a:p>
        </p:txBody>
      </p:sp>
      <p:pic>
        <p:nvPicPr>
          <p:cNvPr id="18" name="主要输入图标：模型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1618488"/>
            <a:ext cx="237744" cy="237744"/>
          </a:xfrm>
          <a:prstGeom prst="rect">
            <a:avLst/>
          </a:prstGeom>
        </p:spPr>
      </p:pic>
      <p:sp>
        <p:nvSpPr>
          <p:cNvPr id="19" name="主要输入标题：模型"/>
          <p:cNvSpPr txBox="1"/>
          <p:nvPr/>
        </p:nvSpPr>
        <p:spPr>
          <a:xfrm>
            <a:off x="8558784" y="1563624"/>
            <a:ext cx="2468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0" name="任务选项：性能瓶颈定位、模型转换与部署"/>
          <p:cNvSpPr txBox="1"/>
          <p:nvPr/>
        </p:nvSpPr>
        <p:spPr>
          <a:xfrm>
            <a:off x="795528" y="1956816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性能瓶颈定位、模型转换与部署</a:t>
            </a:r>
          </a:p>
        </p:txBody>
      </p:sp>
      <p:sp>
        <p:nvSpPr>
          <p:cNvPr id="21" name="任务选项：版本配套排查等任务"/>
          <p:cNvSpPr txBox="1"/>
          <p:nvPr/>
        </p:nvSpPr>
        <p:spPr>
          <a:xfrm>
            <a:off x="795528" y="2249424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版本配套排查等任务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1956816"/>
            <a:ext cx="47548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</a:t>
            </a:r>
          </a:p>
        </p:txBody>
      </p:sp>
      <p:pic>
        <p:nvPicPr>
          <p:cNvPr id="23" name="本次生态：CANN官方标识" descr="cann-logo-pc.png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4965192" y="2026633"/>
            <a:ext cx="329183" cy="1163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76672" y="1956816"/>
            <a:ext cx="10972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 / CANN</a:t>
            </a:r>
          </a:p>
        </p:txBody>
      </p:sp>
      <p:pic>
        <p:nvPicPr>
          <p:cNvPr id="25" name="本次生态：NVIDIA官方标识" descr="nvidia-logo-black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6528816" y="2030812"/>
            <a:ext cx="585216" cy="1080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05472" y="1956816"/>
            <a:ext cx="61264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27" name="可扩展生态：华为云等"/>
          <p:cNvSpPr txBox="1"/>
          <p:nvPr/>
        </p:nvSpPr>
        <p:spPr>
          <a:xfrm>
            <a:off x="4471416" y="2249424"/>
            <a:ext cx="332841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可扩展：华为云等</a:t>
            </a:r>
          </a:p>
        </p:txBody>
      </p:sp>
      <p:pic>
        <p:nvPicPr>
          <p:cNvPr id="28" name="可选模型：glm official brand logo" descr="glm-zai-official-preview.png"/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8211312" y="1984248"/>
            <a:ext cx="201168" cy="201168"/>
          </a:xfrm>
          <a:prstGeom prst="rect">
            <a:avLst/>
          </a:prstGeom>
        </p:spPr>
      </p:pic>
      <p:sp>
        <p:nvSpPr>
          <p:cNvPr id="29" name="模型选项：GLM-5.3"/>
          <p:cNvSpPr txBox="1"/>
          <p:nvPr/>
        </p:nvSpPr>
        <p:spPr>
          <a:xfrm>
            <a:off x="8485632" y="1956816"/>
            <a:ext cx="88696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pic>
        <p:nvPicPr>
          <p:cNvPr id="30" name="可选模型：deepseek official brand logo" descr="deepseek-official-whale-preview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9464040" y="1999025"/>
            <a:ext cx="201168" cy="171612"/>
          </a:xfrm>
          <a:prstGeom prst="rect">
            <a:avLst/>
          </a:prstGeom>
        </p:spPr>
      </p:pic>
      <p:sp>
        <p:nvSpPr>
          <p:cNvPr id="31" name="模型选项：DeepSeek"/>
          <p:cNvSpPr txBox="1"/>
          <p:nvPr/>
        </p:nvSpPr>
        <p:spPr>
          <a:xfrm>
            <a:off x="9738360" y="1956816"/>
            <a:ext cx="95097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DeepSeek</a:t>
            </a:r>
          </a:p>
        </p:txBody>
      </p:sp>
      <p:pic>
        <p:nvPicPr>
          <p:cNvPr id="32" name="可选模型：kimi official brand logo" descr="kimi-official-logomark_light-preview.png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10780776" y="1984248"/>
            <a:ext cx="201168" cy="201168"/>
          </a:xfrm>
          <a:prstGeom prst="rect">
            <a:avLst/>
          </a:prstGeom>
        </p:spPr>
      </p:pic>
      <p:sp>
        <p:nvSpPr>
          <p:cNvPr id="33" name="模型选项：Kimi"/>
          <p:cNvSpPr txBox="1"/>
          <p:nvPr/>
        </p:nvSpPr>
        <p:spPr>
          <a:xfrm>
            <a:off x="11064240" y="1956816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2249424"/>
            <a:ext cx="335584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也可配置其他模型</a:t>
            </a:r>
          </a:p>
        </p:txBody>
      </p:sp>
      <p:sp>
        <p:nvSpPr>
          <p:cNvPr id="35" name="固定方法：准备实验"/>
          <p:cNvSpPr/>
          <p:nvPr/>
        </p:nvSpPr>
        <p:spPr>
          <a:xfrm>
            <a:off x="1549908" y="2633472"/>
            <a:ext cx="457200" cy="457200"/>
          </a:xfrm>
          <a:prstGeom prst="ellipse">
            <a:avLst/>
          </a:prstGeom>
          <a:solidFill>
            <a:srgbClr val="E3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步骤图标：准备实验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0492" y="2734056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208276" y="2679192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3616F"/>
                </a:solidFill>
                <a:latin typeface="PingFang SC"/>
                <a:ea typeface="PingFang SC"/>
              </a:rPr>
              <a:t>准备实验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选择输入，确定实验要求</a:t>
            </a:r>
          </a:p>
        </p:txBody>
      </p:sp>
      <p:sp>
        <p:nvSpPr>
          <p:cNvPr id="39" name="固定方法：执行实验"/>
          <p:cNvSpPr/>
          <p:nvPr/>
        </p:nvSpPr>
        <p:spPr>
          <a:xfrm>
            <a:off x="5253228" y="2633472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步骤图标：执行实验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3812" y="2734056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911596" y="2679192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999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先回答，再检索与作答</a:t>
            </a:r>
          </a:p>
        </p:txBody>
      </p:sp>
      <p:sp>
        <p:nvSpPr>
          <p:cNvPr id="43" name="固定方法：评分与复核"/>
          <p:cNvSpPr/>
          <p:nvPr/>
        </p:nvSpPr>
        <p:spPr>
          <a:xfrm>
            <a:off x="8833104" y="2633472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步骤图标：评分与复核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33688" y="2734056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491472" y="2679192"/>
            <a:ext cx="12710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评分与复核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3316" y="3136392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统一判分，回查证据</a:t>
            </a:r>
          </a:p>
        </p:txBody>
      </p:sp>
      <p:cxnSp>
        <p:nvCxnSpPr>
          <p:cNvPr id="47" name="步骤顺序：准备、执行、评分与复核"/>
          <p:cNvCxnSpPr/>
          <p:nvPr/>
        </p:nvCxnSpPr>
        <p:spPr>
          <a:xfrm>
            <a:off x="3351276" y="2862072"/>
            <a:ext cx="1783080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步骤顺序：准备、执行、评分与复核"/>
          <p:cNvCxnSpPr/>
          <p:nvPr/>
        </p:nvCxnSpPr>
        <p:spPr>
          <a:xfrm>
            <a:off x="7054596" y="2862072"/>
            <a:ext cx="165963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留存文件关联：执行实验到过程记录"/>
          <p:cNvCxnSpPr/>
          <p:nvPr/>
        </p:nvCxnSpPr>
        <p:spPr>
          <a:xfrm>
            <a:off x="6094476" y="3438144"/>
            <a:ext cx="0" cy="137160"/>
          </a:xfrm>
          <a:prstGeom prst="line">
            <a:avLst/>
          </a:prstGeom>
          <a:ln w="15875">
            <a:solidFill>
              <a:srgbClr val="355E85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4393692" y="3611880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612380" y="3611880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12380" y="3794760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实验产物图标：过程记录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6572" y="377647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933188" y="3749040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4" name="真实文件名：process.jsonl"/>
          <p:cNvSpPr txBox="1"/>
          <p:nvPr/>
        </p:nvSpPr>
        <p:spPr>
          <a:xfrm>
            <a:off x="6286500" y="3813048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6572" y="4151376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6572" y="4224528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57" name="原文区底色：process.jsonl"/>
          <p:cNvSpPr/>
          <p:nvPr/>
        </p:nvSpPr>
        <p:spPr>
          <a:xfrm>
            <a:off x="4558283" y="4526280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真实记录纯文本：process.jsonl"/>
          <p:cNvSpPr txBox="1"/>
          <p:nvPr/>
        </p:nvSpPr>
        <p:spPr>
          <a:xfrm>
            <a:off x="4640579" y="4617720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想定位瓶颈，怎么用 msprof / Ascend PyTorch Profiler 采集分析？给出代码和步骤。
检索：昇腾 PyTorch Profiler 性能分析 msprof 官方文档 hiascend
返回：msprof-analyze/README.md-代码预览-MindStudio-Profiler ...</a:t>
            </a:r>
          </a:p>
        </p:txBody>
      </p:sp>
      <p:cxnSp>
        <p:nvCxnSpPr>
          <p:cNvPr id="59" name="留存文件关联：评分与复核到评分记录"/>
          <p:cNvCxnSpPr/>
          <p:nvPr/>
        </p:nvCxnSpPr>
        <p:spPr>
          <a:xfrm>
            <a:off x="9797796" y="3438144"/>
            <a:ext cx="0" cy="137160"/>
          </a:xfrm>
          <a:prstGeom prst="line">
            <a:avLst/>
          </a:prstGeom>
          <a:ln w="15875">
            <a:solidFill>
              <a:srgbClr val="695183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实验产物文档：评分记录"/>
          <p:cNvSpPr/>
          <p:nvPr/>
        </p:nvSpPr>
        <p:spPr>
          <a:xfrm>
            <a:off x="8097012" y="3611880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1315700" y="3611880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315700" y="3794760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实验产物图标：评分记录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79892" y="3776472"/>
            <a:ext cx="274320" cy="27432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636508" y="3749040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5" name="真实文件名：evaluation.json"/>
          <p:cNvSpPr txBox="1"/>
          <p:nvPr/>
        </p:nvSpPr>
        <p:spPr>
          <a:xfrm>
            <a:off x="9989820" y="3813048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279892" y="4151376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279892" y="4224528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68" name="原文区底色：evaluation.json"/>
          <p:cNvSpPr/>
          <p:nvPr/>
        </p:nvSpPr>
        <p:spPr>
          <a:xfrm>
            <a:off x="8261604" y="4526280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真实记录纯文本：evaluation.json"/>
          <p:cNvSpPr txBox="1"/>
          <p:nvPr/>
        </p:nvSpPr>
        <p:spPr>
          <a:xfrm>
            <a:off x="8343900" y="4617720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8" y="4005072"/>
            <a:ext cx="33741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换输入，继续复用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" y="4544568"/>
            <a:ext cx="33741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先明确对应任务与评分要求，
再按同样流程开展评测。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8" y="5367528"/>
            <a:ext cx="33741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本次记录示例</a:t>
            </a:r>
          </a:p>
        </p:txBody>
      </p:sp>
      <p:sp>
        <p:nvSpPr>
          <p:cNvPr id="73" name="真实记录的单次实验归属"/>
          <p:cNvSpPr txBox="1"/>
          <p:nvPr/>
        </p:nvSpPr>
        <p:spPr>
          <a:xfrm>
            <a:off x="795528" y="5715000"/>
            <a:ext cx="337413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性能瓶颈定位
CANN，GLM-5.3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