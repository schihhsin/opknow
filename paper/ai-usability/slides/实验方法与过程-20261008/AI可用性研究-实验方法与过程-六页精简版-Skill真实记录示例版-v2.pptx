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73736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305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545336"/>
            <a:ext cx="8266175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310128" y="2029968"/>
            <a:ext cx="0" cy="1828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10128" y="2029968"/>
            <a:ext cx="826617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76304" y="2029968"/>
            <a:ext cx="0" cy="1828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5117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8992" y="2532888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39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" y="3730752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09159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8992" y="4690872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889504"/>
            <a:ext cx="2148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7355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09141"/>
            <a:ext cx="859536" cy="3039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55648" y="4078224"/>
            <a:ext cx="96926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102352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61288" y="5056632"/>
            <a:ext cx="1700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52374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523744"/>
            <a:ext cx="0" cy="296265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48640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2656" y="2587752"/>
            <a:ext cx="338328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38544" y="2587752"/>
            <a:ext cx="145389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固定方法：执行实验"/>
          <p:cNvSpPr/>
          <p:nvPr/>
        </p:nvSpPr>
        <p:spPr>
          <a:xfrm>
            <a:off x="3355848" y="2286000"/>
            <a:ext cx="603504" cy="603504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步骤图标：执行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2432304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51376" y="2414016"/>
            <a:ext cx="243230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2825496"/>
            <a:ext cx="2432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40" name="留存文件关联：执行实验"/>
          <p:cNvCxnSpPr/>
          <p:nvPr/>
        </p:nvCxnSpPr>
        <p:spPr>
          <a:xfrm>
            <a:off x="5047488" y="3172968"/>
            <a:ext cx="0" cy="338328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固定方法：按统一规则评分"/>
          <p:cNvSpPr/>
          <p:nvPr/>
        </p:nvSpPr>
        <p:spPr>
          <a:xfrm>
            <a:off x="8147304" y="2286000"/>
            <a:ext cx="603504" cy="603504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步骤图标：按统一规则评分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3608" y="2432304"/>
            <a:ext cx="310896" cy="3108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42832" y="2414016"/>
            <a:ext cx="243230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2832" y="2825496"/>
            <a:ext cx="2432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5" name="留存文件关联：按统一规则评分"/>
          <p:cNvCxnSpPr/>
          <p:nvPr/>
        </p:nvCxnSpPr>
        <p:spPr>
          <a:xfrm>
            <a:off x="9838944" y="3172968"/>
            <a:ext cx="0" cy="338328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310127" y="3547872"/>
            <a:ext cx="3474721" cy="2194559"/>
          </a:xfrm>
          <a:custGeom>
            <a:avLst/>
            <a:gdLst/>
            <a:ahLst/>
            <a:cxnLst/>
            <a:rect l="l" t="t" r="r" b="b"/>
            <a:pathLst>
              <a:path w="3474721" h="2194559">
                <a:moveTo>
                  <a:pt x="0" y="0"/>
                </a:moveTo>
                <a:lnTo>
                  <a:pt x="3273553" y="0"/>
                </a:lnTo>
                <a:lnTo>
                  <a:pt x="3474721" y="201167"/>
                </a:lnTo>
                <a:lnTo>
                  <a:pt x="3474721" y="2194559"/>
                </a:lnTo>
                <a:lnTo>
                  <a:pt x="0" y="2194559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583680" y="3547872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83680" y="3749039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实验产物图标：过程记录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3712463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49624" y="3685032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0" name="真实文件名：process.jsonl"/>
          <p:cNvSpPr txBox="1"/>
          <p:nvPr/>
        </p:nvSpPr>
        <p:spPr>
          <a:xfrm>
            <a:off x="5276088" y="3749039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93008" y="4105656"/>
            <a:ext cx="310896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93008" y="419709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4526280"/>
            <a:ext cx="3108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55E85"/>
                </a:solidFill>
                <a:latin typeface="PingFang SC"/>
                <a:ea typeface="PingFang SC"/>
              </a:rPr>
              <a:t>首次搜索</a:t>
            </a:r>
          </a:p>
        </p:txBody>
      </p:sp>
      <p:sp>
        <p:nvSpPr>
          <p:cNvPr id="54" name="真实搜索关键词节选"/>
          <p:cNvSpPr txBox="1"/>
          <p:nvPr/>
        </p:nvSpPr>
        <p:spPr>
          <a:xfrm>
            <a:off x="3493008" y="4782312"/>
            <a:ext cx="3108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昇腾 PyTorch Profiler 性能分析
msprof 官方文档 hiascend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93008" y="5404104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55E85"/>
                </a:solidFill>
                <a:latin typeface="PingFang SC"/>
                <a:ea typeface="PingFang SC"/>
              </a:rPr>
              <a:t>首条结果</a:t>
            </a:r>
          </a:p>
        </p:txBody>
      </p:sp>
      <p:sp>
        <p:nvSpPr>
          <p:cNvPr id="56" name="首条真实搜索结果标题节选"/>
          <p:cNvSpPr txBox="1"/>
          <p:nvPr/>
        </p:nvSpPr>
        <p:spPr>
          <a:xfrm>
            <a:off x="4224527" y="5408676"/>
            <a:ext cx="2377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91E"/>
                </a:solidFill>
                <a:latin typeface="Menlo"/>
                <a:ea typeface="PingFang SC"/>
              </a:rPr>
              <a:t>msprof-analyze/README.md</a:t>
            </a:r>
          </a:p>
        </p:txBody>
      </p:sp>
      <p:sp>
        <p:nvSpPr>
          <p:cNvPr id="57" name="实验产物文档：评分记录"/>
          <p:cNvSpPr/>
          <p:nvPr/>
        </p:nvSpPr>
        <p:spPr>
          <a:xfrm>
            <a:off x="8101583" y="3547872"/>
            <a:ext cx="3474721" cy="2194559"/>
          </a:xfrm>
          <a:custGeom>
            <a:avLst/>
            <a:gdLst/>
            <a:ahLst/>
            <a:cxnLst/>
            <a:rect l="l" t="t" r="r" b="b"/>
            <a:pathLst>
              <a:path w="3474721" h="2194559">
                <a:moveTo>
                  <a:pt x="0" y="0"/>
                </a:moveTo>
                <a:lnTo>
                  <a:pt x="3273553" y="0"/>
                </a:lnTo>
                <a:lnTo>
                  <a:pt x="3474721" y="201167"/>
                </a:lnTo>
                <a:lnTo>
                  <a:pt x="3474721" y="2194559"/>
                </a:lnTo>
                <a:lnTo>
                  <a:pt x="0" y="2194559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75136" y="3547872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375136" y="3749039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实验产物图标：评分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463" y="3712463"/>
            <a:ext cx="274320" cy="2743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41080" y="3685032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2" name="真实文件名：evaluation.json"/>
          <p:cNvSpPr txBox="1"/>
          <p:nvPr/>
        </p:nvSpPr>
        <p:spPr>
          <a:xfrm>
            <a:off x="10067544" y="3749039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284463" y="4105656"/>
            <a:ext cx="3108961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84463" y="419709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4463" y="4690872"/>
            <a:ext cx="196596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66" name="本次运行M1真实得分"/>
          <p:cNvSpPr txBox="1"/>
          <p:nvPr/>
        </p:nvSpPr>
        <p:spPr>
          <a:xfrm>
            <a:off x="10661904" y="4562856"/>
            <a:ext cx="51206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695183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19688" y="4864608"/>
            <a:ext cx="192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分</a:t>
            </a:r>
          </a:p>
        </p:txBody>
      </p:sp>
      <p:sp>
        <p:nvSpPr>
          <p:cNvPr id="68" name="M1判分依据原文节选"/>
          <p:cNvSpPr txBox="1"/>
          <p:nvPr/>
        </p:nvSpPr>
        <p:spPr>
          <a:xfrm>
            <a:off x="8284463" y="5340096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首次查询第1条即为相关官方来源</a:t>
            </a:r>
          </a:p>
        </p:txBody>
      </p:sp>
      <p:cxnSp>
        <p:nvCxnSpPr>
          <p:cNvPr id="69" name="评分记录回查过程记录"/>
          <p:cNvCxnSpPr/>
          <p:nvPr/>
        </p:nvCxnSpPr>
        <p:spPr>
          <a:xfrm flipH="1">
            <a:off x="6830568" y="4690872"/>
            <a:ext cx="1225296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39712" y="4288536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5001768"/>
            <a:ext cx="1207008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838944" y="5852160"/>
            <a:ext cx="0" cy="30175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8979408" y="6153912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962656" y="6153912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962656" y="5559552"/>
            <a:ext cx="0" cy="59436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68496" y="5952744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