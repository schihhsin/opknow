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这一页展示一个任务内的知识获取和证据判断过程，用于定位各项指标。它是概念分析模型，不复现模型内部推理，也不代表后评执行顺序。</a:t>
            </a:r>
          </a:p>
          <a:p/>
          <a:p>
            <a:r>
              <a:t>任务先经历上下文组装、意图解析、子目标拆解和路由，再决定是否调用工具。需要工具时，搜索候选页面后读取正文；已知URL可以直接读取。无需检索时使用模型自带知识。两条路径都汇总到当前证据。</a:t>
            </a:r>
          </a:p>
          <a:p/>
          <a:p>
            <a:r>
              <a:t>证据充分时收敛为终答。证据不足时判断是否仍可有效检索，若可以则返回路由、换检索词继续。检索穷尽后仍需判断是否存在可靠证据：有则依据证据作答；无则可能凭记忆填补空缺。模型可能无法可靠识别知识缺口，终答应显式说明证据边界。</a:t>
            </a:r>
          </a:p>
          <a:p/>
          <a:p>
            <a:r>
              <a:t>颜色对应下一页评分表：搜索与读取均为浅蓝色，模型先验为薰衣草紫，汇总证据为薄荷绿，充分性检查为蜜桃色，终答为雾蓝灰。所有节点采用浅底与同色系深字。M1/M5位于搜索候选，M2/M3位于正文读取，M7位于检索前知识，M6/M8位于证据汇总，M4/M9/M10位于充分性检查，M11位于终答汇总。</a:t>
            </a:r>
          </a:p>
          <a:p/>
          <a:p>
            <a:r>
              <a:t>本批实验采用2026-09-21冻结量规。M7单独评价冻结的无工具回答的正确性与覆盖，不能从流程箭头推断模型训练数据。M4评价官方资料的版本关系，M9/M10评价最终回答。M11汇总M1–M8，连续0–100，称为综合知识支撑指数，未经概率校准。</a:t>
            </a:r>
          </a:p>
          <a:p/>
          <a:p>
            <a:r>
              <a:t>任务选取沿七类开发工作流展开：环境与安装3类、算子开发6类、训练4类、推理与部署4类、性能与优化4类、调试2类、迁移与概念2类，合计25类主比较任务。G迁移类比另列，两侧分别向CANN与ROCm迁移。七类是任务分类，不表示开发者必须按七个阶段顺序走完；任务集用于覆盖活动，不是开发者总体的随机样本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/Users/hsin/Documents/Coding/opknow/paper/ai-usability/revisions/full-rerun-20260921/manuscript-cn.md:207</a:t>
            </a:r>
          </a:p>
          <a:p>
            <a:r>
              <a:t>/Users/hsin/Documents/Coding/opknow/paper/ai-usability/revisions/full-rerun-20260921/manuscript-cn.md:67</a:t>
            </a:r>
          </a:p>
          <a:p>
            <a:r>
              <a:t>/Users/hsin/Documents/Coding/opknow/paper/ai-usability/revisions/full-rerun-20260921/manuscript-cn.md:71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/Users/hsin/Documents/Coding/opknow/paper/ai-usability/slides/知识获取流程与指标分值档位/assets/flowchart.png:1</a:t>
            </a:r>
          </a:p>
          <a:p>
            <a:r>
              <a:t>/Users/hsin/Documents/Coding/opknow/paper/ai-usability/slides/01-flowchart-and-metric-tiers.html:159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按Workflow节点分组，色标和环节名称与前一页一致；列从1分到5分，分值越高表示知识支撑或回答质量越强，M8则表示实际调用更少。五档是有序等级，未验证等距。M11是连续0–100综合知识支撑指数，无人为五档，完整公式直接列在本页M11行。</a:t>
            </a:r>
          </a:p>
          <a:p/>
          <a:p>
            <a:r>
              <a:t>M2按每个独立官方文档最终取得的表示判断，重试合并后独立文档等权聚合。正文完整性未知保留4到5候选界限，不能强打4。M3按原题要求，取不到正文记受阻。M4按版本适用关系，不按版本数量扣分。</a:t>
            </a:r>
          </a:p>
          <a:p/>
          <a:p>
            <a:r>
              <a:t>M5只数预算内发现的相关独立第三方来源，转载镜像去重。M6逐条核对会影响操作或版本判断的关键说法，没有第三方材料时记不适用。M7核对检索前回答，缺测或正确性未知不能当作低分。M8低成本得高分，零调用或异常中断不自动给高分。</a:t>
            </a:r>
          </a:p>
          <a:p/>
          <a:p>
            <a:r>
              <a:t>M9从缺少版本信息到所有必要组件有据定到具体版本。M10从目标描述到无需补写或修正内容即可执行。4分只能是替换明确且有说明的环境值，不能包含修改内容错误。未上硬件运行不是4分和5分的分界，实际运行状态单列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正式评分例外：M1预算未用完且未命中、前序超时或列表缺失记待定，首次命中后的追加搜索不降分。M2按独立官方文档等权聚合，重试合并，未知项不删除；5分须完整边界证据，工具自称完整不足；完整性未知保留4–5区间。M3取不到正文记受阻，4分主流程包括参数与前提。M4无正文受阻、无需选版N/A；4/5不能有缺失关系或未解冲突。M5仅预算内相关、独立、去重第三方来源；镜像转载算一次，官方发布者排除；来源归属或相关性未知保留区间。M6的2分指未确证关键矛盾但缺核对依据，4/5均须无未解决矛盾，独立互证须独立来源；没有第三方材料记N/A。M7仅冻结无工具回答，无记录记缺测、正确性未知记待定。M8失败派发计数、未派发不计，C=0或异常中断不自动高分。M9全部/部分限原题需定版组件，符合证据的版本范围并非技术错误；无需版本N/A。M10评价内容补改，执行状态另记；4分仅替换明确标识且有说明环境值，不能含内容纠错；5分适用前提明确，未上机不是4/5分界，证据不足待定、纯概念题N/A。M11只在复核确认整渠道无支撑后置该渠道0，不能将单页失败或N/A补零；M4预设N/A时版本因子为1。有效上下界传播并向外舍入，不取中点；证据界不是统计置信区间，不能提供有效界限则不计算。</a:t>
            </a:r>
          </a:p>
          <a:p/>
          <a:p>
            <a:r>
              <a:t>综合分的渠道解释：</a:t>
            </a:r>
          </a:p>
          <a:p>
            <a:r>
              <a:t>先将M1–M8按Mi/5归一化。官方渠道OFF=x1x2x3，第三方渠道SEC=x5x6，检索前知识OWN=x7。渠道内相乘，渠道间按K=1−(1−OFF)(1−SEC)(1−OWN)汇总，随后乘版本因子0.7+0.3x4与成本因子0.9+0.1x8。预设系数0.30/0.10并非数据拟合结果，公式不是答对概率，也不证明渠道独立。M9/M10独立报告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/Users/hsin/Documents/Coding/opknow/paper/ai-usability/revisions/full-rerun-20260921/sources/rules.md:6</a:t>
            </a:r>
          </a:p>
          <a:p>
            <a:r>
              <a:t>/Users/hsin/Documents/Coding/opknow/paper/ai-usability/revisions/full-rerun-20260921/sources/rules.md:25</a:t>
            </a:r>
          </a:p>
          <a:p>
            <a:r>
              <a:t>/Users/hsin/Documents/Coding/opknow/paper/ai-usability/revisions/full-rerun-20260921/sources/rules.md:44</a:t>
            </a:r>
          </a:p>
          <a:p>
            <a:r>
              <a:t>/Users/hsin/Documents/Coding/opknow/paper/ai-usability/revisions/full-rerun-20260921/sources/rules.md:63</a:t>
            </a:r>
          </a:p>
          <a:p>
            <a:r>
              <a:t>/Users/hsin/Documents/Coding/opknow/paper/ai-usability/revisions/full-rerun-20260921/sources/rules.md:82</a:t>
            </a:r>
          </a:p>
          <a:p>
            <a:r>
              <a:t>/Users/hsin/Documents/Coding/opknow/paper/ai-usability/revisions/full-rerun-20260921/sources/rules.md:101</a:t>
            </a:r>
          </a:p>
          <a:p>
            <a:r>
              <a:t>/Users/hsin/Documents/Coding/opknow/paper/ai-usability/revisions/full-rerun-20260921/sources/rules.md:120</a:t>
            </a:r>
          </a:p>
          <a:p>
            <a:r>
              <a:t>/Users/hsin/Documents/Coding/opknow/paper/ai-usability/revisions/full-rerun-20260921/sources/rules.md:139</a:t>
            </a:r>
          </a:p>
          <a:p>
            <a:r>
              <a:t>/Users/hsin/Documents/Coding/opknow/paper/ai-usability/revisions/full-rerun-20260921/sources/rules.md:158</a:t>
            </a:r>
          </a:p>
          <a:p>
            <a:r>
              <a:t>/Users/hsin/Documents/Coding/opknow/paper/ai-usability/revisions/full-rerun-20260921/sources/rules.md:177</a:t>
            </a:r>
          </a:p>
          <a:p>
            <a:r>
              <a:t>/Users/hsin/Documents/Coding/opknow/paper/ai-usability/revisions/full-rerun-20260921/manuscript-cn.md:173</a:t>
            </a:r>
          </a:p>
          <a:p>
            <a:r>
              <a:t>/Users/hsin/Documents/Coding/opknow/paper/ai-usability/revisions/full-rerun-20260921/manuscript-cn.md:189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/Users/hsin/Documents/Coding/opknow/paper/ai-usability/revisions/full-rerun-20260921/sources/rules.md:200</a:t>
            </a:r>
          </a:p>
          <a:p>
            <a:r>
              <a:t>/Users/hsin/Documents/Coding/ai-usability-benchmark/experiments/full-rerun-protocol-20260921/frozen-skill/references/rules.md:6</a:t>
            </a:r>
          </a:p>
          <a:p>
            <a:r>
              <a:t>/Users/hsin/Documents/Coding/ai-usability-benchmark/experiments/full-rerun-protocol-20260921/frozen-skill/references/rules.md:139</a:t>
            </a:r>
          </a:p>
          <a:p>
            <a:r>
              <a:t>/Users/hsin/Documents/Coding/ai-usability-benchmark/experiments/full-rerun-protocol-20260921/frozen-skill/references/rules.md:177</a:t>
            </a:r>
          </a:p>
          <a:p>
            <a:r>
              <a:t>/Users/hsin/Documents/Coding/ai-usability-benchmark/experiments/full-rerun-protocol-20260921/frozen-skill/references/rules.md:200</a:t>
            </a:r>
          </a:p>
          <a:p>
            <a:r>
              <a:t>/Users/hsin/Documents/Coding/ai-usability-benchmark/experiments/full-rerun-protocol-20260921/frozen-skill/references/rules.md:202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/Users/hsin/Documents/Coding/ai-usability-benchmark/experiments/full-rerun-protocol-20260921/frozen-skill/references/execution-checks.md:21</a:t>
            </a:r>
          </a:p>
          <a:p>
            <a:r>
              <a:t>/Users/hsin/Documents/Coding/ai-usability-benchmark/experiments/full-rerun-protocol-20260921/frozen-skill/references/execution-checks.md:23</a:t>
            </a:r>
          </a:p>
          <a:p>
            <a:r>
              <a:t>/Users/hsin/Documents/Coding/opknow/paper/ai-usability/revisions/full-rerun-20260921/manuscript-cn.md:153</a:t>
            </a:r>
          </a:p>
          <a:p>
            <a:r>
              <a:t>/Users/hsin/Documents/Coding/opknow/paper/ai-usability/revisions/full-rerun-20260921/manuscript-cn.md:151</a:t>
            </a:r>
          </a:p>
          <a:p>
            <a:r>
              <a:t>/Users/hsin/Documents/Coding/opknow/paper/ai-usability/revisions/full-rerun-20260921/manuscript-cn.md:187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这一页只用M7一个代表例，说明怎样减少主观自评。双阶梯只表示各自量规的1—5顺序，不代表等距变化、进步幅度、正确概率，也不能将旧分换算成新分。关键词忠实缩写，完整规则如下。</a:t>
            </a:r>
          </a:p>
          <a:p/>
          <a:p>
            <a:r>
              <a:t>改前：自评知识覆盖强弱，再叠加截止时效修正，仍难核验同题知识正确性和原题覆盖。改后：首次工具调用前冻结同题无工具回答，另行核对正确性和原题覆盖，自信度不计分，依据可保存、可追溯。独立核验指对留存回答另行核查，并不意味着全部技术断言经独立专家验证。无检索前记录记缺测，正确性未知则待定。</a:t>
            </a:r>
          </a:p>
          <a:p/>
          <a:p>
            <a:r>
              <a:t>改前完整原文：</a:t>
            </a:r>
          </a:p>
          <a:p>
            <a:r>
              <a:t>5 覆盖密集、可凭知识答且大体可靠（且工具 stable、知识不过时）｜ 4 流程熟悉、可凭自带知识给骨架 ｜ 3 有概念但细节/版本需检索补 ｜ 2 自带知识弱、不敢凭记忆给命令 ｜ 1 几乎只能现查、自带知识易过时（churn fast 触发知识截止 gap 罚分）。</a:t>
            </a:r>
          </a:p>
          <a:p>
            <a:r>
              <a:t>量化公式 score7_own(r) ↗GitHub输入 = 训练覆盖密度自评档 own(1–5) + 知识截止 gap 罚分：得分 = clamp( own + 知识截止 gap , 1, 5 )。知识截止 gap（因子 A，cutoff_gap_factor，只罚不奖）：⑦ 原是全 11 项里唯一纯自评、无客观锚的；本因子按相关工具/API 的迭代节奏 churn 给客观罚分——技术迭代越快、我的训练知识越可能落后于最新版本。stable（API 早稳定、知识可靠）0 / moderate −0.25 / fast（alpha/RC 高频刷新）−0.5；churn 由 task_run_log 的版本扩散 + 各生态公开发布节奏判定（非主观自评）。实测结论：CUDA 成熟工具链多 stable（Nsight/cuBLAS）；CANN 前沿 D.cann（Ascend C，fast）−0.5、其余多 moderate −0.25——均未翻档（自评本已反映"知不知道"，gap 只补客观锚）。这是「时效」洞见在 ⑦ 上的对称延伸：⑥ 算二手时效、⑦ 算自带知识时效。</a:t>
            </a:r>
          </a:p>
          <a:p/>
          <a:p>
            <a:r>
              <a:t>改后完整原文：</a:t>
            </a:r>
          </a:p>
          <a:p>
            <a:r>
              <a:t>## M7 模型自带知识</a:t>
            </a:r>
          </a:p>
          <a:p/>
          <a:p>
            <a:r>
              <a:t>这个任务在我训练数据里的覆盖密度——不检索能不能直接答出靠谱内容。把"模型自带、不靠检索的知识"也视为一条触达渠道（即原先说的"先验"）。</a:t>
            </a:r>
          </a:p>
          <a:p/>
          <a:p>
            <a:r>
              <a:t>1. 检索前回答没有可核验的正确任务知识，或关键主张被核对证据否定</a:t>
            </a:r>
          </a:p>
          <a:p/>
          <a:p>
            <a:r>
              <a:t>2. 检索前仅能给出正确概念，无法给出具体方法或解释</a:t>
            </a:r>
          </a:p>
          <a:p/>
          <a:p>
            <a:r>
              <a:t>3. 检索前能给出正确方法或解释片段，但关键细节需要外部资料补充</a:t>
            </a:r>
          </a:p>
          <a:p/>
          <a:p>
            <a:r>
              <a:t>4. 检索前能够给出正确的完整流程或解释，原题涉及的具体参数、约束仍需补充</a:t>
            </a:r>
          </a:p>
          <a:p/>
          <a:p>
            <a:r>
              <a:t>5. 检索前回答已准确覆盖原题所需的流程、解释、参数与约束</a:t>
            </a:r>
          </a:p>
          <a:p/>
          <a:p>
            <a:r>
              <a:t>执行同题无工具回答并冻结，再独立核对其中知识正确性和完整性。回答前不能接触本轮检索内容；自评信心仅存记录，不用于计分。没有检索前回答的旧运行记缺测。该测量只能反映无检索知识表现，不能推断训练数据覆盖密度；未知正确性则待定。</a:t>
            </a:r>
          </a:p>
          <a:p/>
          <a:p>
            <a:r>
              <a:t>依据边界：具体五档与阈值属于本研究操作化约定，下列文献仅支持相应测量原则，不直接验证本五档。</a:t>
            </a:r>
          </a:p>
          <a:p/>
          <a:p/>
          <a:p/>
          <a:p>
            <a:r>
              <a:t>新1档包括没有可核验正确任务知识或关键主张被核查证据否定；2档没有具体方法或解释；3档有正确方法或解释片段但关键细节需补；4档有正确完整流程或解释而原题参数、约束待补；5档准确覆盖原题全部所需流程、解释、参数和约束。旧5档在图上短写覆盖密集、大体可靠；完整条件仍包括工具稳定、知识不过时，以上原文和公式均完整保留。旧3档包括细节和版本需检索补，图中短写为细节需检索。</a:t>
            </a:r>
          </a:p>
          <a:p/>
          <a:p>
            <a:r>
              <a:t>这使依据更可观察、可追溯，不证明内容判断完全客观或量规效度已验证。</a:t>
            </a:r>
          </a:p>
          <a:p/>
          <a:p>
            <a:r>
              <a:t>资料依据：</a:t>
            </a:r>
          </a:p>
          <a:p>
            <a:r>
              <a:t>/Users/hsin/Documents/Coding/ai-usability-benchmark/reviews/original-metric-baseline.json /metrics/6</a:t>
            </a:r>
          </a:p>
          <a:p>
            <a:r>
              <a:t>/Users/hsin/Documents/Coding/ai-usability-benchmark/experiments/full-rerun-protocol-20260921/frozen-skill/references/rules.md:120</a:t>
            </a:r>
          </a:p>
          <a:p>
            <a:r>
              <a:t>/Users/hsin/Documents/Coding/ai-usability-benchmark/experiments/full-rerun-protocol-20260921/scoring-revision-history.md:46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沿七类开发工作流选取任务，主比较共25组CUDA/CANN问题对。每对先确定共同开发目标，再按各生态的工具与实际交付要求写题。页面示例是B题的简短概括，不替代原题。</a:t>
            </a:r>
          </a:p>
          <a:p/>
          <a:p>
            <a:r>
              <a:t>CUDA原题：PyTorch 模型 GPU 利用率不高，怎么用 Nsight Systems 抓 timeline 定位瓶颈？给出采集命令和分析步骤。</a:t>
            </a:r>
          </a:p>
          <a:p>
            <a:r>
              <a:t>CANN原题：昇腾上跑 PyTorch 想定位瓶颈，怎么用 msprof / Ascend PyTorch Profiler 采集分析？给出代码和步骤。</a:t>
            </a:r>
          </a:p>
          <a:p/>
          <a:p>
            <a:r>
              <a:t>两题都要求采集并分析性能数据、定位瓶颈，但CUDA要求采集命令和分析步骤，CANN要求代码和步骤。按各自原题评价；目标相近不意味着严格等难。另1类G迁移类比及6次运行单列。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被测模型为GLM-5.3、DeepSeek V4.1 Flash和Kimi，请求别名分别为glm-5.3、deepseek-v4.1-flash、kimi-k3-2。三个模型分别执行同一组任务。主比较25对问题×2侧×3模型，共150次；G的6次迁移类比单列，全部正式运行共156次。多模型对照减少只观察一个模型的依赖，不能消除偏差。</a:t>
            </a:r>
          </a:p>
          <a:p/>
          <a:p>
            <a:r>
              <a:t>统一搜索与读取工具、最多4次搜索和8次获取、同一评分标准。每题新建临时目录及会话并设置禁用记忆flags。WorkBuddy CLI，最多22轮、600秒，effort low。这些设置不等于操作系统隔离。模型别名不保证固定底层快照；搜索提供方未独立锁定。每模型每侧只有一次有效入选运行，三模型不代替同模型重复试验。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正式B/CUDA/Kimi运行为例。模型先仅凭已有知识回答，把第一次回答保存下来，用于M7评价；随后搜索并读取资料；最后结合取得的资料重新给出独立回答。搜索结果、读取正文、两次回答和实际调用次数均保存，后续据此评分。</a:t>
            </a:r>
          </a:p>
          <a:p/>
          <a:p>
            <a:r>
              <a:t>这次运行首查前5条均为第三方，第二次搜索首次命中NVIDIA官方资料。全程3次搜索、3次读取，约4分33秒。示意图用于说明顺序，不表示等比例耗时。获得官方资料不等于全部任务需求均已满足。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/Users/hsin/Documents/Coding/ai-usability-benchmark/experiments/full-rerun-protocol-20260921/runs/B-cuda-kimi-k3-2-standard-20260921T095928/process.jsonl:7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/Users/hsin/Documents/Coding/ai-usability-benchmark/experiments/full-rerun-protocol-20260921/runs/B-cuda-kimi-k3-2-standard-20260921T095928/process.jsonl:24</a:t>
            </a:r>
          </a:p>
          <a:p>
            <a:r>
              <a:t>/Users/hsin/Documents/Coding/ai-usability-benchmark/experiments/full-rerun-protocol-20260921/runs/B-cuda-kimi-k3-2-standard-20260921T095928/process.jsonl:30</a:t>
            </a:r>
          </a:p>
          <a:p>
            <a:r>
              <a:t>/Users/hsin/Documents/Coding/ai-usability-benchmark/experiments/full-rerun-protocol-20260921/runs/B-cuda-kimi-k3-2-standard-20260921T095928/process.jsonl:35</a:t>
            </a:r>
          </a:p>
          <a:p>
            <a:r>
              <a:t>/Users/hsin/Documents/Coding/ai-usability-benchmark/experiments/full-rerun-protocol-20260921/runs/B-cuda-kimi-k3-2-standard-20260921T095928/process.jsonl:41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评分统一由GLM-5.3完成初评，然后检查证据、分档与算术，并对指定范围的内容做复核。按原题评价，M1–M8的知识获取材料与M9–M10的最终回答分别作为评分输入。</a:t>
            </a:r>
          </a:p>
          <a:p/>
          <a:p>
            <a:r>
              <a:t>页面只放一个真实例子：B/CUDA/Kimi第一次搜索前5条全是第三方，第二次首次命中NVIDIA官方资料。按M1第2查首次命中的档位记3分，不能因为第二查第1条就当成首查第1条记5分。</a:t>
            </a:r>
          </a:p>
          <a:p/>
          <a:p>
            <a:r>
              <a:t>复核包括原文定位、评分规则和计算的检查，以及指定内容复核。原始初评、修订后的评价和理由分别保存，不覆盖原件。复核没有宣称全部技术断言已获专家验证。分数不确定时保留范围，不硬给单点；未知不补零。M10评价内容补改需求，未在目标硬件上完成端到端运行。</a:t>
            </a:r>
          </a:p>
          <a:p/>
          <a:p>
            <a:r>
              <a:t>这一页接着上一页真实运行，说明记录怎样变成分数，以及怎样复核。我们使用B任务的CUDA侧Kimi运行，原题是：PyTorch模型GPU利用率不高，怎么用Nsight Systems抓timeline定位瓶颈，给出采集命令和分析步骤。案例来自09-21正式最终结果，不使用09-22后续单点重评。</a:t>
            </a:r>
          </a:p>
          <a:p/>
          <a:p>
            <a:r>
              <a:t>首先看左侧四个判分。M1的第一次查询前五条都是第三方来源，第二次查询第1条才首次命中NVIDIA官方User Guide，所以是3分。第二轮排第1不等于首轮排第1，不能给5分。M8从真实派发日志记录3次搜索和3次获取，C=6，落在5–6档，所以是3分；这条运行没有用完工具预算。M9依据最终答案：PyTorch侧明确为2.14并以文档核对，Nsight Systems工具版本仍没有确定，因此只有部分所需组件有版本依据，为3分。M10的正式内容复核判断主路线包含采集命令、PyTorch插桩、统计和timeline分析，用户只需替换已说明的train.py、report等环境值，为4分。可选GPU metrics路径仍有未核实参数，最终答案也保留说明。这里转述正式保存的评价，不宣称我们已实际运行这些命令。</a:t>
            </a:r>
          </a:p>
          <a:p/>
          <a:p>
            <a:r>
              <a:t>M11不能给一个单点，因为M3保留[3,4]、M6保留[2,3]、M7保留[4,5]。其余M1–M8输入为M1=3、M2=4、M4=3、M5=5、M8=3。代入全部下界，OFF=0.288、SEC=0.4、OWN=0.8、K=0.91456；版本因子为0.88，成本因子为0.96，得到77.2620288。代入全部上界，OWN=1使K=1，得到84.48。向外舍入到一位小数后展示77.2–84.5。它是输入证据界限传播得到的综合指数区间，不是统计置信区间，不含运行随机性、评价者误差或未建模不确定性；不取中点，也不解释为答对概率。M9和M10不进入M11公式。</a:t>
            </a:r>
          </a:p>
          <a:p/>
          <a:p>
            <a:r>
              <a:t>右侧说明后评组织。正式实验统一使用GLM-5.3自动后评，与被测模型的任务回答分开。predictors阶段评价M1–M8，只提供来源、冻结的检索前回答和实际派发计数，不提供最终答案；其中M7依据检索前回答表现，并可以用来源事后核对正确性。outcome阶段评价原题要求、M9和M10，提供最终答案和来源核对材料，不提供检索前回答、计数或分数。M9和M10的指标证据必须引用最终答案，来源段落不能代替答案原文。每次运行产生两份阶段结果，156次共312份；完成阶段评价不等于每项都有点分。</a:t>
            </a:r>
          </a:p>
          <a:p/>
          <a:p>
            <a:r>
              <a:t>随后分别检查结构、引文定位和算术，并对指定范围进行内容复核。结构门禁只检查字段与逻辑一致性，引文匹配只证明文字在指定事件中，算术检查只验证计算；它们都不能独自证明技术断言正确。原始自动后评、复核后的派生评价及修订理由分别保留。正式批次149份通过结构门禁；指定内容复核覆盖149个M10为3、4或5档的单元，以及I任务和已识别的问题，它不等于所有技术断言的独立专家验证。后评统一使用GLM-5.3也可能带来同模型评分偏差。</a:t>
            </a:r>
          </a:p>
          <a:p/>
          <a:p>
            <a:r>
              <a:t>引文审计的覆盖要分清：批次汇总将156份评价标为没有未匹配项，但论文整理时另外逐条回查results.json中的3986条指标引文，3960条原文匹配，26条涉及23次运行仍未按原文匹配，问题包括省略、改写片段和协议引用。因此不能把批次审计标记写成全量指标引文全部验证。这些问题已在补充材料标出，当前统计未据此重新评分或改变纳入规则。未进行硬件端到端执行，所以M10报告的是内容层面的补改需求，不能写成实际复现成功率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/Users/hsin/Documents/Coding/ai-usability-benchmark/experiments/full-rerun-protocol-20260921/results.json:36471</a:t>
            </a:r>
          </a:p>
          <a:p>
            <a:r>
              <a:t>/Users/hsin/Documents/Coding/ai-usability-benchmark/experiments/full-rerun-protocol-20260921/results.json:36668</a:t>
            </a:r>
          </a:p>
          <a:p>
            <a:r>
              <a:t>/Users/hsin/Documents/Coding/ai-usability-benchmark/experiments/full-rerun-protocol-20260921/results.json:36687</a:t>
            </a:r>
          </a:p>
          <a:p>
            <a:r>
              <a:t>/Users/hsin/Documents/Coding/ai-usability-benchmark/experiments/full-rerun-protocol-20260921/results.json:36710</a:t>
            </a:r>
          </a:p>
          <a:p>
            <a:r>
              <a:t>/Users/hsin/Documents/Coding/ai-usability-benchmark/experiments/full-rerun-protocol-20260921/results.json:36728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>
            <a:r>
              <a:t>/Users/hsin/Documents/Coding/ai-usability-benchmark/experiments/full-rerun-protocol-20260921/assess.py:12</a:t>
            </a:r>
          </a:p>
          <a:p>
            <a:r>
              <a:t>/Users/hsin/Documents/Coding/ai-usability-benchmark/experiments/full-rerun-protocol-20260921/assess.py:17</a:t>
            </a:r>
          </a:p>
          <a:p>
            <a:r>
              <a:t>/Users/hsin/Documents/Coding/ai-usability-benchmark/experiments/full-rerun-protocol-20260921/protocol.json:78</a:t>
            </a:r>
          </a:p>
          <a:p>
            <a:r>
              <a:t>/Users/hsin/Documents/Coding/ai-usability-benchmark/experiments/full-rerun-protocol-20260921/frozen-skill/references/execution-checks.md:13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/Users/hsin/Documents/Coding/opknow/paper/ai-usability/revisions/full-rerun-20260921/manuscript-cn.md:230</a:t>
            </a:r>
          </a:p>
          <a:p>
            <a:r>
              <a:t>/Users/hsin/Documents/Coding/opknow/paper/ai-usability/revisions/full-rerun-20260921/manuscript-cn.md:232</a:t>
            </a:r>
          </a:p>
          <a:p>
            <a:r>
              <a:t>/Users/hsin/Documents/Coding/opknow/paper/ai-usability/revisions/full-rerun-20260921/manuscript-cn.md:429</a:t>
            </a:r>
          </a:p>
          <a:p>
            <a:r>
              <a:t>/Users/hsin/Documents/Coding/opknow/paper/ai-usability/revisions/full-rerun-20260921/manuscript-cn.md:431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在同一模型、同一任务、同一指标下比较CUDA和CANN两侧；各模型分别汇总合格任务的平均差异，再看三个模型的平均方向、逐任务反例以及共同任务子集。没有把三个模型直接平均成一个总分。多模型一致性帮助减少对某个模型观察的依赖，不能消除单模型偏好和其他偏差。</a:t>
            </a:r>
          </a:p>
          <a:p/>
          <a:p>
            <a:r>
              <a:t>缺失、不适用、受阻或证据不足不当低分；只纳入符合协议且该指标可比较的同题两侧。分数有有效范围时分别平均上下端点，不取中点。各指标可比较任务数会不同。M1–M10的均值仅为描述性汇总，不表示评分档位已验证等距。</a:t>
            </a:r>
          </a:p>
          <a:p/>
          <a:p>
            <a:r>
              <a:t>多个模型共同出现的缺口，可作为设计改进的线索，例如资料更容易找到、正文更容易读取、操作步骤和适用条件更清楚。这些是待验证方向，尚未检验设计改动的效果。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/Users/hsin/Documents/Coding/opknow/paper/ai-usability/revisions/full-rerun-20260921/manuscript-cn.md:238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/Users/hsin/Documents/Coding/opknow/paper/ai-usability/revisions/full-rerun-20260921/manuscript-cn.md:97</a:t>
            </a:r>
          </a:p>
          <a:p>
            <a:r>
              <a:t>/Users/hsin/Documents/Coding/opknow/paper/ai-usability/revisions/full-rerun-20260921/manuscript-cn.md:99</a:t>
            </a:r>
          </a:p>
          <a:p>
            <a:r>
              <a:t>/Users/hsin/Documents/Coding/opknow/paper/ai-usability/revisions/full-rerun-20260921/manuscript-cn.md:298</a:t>
            </a:r>
          </a:p>
          <a:p>
            <a:r>
              <a:t>/Users/hsin/Documents/Coding/opknow/paper/ai-usability/revisions/full-rerun-20260921/manuscript-cn.md:290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本页介绍本次正式批次采用的2026-09-21冻结Benchmark Skill及其配套执行、评分和分析脚本。实验方法已经整理为可复用的技能规则包：确定任务与模型；保留第一次无工具回答；实际搜索与读取；保存完整最终回答；按统一规则评价并引用原始证据。</a:t>
            </a:r>
          </a:p>
          <a:p/>
          <a:p>
            <a:r>
              <a:t>Skill规定方法与产物，实际模型调用、日志保存、评价与计算需配套客户端、调度器和脚本完成。直接运行材料包括process.jsonl与evaluation.json：前者保留真实问句、工具请求与返回、回答及停止原因；后者记录逐项观测、有据评分、问题、证据引用和修订。证据不足时保持未知或范围，不保证每项均有单点分数。</a:t>
            </a:r>
          </a:p>
          <a:p/>
          <a:p>
            <a:r>
              <a:t>任务、平台和模型之间的比较、各模型任务平均、图表与设计线索属于后续汇总分析，页面明确区分；不是Skill一键自动产生结论。内容判断仍需复核，不声称已验证硬件运行成功或消除模型偏差。</a:t>
            </a:r>
          </a:p>
          <a:p/>
          <a:p>
            <a:r>
              <a:t>三项优点：统一执行和评分约定使不同条件下的材料更容易比较；原始资料、回答和判分依据关联保存，便于复核和解释分数；更换任务、模型或比较平台后可复用规则与记录流程，减少重新设计实验和整理材料的工作。复用时仍需明确任务、规则和工具版本。</a:t>
            </a:r>
          </a:p>
          <a:p/>
          <a:p>
            <a:r>
              <a:t>当前repo和默认安装入口保留2026-09-15默认规则；本页不以默认安装版替代本批09-21冻结版，不改动任何Skill或实验数据。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/Users/hsin/Documents/Coding/ai-usability-benchmark/experiments/full-rerun-protocol-20260921/frozen-skill/SKILL.md:6</a:t>
            </a:r>
          </a:p>
          <a:p>
            <a:r>
              <a:t>/Users/hsin/Documents/Coding/ai-usability-benchmark/experiments/full-rerun-protocol-20260921/frozen-skill/references/recording.md </a:t>
            </a:r>
          </a:p>
          <a:p>
            <a:r>
              <a:t>/Users/hsin/Documents/Coding/ai-usability-benchmark/experiments/full-rerun-protocol-20260921/frozen-skill/references/post-evaluation.md </a:t>
            </a:r>
          </a:p>
          <a:p>
            <a:r>
              <a:t>/Users/hsin/Documents/Coding/ai-usability-benchmark/experiments/full-rerun-protocol-20260921/frozen-skill/references/execution-checks.md </a:t>
            </a:r>
          </a:p>
          <a:p>
            <a:r>
              <a:t>/Users/hsin/Documents/Coding/ai-usability-benchmark/experiments/full-rerun-protocol-20260921/README.md:21</a:t>
            </a:r>
          </a:p>
          <a:p>
            <a:r>
              <a:t>/Users/hsin/Documents/Coding/opknow/paper/ai-usability/revisions/full-rerun-20260921/manuscript-cn.md:145</a:t>
            </a:r>
          </a:p>
          <a:p>
            <a:r>
              <a:t>/Users/hsin/Documents/Coding/opknow/paper/ai-usability/revisions/full-rerun-20260921/manuscript-cn.md:236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06079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6079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876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任务分析 · 指标定位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知识获取流程与指标定位</a:t>
            </a:r>
          </a:p>
        </p:txBody>
      </p:sp>
      <p:cxnSp>
        <p:nvCxnSpPr>
          <p:cNvPr id="13" name="E01 N01 to N02"/>
          <p:cNvCxnSpPr/>
          <p:nvPr/>
        </p:nvCxnSpPr>
        <p:spPr>
          <a:xfrm>
            <a:off x="4412482" y="1430644"/>
            <a:ext cx="0" cy="33726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4" name="E02 N02 to N03"/>
          <p:cNvCxnSpPr/>
          <p:nvPr/>
        </p:nvCxnSpPr>
        <p:spPr>
          <a:xfrm>
            <a:off x="4412482" y="1747667"/>
            <a:ext cx="0" cy="47217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5" name="E03 N03 to N04"/>
          <p:cNvCxnSpPr/>
          <p:nvPr/>
        </p:nvCxnSpPr>
        <p:spPr>
          <a:xfrm>
            <a:off x="4412482" y="1983749"/>
            <a:ext cx="0" cy="53961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6" name="E04 N04 to N05"/>
          <p:cNvCxnSpPr/>
          <p:nvPr/>
        </p:nvCxnSpPr>
        <p:spPr>
          <a:xfrm>
            <a:off x="4412482" y="2226575"/>
            <a:ext cx="0" cy="5396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7" name="E05 N05 to N06"/>
          <p:cNvCxnSpPr/>
          <p:nvPr/>
        </p:nvCxnSpPr>
        <p:spPr>
          <a:xfrm>
            <a:off x="4412482" y="2496383"/>
            <a:ext cx="0" cy="6745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8" name="E06 N06 to N07"/>
          <p:cNvCxnSpPr/>
          <p:nvPr/>
        </p:nvCxnSpPr>
        <p:spPr>
          <a:xfrm>
            <a:off x="4412482" y="2914584"/>
            <a:ext cx="0" cy="107923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9" name="E06 N06 to N07"/>
          <p:cNvCxnSpPr/>
          <p:nvPr/>
        </p:nvCxnSpPr>
        <p:spPr>
          <a:xfrm flipH="1">
            <a:off x="2542077" y="3022507"/>
            <a:ext cx="1870405" cy="0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20" name="E06 N06 to N07"/>
          <p:cNvCxnSpPr/>
          <p:nvPr/>
        </p:nvCxnSpPr>
        <p:spPr>
          <a:xfrm>
            <a:off x="2542077" y="3022507"/>
            <a:ext cx="0" cy="80942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21" name="E07 N07 to N08"/>
          <p:cNvCxnSpPr/>
          <p:nvPr/>
        </p:nvCxnSpPr>
        <p:spPr>
          <a:xfrm>
            <a:off x="2542077" y="3481180"/>
            <a:ext cx="0" cy="80942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22" name="E08 N08 to N10"/>
          <p:cNvCxnSpPr/>
          <p:nvPr/>
        </p:nvCxnSpPr>
        <p:spPr>
          <a:xfrm>
            <a:off x="2542077" y="3939852"/>
            <a:ext cx="0" cy="74197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3" name="E08 N08 to N10"/>
          <p:cNvCxnSpPr/>
          <p:nvPr/>
        </p:nvCxnSpPr>
        <p:spPr>
          <a:xfrm>
            <a:off x="2542077" y="4014049"/>
            <a:ext cx="1309284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4" name="E08 N08 to N10"/>
          <p:cNvCxnSpPr/>
          <p:nvPr/>
        </p:nvCxnSpPr>
        <p:spPr>
          <a:xfrm>
            <a:off x="3851361" y="4014049"/>
            <a:ext cx="0" cy="47217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5" name="E09 N09 to N10"/>
          <p:cNvCxnSpPr/>
          <p:nvPr/>
        </p:nvCxnSpPr>
        <p:spPr>
          <a:xfrm>
            <a:off x="8546078" y="3568867"/>
            <a:ext cx="0" cy="445182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6" name="E09 N09 to N10"/>
          <p:cNvCxnSpPr/>
          <p:nvPr/>
        </p:nvCxnSpPr>
        <p:spPr>
          <a:xfrm flipH="1">
            <a:off x="4786563" y="4014049"/>
            <a:ext cx="3759515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7" name="E09 N09 to N10"/>
          <p:cNvCxnSpPr/>
          <p:nvPr/>
        </p:nvCxnSpPr>
        <p:spPr>
          <a:xfrm>
            <a:off x="4786563" y="4014049"/>
            <a:ext cx="0" cy="47217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8" name="E10 N10 to N11"/>
          <p:cNvCxnSpPr/>
          <p:nvPr/>
        </p:nvCxnSpPr>
        <p:spPr>
          <a:xfrm>
            <a:off x="3851361" y="4398525"/>
            <a:ext cx="0" cy="40471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9" name="E11 N06 to N09"/>
          <p:cNvCxnSpPr/>
          <p:nvPr/>
        </p:nvCxnSpPr>
        <p:spPr>
          <a:xfrm>
            <a:off x="6002327" y="2739209"/>
            <a:ext cx="2543751" cy="0"/>
          </a:xfrm>
          <a:prstGeom prst="line">
            <a:avLst/>
          </a:prstGeom>
          <a:ln w="12700">
            <a:solidFill>
              <a:srgbClr val="695183"/>
            </a:solidFill>
          </a:ln>
        </p:spPr>
      </p:cxnSp>
      <p:cxnSp>
        <p:nvCxnSpPr>
          <p:cNvPr id="30" name="E11 N06 to N09"/>
          <p:cNvCxnSpPr/>
          <p:nvPr/>
        </p:nvCxnSpPr>
        <p:spPr>
          <a:xfrm>
            <a:off x="8546078" y="2739209"/>
            <a:ext cx="0" cy="357495"/>
          </a:xfrm>
          <a:prstGeom prst="line">
            <a:avLst/>
          </a:prstGeom>
          <a:ln w="12700">
            <a:solidFill>
              <a:srgbClr val="695183"/>
            </a:solidFill>
            <a:tailEnd type="triangle" w="sm" len="sm"/>
          </a:ln>
        </p:spPr>
      </p:cxnSp>
      <p:cxnSp>
        <p:nvCxnSpPr>
          <p:cNvPr id="31" name="E12 N11 to N12"/>
          <p:cNvCxnSpPr/>
          <p:nvPr/>
        </p:nvCxnSpPr>
        <p:spPr>
          <a:xfrm>
            <a:off x="3851361" y="5005591"/>
            <a:ext cx="0" cy="107923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2" name="E13 N12 to N15"/>
          <p:cNvCxnSpPr/>
          <p:nvPr/>
        </p:nvCxnSpPr>
        <p:spPr>
          <a:xfrm>
            <a:off x="3851361" y="5383322"/>
            <a:ext cx="0" cy="451927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3" name="E14 N11 to N13"/>
          <p:cNvCxnSpPr/>
          <p:nvPr/>
        </p:nvCxnSpPr>
        <p:spPr>
          <a:xfrm>
            <a:off x="5441205" y="4722294"/>
            <a:ext cx="654642" cy="0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4" name="E15 N13 to N05"/>
          <p:cNvCxnSpPr/>
          <p:nvPr/>
        </p:nvCxnSpPr>
        <p:spPr>
          <a:xfrm>
            <a:off x="9836658" y="4722294"/>
            <a:ext cx="1533732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5" name="E15 N13 to N05"/>
          <p:cNvCxnSpPr/>
          <p:nvPr/>
        </p:nvCxnSpPr>
        <p:spPr>
          <a:xfrm flipV="1">
            <a:off x="11370390" y="2415441"/>
            <a:ext cx="0" cy="2306853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6" name="E15 N13 to N05"/>
          <p:cNvCxnSpPr/>
          <p:nvPr/>
        </p:nvCxnSpPr>
        <p:spPr>
          <a:xfrm flipH="1">
            <a:off x="6282888" y="2415441"/>
            <a:ext cx="5087502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  <a:tailEnd type="triangle" w="sm" len="sm"/>
          </a:ln>
        </p:spPr>
      </p:cxnSp>
      <p:cxnSp>
        <p:nvCxnSpPr>
          <p:cNvPr id="37" name="E16 N13 to N14"/>
          <p:cNvCxnSpPr/>
          <p:nvPr/>
        </p:nvCxnSpPr>
        <p:spPr>
          <a:xfrm>
            <a:off x="7966252" y="5005591"/>
            <a:ext cx="0" cy="87688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8" name="E17 N14 to N15"/>
          <p:cNvCxnSpPr/>
          <p:nvPr/>
        </p:nvCxnSpPr>
        <p:spPr>
          <a:xfrm flipH="1">
            <a:off x="5721766" y="5349596"/>
            <a:ext cx="140280" cy="0"/>
          </a:xfrm>
          <a:prstGeom prst="line">
            <a:avLst/>
          </a:prstGeom>
          <a:ln w="12700">
            <a:solidFill>
              <a:srgbClr val="356F5F"/>
            </a:solidFill>
          </a:ln>
        </p:spPr>
      </p:cxnSp>
      <p:cxnSp>
        <p:nvCxnSpPr>
          <p:cNvPr id="39" name="E17 N14 to N15"/>
          <p:cNvCxnSpPr/>
          <p:nvPr/>
        </p:nvCxnSpPr>
        <p:spPr>
          <a:xfrm>
            <a:off x="5721766" y="5349596"/>
            <a:ext cx="0" cy="485653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40" name="E18 N14 to N15"/>
          <p:cNvCxnSpPr/>
          <p:nvPr/>
        </p:nvCxnSpPr>
        <p:spPr>
          <a:xfrm>
            <a:off x="7966252" y="5605913"/>
            <a:ext cx="0" cy="229336"/>
          </a:xfrm>
          <a:prstGeom prst="line">
            <a:avLst/>
          </a:prstGeom>
          <a:ln w="12700">
            <a:solidFill>
              <a:srgbClr val="9C5968"/>
            </a:solidFill>
            <a:prstDash val="dash"/>
            <a:tailEnd type="triangle" w="sm" len="sm"/>
          </a:ln>
        </p:spPr>
      </p:cxnSp>
      <p:cxnSp>
        <p:nvCxnSpPr>
          <p:cNvPr id="41" name="E19 N06 to N08"/>
          <p:cNvCxnSpPr/>
          <p:nvPr/>
        </p:nvCxnSpPr>
        <p:spPr>
          <a:xfrm>
            <a:off x="4412482" y="3022507"/>
            <a:ext cx="374081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2" name="E19 N06 to N08"/>
          <p:cNvCxnSpPr/>
          <p:nvPr/>
        </p:nvCxnSpPr>
        <p:spPr>
          <a:xfrm>
            <a:off x="4786563" y="3022507"/>
            <a:ext cx="0" cy="72848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3" name="E19 N06 to N08"/>
          <p:cNvCxnSpPr/>
          <p:nvPr/>
        </p:nvCxnSpPr>
        <p:spPr>
          <a:xfrm flipH="1">
            <a:off x="4412482" y="3750987"/>
            <a:ext cx="374081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  <a:tailEnd type="triangle" w="sm" len="sm"/>
          </a:ln>
        </p:spPr>
      </p:cxnSp>
      <p:sp>
        <p:nvSpPr>
          <p:cNvPr id="44" name="原 Workflow N01 开发任务／用户问句"/>
          <p:cNvSpPr/>
          <p:nvPr/>
        </p:nvSpPr>
        <p:spPr>
          <a:xfrm>
            <a:off x="2729118" y="1228288"/>
            <a:ext cx="3366729" cy="202355"/>
          </a:xfrm>
          <a:prstGeom prst="roundRect">
            <a:avLst>
              <a:gd name="adj" fmla="val 14000"/>
            </a:avLst>
          </a:prstGeom>
          <a:solidFill>
            <a:srgbClr val="F6F6F8"/>
          </a:solidFill>
          <a:ln w="10160">
            <a:solidFill>
              <a:srgbClr val="C6CD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N01 开发任务／用户问句"/>
          <p:cNvSpPr txBox="1"/>
          <p:nvPr/>
        </p:nvSpPr>
        <p:spPr>
          <a:xfrm>
            <a:off x="2897454" y="1244477"/>
            <a:ext cx="3030056" cy="1699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454B58"/>
                </a:solidFill>
                <a:latin typeface="PingFang SC"/>
                <a:ea typeface="PingFang SC"/>
              </a:rPr>
              <a:t>开发任务／用户问句</a:t>
            </a:r>
          </a:p>
        </p:txBody>
      </p:sp>
      <p:sp>
        <p:nvSpPr>
          <p:cNvPr id="46" name="原 Workflow N02 组装任务上下文"/>
          <p:cNvSpPr/>
          <p:nvPr/>
        </p:nvSpPr>
        <p:spPr>
          <a:xfrm>
            <a:off x="2355037" y="1464370"/>
            <a:ext cx="4114891" cy="283297"/>
          </a:xfrm>
          <a:prstGeom prst="roundRect">
            <a:avLst>
              <a:gd name="adj" fmla="val 14000"/>
            </a:avLst>
          </a:prstGeom>
          <a:solidFill>
            <a:srgbClr val="F6F6F8"/>
          </a:solidFill>
          <a:ln w="10160">
            <a:solidFill>
              <a:srgbClr val="C6CD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N02 组装任务上下文"/>
          <p:cNvSpPr txBox="1"/>
          <p:nvPr/>
        </p:nvSpPr>
        <p:spPr>
          <a:xfrm>
            <a:off x="2519632" y="1471452"/>
            <a:ext cx="3785700" cy="1444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454B58"/>
                </a:solidFill>
                <a:latin typeface="PingFang SC"/>
                <a:ea typeface="PingFang SC"/>
              </a:rPr>
              <a:t>组装任务上下文</a:t>
            </a:r>
          </a:p>
        </p:txBody>
      </p:sp>
      <p:sp>
        <p:nvSpPr>
          <p:cNvPr id="48" name="N02 约束、会话上下文与当前问句"/>
          <p:cNvSpPr txBox="1"/>
          <p:nvPr/>
        </p:nvSpPr>
        <p:spPr>
          <a:xfrm>
            <a:off x="2519632" y="1623016"/>
            <a:ext cx="3785700" cy="116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54B58"/>
                </a:solidFill>
                <a:latin typeface="PingFang SC"/>
                <a:ea typeface="PingFang SC"/>
              </a:rPr>
              <a:t>约束、会话上下文与当前问句</a:t>
            </a:r>
          </a:p>
        </p:txBody>
      </p:sp>
      <p:sp>
        <p:nvSpPr>
          <p:cNvPr id="49" name="原 Workflow N03 ① 意图解析"/>
          <p:cNvSpPr/>
          <p:nvPr/>
        </p:nvSpPr>
        <p:spPr>
          <a:xfrm>
            <a:off x="2822638" y="1794884"/>
            <a:ext cx="3179688" cy="188865"/>
          </a:xfrm>
          <a:prstGeom prst="roundRect">
            <a:avLst>
              <a:gd name="adj" fmla="val 14000"/>
            </a:avLst>
          </a:prstGeom>
          <a:solidFill>
            <a:srgbClr val="F6F6F8"/>
          </a:solidFill>
          <a:ln w="10160">
            <a:solidFill>
              <a:srgbClr val="C6CD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N03 ① 意图解析"/>
          <p:cNvSpPr txBox="1"/>
          <p:nvPr/>
        </p:nvSpPr>
        <p:spPr>
          <a:xfrm>
            <a:off x="2981622" y="1809993"/>
            <a:ext cx="2861719" cy="158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454B58"/>
                </a:solidFill>
                <a:latin typeface="PingFang SC"/>
                <a:ea typeface="PingFang SC"/>
              </a:rPr>
              <a:t>① 意图解析</a:t>
            </a:r>
          </a:p>
        </p:txBody>
      </p:sp>
      <p:sp>
        <p:nvSpPr>
          <p:cNvPr id="51" name="原 Workflow N04 ② 子目标拆解"/>
          <p:cNvSpPr/>
          <p:nvPr/>
        </p:nvSpPr>
        <p:spPr>
          <a:xfrm>
            <a:off x="2822638" y="2037710"/>
            <a:ext cx="3179688" cy="188865"/>
          </a:xfrm>
          <a:prstGeom prst="roundRect">
            <a:avLst>
              <a:gd name="adj" fmla="val 14000"/>
            </a:avLst>
          </a:prstGeom>
          <a:solidFill>
            <a:srgbClr val="F6F6F8"/>
          </a:solidFill>
          <a:ln w="10160">
            <a:solidFill>
              <a:srgbClr val="C6CD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N04 ② 子目标拆解"/>
          <p:cNvSpPr txBox="1"/>
          <p:nvPr/>
        </p:nvSpPr>
        <p:spPr>
          <a:xfrm>
            <a:off x="2981622" y="2052819"/>
            <a:ext cx="2861719" cy="158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454B58"/>
                </a:solidFill>
                <a:latin typeface="PingFang SC"/>
                <a:ea typeface="PingFang SC"/>
              </a:rPr>
              <a:t>② 子目标拆解</a:t>
            </a:r>
          </a:p>
        </p:txBody>
      </p:sp>
      <p:sp>
        <p:nvSpPr>
          <p:cNvPr id="53" name="原 Workflow N05 ③ 路由"/>
          <p:cNvSpPr/>
          <p:nvPr/>
        </p:nvSpPr>
        <p:spPr>
          <a:xfrm>
            <a:off x="2542077" y="2280537"/>
            <a:ext cx="3740810" cy="215845"/>
          </a:xfrm>
          <a:prstGeom prst="roundRect">
            <a:avLst>
              <a:gd name="adj" fmla="val 14000"/>
            </a:avLst>
          </a:prstGeom>
          <a:solidFill>
            <a:srgbClr val="F6F6F8"/>
          </a:solidFill>
          <a:ln w="10160">
            <a:solidFill>
              <a:srgbClr val="C6CD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N05 ③ 路由：检索／抓取／直接作答"/>
          <p:cNvSpPr txBox="1"/>
          <p:nvPr/>
        </p:nvSpPr>
        <p:spPr>
          <a:xfrm>
            <a:off x="2729118" y="2297805"/>
            <a:ext cx="3366729" cy="181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54B58"/>
                </a:solidFill>
                <a:latin typeface="PingFang SC"/>
                <a:ea typeface="PingFang SC"/>
              </a:rPr>
              <a:t>③ 路由：检索／抓取／直接作答</a:t>
            </a:r>
          </a:p>
        </p:txBody>
      </p:sp>
      <p:sp>
        <p:nvSpPr>
          <p:cNvPr id="55" name="原 Workflow N06 是否需要检索？"/>
          <p:cNvSpPr/>
          <p:nvPr/>
        </p:nvSpPr>
        <p:spPr>
          <a:xfrm>
            <a:off x="2822638" y="2563835"/>
            <a:ext cx="3179688" cy="350749"/>
          </a:xfrm>
          <a:prstGeom prst="diamond">
            <a:avLst/>
          </a:prstGeom>
          <a:solidFill>
            <a:srgbClr val="F6F6F8"/>
          </a:solidFill>
          <a:ln w="10160">
            <a:solidFill>
              <a:srgbClr val="C6CD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N06 是否需要检索？"/>
          <p:cNvSpPr txBox="1"/>
          <p:nvPr/>
        </p:nvSpPr>
        <p:spPr>
          <a:xfrm>
            <a:off x="3267794" y="2648014"/>
            <a:ext cx="2289375" cy="1578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54B58"/>
                </a:solidFill>
                <a:latin typeface="PingFang SC"/>
                <a:ea typeface="PingFang SC"/>
              </a:rPr>
              <a:t>是否需要检索？</a:t>
            </a:r>
          </a:p>
        </p:txBody>
      </p:sp>
      <p:sp>
        <p:nvSpPr>
          <p:cNvPr id="57" name="N06 工具调用决策"/>
          <p:cNvSpPr txBox="1"/>
          <p:nvPr/>
        </p:nvSpPr>
        <p:spPr>
          <a:xfrm>
            <a:off x="3522170" y="2774284"/>
            <a:ext cx="1780625" cy="105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54B58"/>
                </a:solidFill>
                <a:latin typeface="PingFang SC"/>
                <a:ea typeface="PingFang SC"/>
              </a:rPr>
              <a:t>工具调用决策</a:t>
            </a:r>
          </a:p>
        </p:txBody>
      </p:sp>
      <p:sp>
        <p:nvSpPr>
          <p:cNvPr id="58" name="原 Workflow N07 web_search 搜索候选"/>
          <p:cNvSpPr/>
          <p:nvPr/>
        </p:nvSpPr>
        <p:spPr>
          <a:xfrm>
            <a:off x="671672" y="3103449"/>
            <a:ext cx="3740810" cy="377730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N07 web_search 搜索候选"/>
          <p:cNvSpPr txBox="1"/>
          <p:nvPr/>
        </p:nvSpPr>
        <p:spPr>
          <a:xfrm>
            <a:off x="821304" y="3112893"/>
            <a:ext cx="3441545" cy="181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web_search 搜索候选</a:t>
            </a:r>
          </a:p>
        </p:txBody>
      </p:sp>
      <p:sp>
        <p:nvSpPr>
          <p:cNvPr id="60" name="N07 M1 官方发现 · M5 第三方数量"/>
          <p:cNvSpPr txBox="1"/>
          <p:nvPr/>
        </p:nvSpPr>
        <p:spPr>
          <a:xfrm>
            <a:off x="821304" y="3313090"/>
            <a:ext cx="3441545" cy="151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M1 官方发现 · M5 第三方数量</a:t>
            </a:r>
          </a:p>
        </p:txBody>
      </p:sp>
      <p:sp>
        <p:nvSpPr>
          <p:cNvPr id="61" name="原 Workflow N08 web_fetch 读取正文"/>
          <p:cNvSpPr/>
          <p:nvPr/>
        </p:nvSpPr>
        <p:spPr>
          <a:xfrm>
            <a:off x="671672" y="3562122"/>
            <a:ext cx="3740810" cy="377730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N08 web_fetch 读取正文"/>
          <p:cNvSpPr txBox="1"/>
          <p:nvPr/>
        </p:nvSpPr>
        <p:spPr>
          <a:xfrm>
            <a:off x="821304" y="3571565"/>
            <a:ext cx="3441545" cy="181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web_fetch 读取正文</a:t>
            </a:r>
          </a:p>
        </p:txBody>
      </p:sp>
      <p:sp>
        <p:nvSpPr>
          <p:cNvPr id="63" name="N08 M2 正文取得 · M3 内容支撑"/>
          <p:cNvSpPr txBox="1"/>
          <p:nvPr/>
        </p:nvSpPr>
        <p:spPr>
          <a:xfrm>
            <a:off x="821304" y="3771762"/>
            <a:ext cx="3441545" cy="151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M2 正文取得 · M3 内容支撑</a:t>
            </a:r>
          </a:p>
        </p:txBody>
      </p:sp>
      <p:sp>
        <p:nvSpPr>
          <p:cNvPr id="64" name="原 Workflow N09 模型自带知识"/>
          <p:cNvSpPr/>
          <p:nvPr/>
        </p:nvSpPr>
        <p:spPr>
          <a:xfrm>
            <a:off x="6488632" y="3096704"/>
            <a:ext cx="4114891" cy="472162"/>
          </a:xfrm>
          <a:prstGeom prst="roundRect">
            <a:avLst>
              <a:gd name="adj" fmla="val 14000"/>
            </a:avLst>
          </a:prstGeom>
          <a:solidFill>
            <a:srgbClr val="EAE2F8"/>
          </a:solidFill>
          <a:ln w="10160">
            <a:solidFill>
              <a:srgbClr val="C6B9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N09 模型自带知识"/>
          <p:cNvSpPr txBox="1"/>
          <p:nvPr/>
        </p:nvSpPr>
        <p:spPr>
          <a:xfrm>
            <a:off x="6653228" y="3108508"/>
            <a:ext cx="3785700" cy="2266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695183"/>
                </a:solidFill>
                <a:latin typeface="PingFang SC"/>
                <a:ea typeface="PingFang SC"/>
              </a:rPr>
              <a:t>模型自带知识</a:t>
            </a:r>
          </a:p>
        </p:txBody>
      </p:sp>
      <p:sp>
        <p:nvSpPr>
          <p:cNvPr id="66" name="N09 M7 检索前知识（无工具回答）"/>
          <p:cNvSpPr txBox="1"/>
          <p:nvPr/>
        </p:nvSpPr>
        <p:spPr>
          <a:xfrm>
            <a:off x="6653228" y="3358755"/>
            <a:ext cx="3785700" cy="1888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95183"/>
                </a:solidFill>
                <a:latin typeface="PingFang SC"/>
                <a:ea typeface="PingFang SC"/>
              </a:rPr>
              <a:t>M7 检索前知识（无工具回答）</a:t>
            </a:r>
          </a:p>
        </p:txBody>
      </p:sp>
      <p:sp>
        <p:nvSpPr>
          <p:cNvPr id="67" name="原 Workflow N10 汇总当前证据（回灌）"/>
          <p:cNvSpPr/>
          <p:nvPr/>
        </p:nvSpPr>
        <p:spPr>
          <a:xfrm>
            <a:off x="1793915" y="4061266"/>
            <a:ext cx="4114891" cy="337259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AFCD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N10 汇总当前证据（回灌）"/>
          <p:cNvSpPr txBox="1"/>
          <p:nvPr/>
        </p:nvSpPr>
        <p:spPr>
          <a:xfrm>
            <a:off x="1958511" y="4069697"/>
            <a:ext cx="3785700" cy="161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356F5F"/>
                </a:solidFill>
                <a:latin typeface="PingFang SC"/>
                <a:ea typeface="PingFang SC"/>
              </a:rPr>
              <a:t>汇总当前证据（回灌）</a:t>
            </a:r>
          </a:p>
        </p:txBody>
      </p:sp>
      <p:sp>
        <p:nvSpPr>
          <p:cNvPr id="69" name="N10 M6 说法支持 · M8 调用成本"/>
          <p:cNvSpPr txBox="1"/>
          <p:nvPr/>
        </p:nvSpPr>
        <p:spPr>
          <a:xfrm>
            <a:off x="1958511" y="4248444"/>
            <a:ext cx="3785700" cy="1349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F"/>
                </a:solidFill>
                <a:latin typeface="PingFang SC"/>
                <a:ea typeface="PingFang SC"/>
              </a:rPr>
              <a:t>M6 说法支持 · M8 调用成本</a:t>
            </a:r>
          </a:p>
        </p:txBody>
      </p:sp>
      <p:sp>
        <p:nvSpPr>
          <p:cNvPr id="70" name="原 Workflow N11 ④ 证据是否充分？"/>
          <p:cNvSpPr/>
          <p:nvPr/>
        </p:nvSpPr>
        <p:spPr>
          <a:xfrm>
            <a:off x="2261516" y="4438996"/>
            <a:ext cx="3179688" cy="566595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N11 ④ 证据是否充分？"/>
          <p:cNvSpPr txBox="1"/>
          <p:nvPr/>
        </p:nvSpPr>
        <p:spPr>
          <a:xfrm>
            <a:off x="2643079" y="4563647"/>
            <a:ext cx="2416563" cy="2039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④ 证据是否充分？</a:t>
            </a:r>
          </a:p>
        </p:txBody>
      </p:sp>
      <p:sp>
        <p:nvSpPr>
          <p:cNvPr id="72" name="N11 M4 / M9 / M10"/>
          <p:cNvSpPr txBox="1"/>
          <p:nvPr/>
        </p:nvSpPr>
        <p:spPr>
          <a:xfrm>
            <a:off x="2961048" y="4727960"/>
            <a:ext cx="1780625" cy="1699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8A563E"/>
                </a:solidFill>
                <a:latin typeface="PingFang SC"/>
                <a:ea typeface="PingFang SC"/>
              </a:rPr>
              <a:t>M4 / M9 / M10</a:t>
            </a:r>
          </a:p>
        </p:txBody>
      </p:sp>
      <p:sp>
        <p:nvSpPr>
          <p:cNvPr id="73" name="原 Workflow N12 ⑥ 收敛（证据充分）"/>
          <p:cNvSpPr/>
          <p:nvPr/>
        </p:nvSpPr>
        <p:spPr>
          <a:xfrm>
            <a:off x="2167996" y="5113514"/>
            <a:ext cx="3366729" cy="269807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B9D6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N12 ⑥ 收敛（证据充分）"/>
          <p:cNvSpPr txBox="1"/>
          <p:nvPr/>
        </p:nvSpPr>
        <p:spPr>
          <a:xfrm>
            <a:off x="2336333" y="5135099"/>
            <a:ext cx="3030056" cy="2266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⑥ 收敛（证据充分）</a:t>
            </a:r>
          </a:p>
        </p:txBody>
      </p:sp>
      <p:sp>
        <p:nvSpPr>
          <p:cNvPr id="75" name="原 Workflow N13 能否继续检索？"/>
          <p:cNvSpPr/>
          <p:nvPr/>
        </p:nvSpPr>
        <p:spPr>
          <a:xfrm>
            <a:off x="6095847" y="4438996"/>
            <a:ext cx="3740810" cy="566595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13 能否继续检索？"/>
          <p:cNvSpPr txBox="1"/>
          <p:nvPr/>
        </p:nvSpPr>
        <p:spPr>
          <a:xfrm>
            <a:off x="6656969" y="4580645"/>
            <a:ext cx="2618567" cy="1983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8A563E"/>
                </a:solidFill>
                <a:latin typeface="PingFang SC"/>
                <a:ea typeface="PingFang SC"/>
              </a:rPr>
              <a:t>能否继续检索？</a:t>
            </a:r>
          </a:p>
        </p:txBody>
      </p:sp>
      <p:sp>
        <p:nvSpPr>
          <p:cNvPr id="77" name="N13 未达上限且预期有效"/>
          <p:cNvSpPr txBox="1"/>
          <p:nvPr/>
        </p:nvSpPr>
        <p:spPr>
          <a:xfrm>
            <a:off x="6918825" y="4767621"/>
            <a:ext cx="2094853" cy="1473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未达上限且预期有效</a:t>
            </a:r>
          </a:p>
        </p:txBody>
      </p:sp>
      <p:sp>
        <p:nvSpPr>
          <p:cNvPr id="78" name="原 Workflow N14 是否仍有可靠证据？"/>
          <p:cNvSpPr/>
          <p:nvPr/>
        </p:nvSpPr>
        <p:spPr>
          <a:xfrm>
            <a:off x="5862046" y="5093279"/>
            <a:ext cx="4208411" cy="512634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N14 是否仍有可靠证据？"/>
          <p:cNvSpPr txBox="1"/>
          <p:nvPr/>
        </p:nvSpPr>
        <p:spPr>
          <a:xfrm>
            <a:off x="6367056" y="5206058"/>
            <a:ext cx="3198392" cy="17942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是否仍有可靠证据？</a:t>
            </a:r>
          </a:p>
        </p:txBody>
      </p:sp>
      <p:sp>
        <p:nvSpPr>
          <p:cNvPr id="80" name="N14 官方／第三方／先验任一充分"/>
          <p:cNvSpPr txBox="1"/>
          <p:nvPr/>
        </p:nvSpPr>
        <p:spPr>
          <a:xfrm>
            <a:off x="6577476" y="5354722"/>
            <a:ext cx="2777551" cy="1332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8A563E"/>
                </a:solidFill>
                <a:latin typeface="PingFang SC"/>
                <a:ea typeface="PingFang SC"/>
              </a:rPr>
              <a:t>官方／第三方／先验任一充分</a:t>
            </a:r>
          </a:p>
        </p:txBody>
      </p:sp>
      <p:sp>
        <p:nvSpPr>
          <p:cNvPr id="81" name="原 Workflow N15 终答"/>
          <p:cNvSpPr/>
          <p:nvPr/>
        </p:nvSpPr>
        <p:spPr>
          <a:xfrm>
            <a:off x="1232794" y="5835249"/>
            <a:ext cx="9352026" cy="431691"/>
          </a:xfrm>
          <a:prstGeom prst="roundRect">
            <a:avLst>
              <a:gd name="adj" fmla="val 14000"/>
            </a:avLst>
          </a:prstGeom>
          <a:solidFill>
            <a:srgbClr val="E3EAF1"/>
          </a:solidFill>
          <a:ln w="10160">
            <a:solidFill>
              <a:srgbClr val="B9C4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N15 终答"/>
          <p:cNvSpPr txBox="1"/>
          <p:nvPr/>
        </p:nvSpPr>
        <p:spPr>
          <a:xfrm>
            <a:off x="1606875" y="5846041"/>
            <a:ext cx="8603863" cy="207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83" name="N15 M11 综合知识支撑（连续 0–100）"/>
          <p:cNvSpPr txBox="1"/>
          <p:nvPr/>
        </p:nvSpPr>
        <p:spPr>
          <a:xfrm>
            <a:off x="1606875" y="6074838"/>
            <a:ext cx="8603863" cy="172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4C6176"/>
                </a:solidFill>
                <a:latin typeface="PingFang SC"/>
                <a:ea typeface="PingFang SC"/>
              </a:rPr>
              <a:t>M11 综合知识支撑（连续 0–100）</a:t>
            </a:r>
          </a:p>
        </p:txBody>
      </p:sp>
      <p:sp>
        <p:nvSpPr>
          <p:cNvPr id="84" name="原 Workflow 分支 否：依据模型先验"/>
          <p:cNvSpPr txBox="1"/>
          <p:nvPr/>
        </p:nvSpPr>
        <p:spPr>
          <a:xfrm>
            <a:off x="6563448" y="2563835"/>
            <a:ext cx="3927850" cy="1483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95183"/>
                </a:solidFill>
                <a:latin typeface="PingFang SC"/>
                <a:ea typeface="PingFang SC"/>
              </a:rPr>
              <a:t>否：依据模型先验</a:t>
            </a:r>
          </a:p>
        </p:txBody>
      </p:sp>
      <p:sp>
        <p:nvSpPr>
          <p:cNvPr id="85" name="原 Workflow 分支 是：调用工具检索"/>
          <p:cNvSpPr txBox="1"/>
          <p:nvPr/>
        </p:nvSpPr>
        <p:spPr>
          <a:xfrm>
            <a:off x="4786563" y="2934820"/>
            <a:ext cx="2712087" cy="1483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5E85"/>
                </a:solidFill>
                <a:latin typeface="PingFang SC"/>
                <a:ea typeface="PingFang SC"/>
              </a:rPr>
              <a:t>是：调用工具检索</a:t>
            </a:r>
          </a:p>
        </p:txBody>
      </p:sp>
      <p:sp>
        <p:nvSpPr>
          <p:cNvPr id="86" name="原 Workflow 分支 选中 URL"/>
          <p:cNvSpPr txBox="1"/>
          <p:nvPr/>
        </p:nvSpPr>
        <p:spPr>
          <a:xfrm>
            <a:off x="2822638" y="3454199"/>
            <a:ext cx="1645956" cy="1214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355E85"/>
                </a:solidFill>
                <a:latin typeface="PingFang SC"/>
                <a:ea typeface="PingFang SC"/>
              </a:rPr>
              <a:t>选中 URL</a:t>
            </a:r>
          </a:p>
        </p:txBody>
      </p:sp>
      <p:sp>
        <p:nvSpPr>
          <p:cNvPr id="87" name="原 Workflow 分支 已知 URL&#10;可直接获取"/>
          <p:cNvSpPr txBox="1"/>
          <p:nvPr/>
        </p:nvSpPr>
        <p:spPr>
          <a:xfrm>
            <a:off x="4917492" y="3380002"/>
            <a:ext cx="1496324" cy="2563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7C8592"/>
                </a:solidFill>
                <a:latin typeface="PingFang SC"/>
                <a:ea typeface="PingFang SC"/>
              </a:rPr>
              <a:t>已知 URL
可直接获取</a:t>
            </a:r>
          </a:p>
        </p:txBody>
      </p:sp>
      <p:sp>
        <p:nvSpPr>
          <p:cNvPr id="88" name="原 Workflow 分支 充分"/>
          <p:cNvSpPr txBox="1"/>
          <p:nvPr/>
        </p:nvSpPr>
        <p:spPr>
          <a:xfrm>
            <a:off x="4075809" y="4998846"/>
            <a:ext cx="748162" cy="1349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56F5F"/>
                </a:solidFill>
                <a:latin typeface="PingFang SC"/>
                <a:ea typeface="PingFang SC"/>
              </a:rPr>
              <a:t>充分</a:t>
            </a:r>
          </a:p>
        </p:txBody>
      </p:sp>
      <p:sp>
        <p:nvSpPr>
          <p:cNvPr id="89" name="原 Workflow 分支 不足"/>
          <p:cNvSpPr txBox="1"/>
          <p:nvPr/>
        </p:nvSpPr>
        <p:spPr>
          <a:xfrm>
            <a:off x="5478613" y="4573900"/>
            <a:ext cx="598529" cy="1349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90" name="原 Workflow 分支 是：换检索词再搜索"/>
          <p:cNvSpPr txBox="1"/>
          <p:nvPr/>
        </p:nvSpPr>
        <p:spPr>
          <a:xfrm>
            <a:off x="9612209" y="3656554"/>
            <a:ext cx="2057445" cy="2698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8A563E"/>
                </a:solidFill>
                <a:latin typeface="PingFang SC"/>
                <a:ea typeface="PingFang SC"/>
              </a:rPr>
              <a:t>是：换检索词再搜索</a:t>
            </a:r>
          </a:p>
        </p:txBody>
      </p:sp>
      <p:sp>
        <p:nvSpPr>
          <p:cNvPr id="91" name="原 Workflow 分支 否：检索已穷尽"/>
          <p:cNvSpPr txBox="1"/>
          <p:nvPr/>
        </p:nvSpPr>
        <p:spPr>
          <a:xfrm>
            <a:off x="8115885" y="5012337"/>
            <a:ext cx="2618567" cy="1349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否：检索已穷尽</a:t>
            </a:r>
          </a:p>
        </p:txBody>
      </p:sp>
      <p:sp>
        <p:nvSpPr>
          <p:cNvPr id="92" name="原 Workflow 分支 有：依据证据作答"/>
          <p:cNvSpPr txBox="1"/>
          <p:nvPr/>
        </p:nvSpPr>
        <p:spPr>
          <a:xfrm>
            <a:off x="4356370" y="5599168"/>
            <a:ext cx="2712087" cy="1483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356F5F"/>
                </a:solidFill>
                <a:latin typeface="PingFang SC"/>
                <a:ea typeface="PingFang SC"/>
              </a:rPr>
              <a:t>有：依据证据作答</a:t>
            </a:r>
          </a:p>
        </p:txBody>
      </p:sp>
      <p:sp>
        <p:nvSpPr>
          <p:cNvPr id="93" name="原 Workflow 分支 无：记忆补缺风险"/>
          <p:cNvSpPr txBox="1"/>
          <p:nvPr/>
        </p:nvSpPr>
        <p:spPr>
          <a:xfrm>
            <a:off x="8228109" y="5659874"/>
            <a:ext cx="3366729" cy="1483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C5968"/>
                </a:solidFill>
                <a:latin typeface="PingFang SC"/>
                <a:ea typeface="PingFang SC"/>
              </a:rPr>
              <a:t>无：记忆补缺风险</a:t>
            </a:r>
          </a:p>
        </p:txBody>
      </p:sp>
      <p:sp>
        <p:nvSpPr>
          <p:cNvPr id="94" name="概念流程及证据边界说明"/>
          <p:cNvSpPr txBox="1"/>
          <p:nvPr/>
        </p:nvSpPr>
        <p:spPr>
          <a:xfrm>
            <a:off x="484632" y="6423660"/>
            <a:ext cx="112224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27B8C"/>
                </a:solidFill>
                <a:latin typeface="PingFang SC"/>
                <a:ea typeface="PingFang SC"/>
              </a:rPr>
              <a:t>概念环节定位，实际评分独立执行。模型可能无法可靠识别知识缺口；证据不足时，终答须显式说明边界。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60196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指标与评分 · 与前页色标对应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流程各环节对应的五档评分标准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428232"/>
            <a:ext cx="11222431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C=实际搜索+获取，失败计数；未知/受阻/N/A单列，不补零。M2完整性未知留4–5；M6高档须无未解矛盾。</a:t>
            </a:r>
          </a:p>
        </p:txBody>
      </p:sp>
      <p:sp>
        <p:nvSpPr>
          <p:cNvPr id="14" name="雾蓝灰马卡龙表头"/>
          <p:cNvSpPr/>
          <p:nvPr/>
        </p:nvSpPr>
        <p:spPr>
          <a:xfrm>
            <a:off x="484632" y="1088136"/>
            <a:ext cx="11222431" cy="265176"/>
          </a:xfrm>
          <a:prstGeom prst="roundRect">
            <a:avLst>
              <a:gd name="adj" fmla="val 35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88136"/>
            <a:ext cx="932688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流程环节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088136"/>
            <a:ext cx="1664207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1分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54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2分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93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3分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32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4分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170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5分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1389888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1389888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搜索
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5336" y="138988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评分单元格 M1 指标"/>
          <p:cNvSpPr txBox="1"/>
          <p:nvPr/>
        </p:nvSpPr>
        <p:spPr>
          <a:xfrm>
            <a:off x="1618488" y="138988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26" name="评分单元格 M1 1分"/>
          <p:cNvSpPr txBox="1"/>
          <p:nvPr/>
        </p:nvSpPr>
        <p:spPr>
          <a:xfrm>
            <a:off x="34107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预算用尽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仍未发现</a:t>
            </a:r>
          </a:p>
        </p:txBody>
      </p:sp>
      <p:sp>
        <p:nvSpPr>
          <p:cNvPr id="27" name="评分单元格 M1 2分"/>
          <p:cNvSpPr txBox="1"/>
          <p:nvPr/>
        </p:nvSpPr>
        <p:spPr>
          <a:xfrm>
            <a:off x="50846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第3查起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8" name="评分单元格 M1 3分"/>
          <p:cNvSpPr txBox="1"/>
          <p:nvPr/>
        </p:nvSpPr>
        <p:spPr>
          <a:xfrm>
            <a:off x="67585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第2查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9" name="评分单元格 M1 4分"/>
          <p:cNvSpPr txBox="1"/>
          <p:nvPr/>
        </p:nvSpPr>
        <p:spPr>
          <a:xfrm>
            <a:off x="84324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第2–5条</a:t>
            </a:r>
          </a:p>
        </p:txBody>
      </p:sp>
      <p:sp>
        <p:nvSpPr>
          <p:cNvPr id="30" name="评分单元格 M1 5分"/>
          <p:cNvSpPr txBox="1"/>
          <p:nvPr/>
        </p:nvSpPr>
        <p:spPr>
          <a:xfrm>
            <a:off x="10106314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第1条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5336" y="1844344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评分单元格 M5 指标"/>
          <p:cNvSpPr txBox="1"/>
          <p:nvPr/>
        </p:nvSpPr>
        <p:spPr>
          <a:xfrm>
            <a:off x="1618488" y="1844344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M5 第三方数量</a:t>
            </a:r>
          </a:p>
        </p:txBody>
      </p:sp>
      <p:sp>
        <p:nvSpPr>
          <p:cNvPr id="33" name="评分单元格 M5 1分"/>
          <p:cNvSpPr txBox="1"/>
          <p:nvPr/>
        </p:nvSpPr>
        <p:spPr>
          <a:xfrm>
            <a:off x="34107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0条</a:t>
            </a:r>
          </a:p>
        </p:txBody>
      </p:sp>
      <p:sp>
        <p:nvSpPr>
          <p:cNvPr id="34" name="评分单元格 M5 2分"/>
          <p:cNvSpPr txBox="1"/>
          <p:nvPr/>
        </p:nvSpPr>
        <p:spPr>
          <a:xfrm>
            <a:off x="50846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1–2条</a:t>
            </a:r>
          </a:p>
        </p:txBody>
      </p:sp>
      <p:sp>
        <p:nvSpPr>
          <p:cNvPr id="35" name="评分单元格 M5 3分"/>
          <p:cNvSpPr txBox="1"/>
          <p:nvPr/>
        </p:nvSpPr>
        <p:spPr>
          <a:xfrm>
            <a:off x="67585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3–4条</a:t>
            </a:r>
          </a:p>
        </p:txBody>
      </p:sp>
      <p:sp>
        <p:nvSpPr>
          <p:cNvPr id="36" name="评分单元格 M5 4分"/>
          <p:cNvSpPr txBox="1"/>
          <p:nvPr/>
        </p:nvSpPr>
        <p:spPr>
          <a:xfrm>
            <a:off x="84324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5条</a:t>
            </a:r>
          </a:p>
        </p:txBody>
      </p:sp>
      <p:sp>
        <p:nvSpPr>
          <p:cNvPr id="37" name="评分单元格 M5 5分"/>
          <p:cNvSpPr txBox="1"/>
          <p:nvPr/>
        </p:nvSpPr>
        <p:spPr>
          <a:xfrm>
            <a:off x="10106314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至少6条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2298801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2298801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读取
正文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5336" y="2298801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评分单元格 M2 指标"/>
          <p:cNvSpPr txBox="1"/>
          <p:nvPr/>
        </p:nvSpPr>
        <p:spPr>
          <a:xfrm>
            <a:off x="1618488" y="2298801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M2 正文取得</a:t>
            </a:r>
          </a:p>
        </p:txBody>
      </p:sp>
      <p:sp>
        <p:nvSpPr>
          <p:cNvPr id="42" name="评分单元格 M2 1分"/>
          <p:cNvSpPr txBox="1"/>
          <p:nvPr/>
        </p:nvSpPr>
        <p:spPr>
          <a:xfrm>
            <a:off x="34107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无可识别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目标内容</a:t>
            </a:r>
          </a:p>
        </p:txBody>
      </p:sp>
      <p:sp>
        <p:nvSpPr>
          <p:cNvPr id="43" name="评分单元格 M2 2分"/>
          <p:cNvSpPr txBox="1"/>
          <p:nvPr/>
        </p:nvSpPr>
        <p:spPr>
          <a:xfrm>
            <a:off x="50846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标题/导航
或元数据</a:t>
            </a:r>
          </a:p>
        </p:txBody>
      </p:sp>
      <p:sp>
        <p:nvSpPr>
          <p:cNvPr id="44" name="评分单元格 M2 3分"/>
          <p:cNvSpPr txBox="1"/>
          <p:nvPr/>
        </p:nvSpPr>
        <p:spPr>
          <a:xfrm>
            <a:off x="67585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仅明确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摘要/摘录</a:t>
            </a:r>
          </a:p>
        </p:txBody>
      </p:sp>
      <p:sp>
        <p:nvSpPr>
          <p:cNvPr id="45" name="评分单元格 M2 4分"/>
          <p:cNvSpPr txBox="1"/>
          <p:nvPr/>
        </p:nvSpPr>
        <p:spPr>
          <a:xfrm>
            <a:off x="84324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缺损有据</a:t>
            </a:r>
          </a:p>
        </p:txBody>
      </p:sp>
      <p:sp>
        <p:nvSpPr>
          <p:cNvPr id="46" name="评分单元格 M2 5分"/>
          <p:cNvSpPr txBox="1"/>
          <p:nvPr/>
        </p:nvSpPr>
        <p:spPr>
          <a:xfrm>
            <a:off x="10106314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完整边界有据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45336" y="275325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评分单元格 M3 指标"/>
          <p:cNvSpPr txBox="1"/>
          <p:nvPr/>
        </p:nvSpPr>
        <p:spPr>
          <a:xfrm>
            <a:off x="1618488" y="275325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M3 内容支撑</a:t>
            </a:r>
          </a:p>
        </p:txBody>
      </p:sp>
      <p:sp>
        <p:nvSpPr>
          <p:cNvPr id="49" name="评分单元格 M3 1分"/>
          <p:cNvSpPr txBox="1"/>
          <p:nvPr/>
        </p:nvSpPr>
        <p:spPr>
          <a:xfrm>
            <a:off x="34107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只有概述</a:t>
            </a:r>
          </a:p>
        </p:txBody>
      </p:sp>
      <p:sp>
        <p:nvSpPr>
          <p:cNvPr id="50" name="评分单元格 M3 2分"/>
          <p:cNvSpPr txBox="1"/>
          <p:nvPr/>
        </p:nvSpPr>
        <p:spPr>
          <a:xfrm>
            <a:off x="50846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零散细节</a:t>
            </a:r>
          </a:p>
        </p:txBody>
      </p:sp>
      <p:sp>
        <p:nvSpPr>
          <p:cNvPr id="51" name="评分单元格 M3 3分"/>
          <p:cNvSpPr txBox="1"/>
          <p:nvPr/>
        </p:nvSpPr>
        <p:spPr>
          <a:xfrm>
            <a:off x="67585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完整段落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仍缺关键内容</a:t>
            </a:r>
          </a:p>
        </p:txBody>
      </p:sp>
      <p:sp>
        <p:nvSpPr>
          <p:cNvPr id="52" name="评分单元格 M3 4分"/>
          <p:cNvSpPr txBox="1"/>
          <p:nvPr/>
        </p:nvSpPr>
        <p:spPr>
          <a:xfrm>
            <a:off x="84324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主流程完整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仍缺分支约束</a:t>
            </a:r>
          </a:p>
        </p:txBody>
      </p:sp>
      <p:sp>
        <p:nvSpPr>
          <p:cNvPr id="53" name="评分单元格 M3 5分"/>
          <p:cNvSpPr txBox="1"/>
          <p:nvPr/>
        </p:nvSpPr>
        <p:spPr>
          <a:xfrm>
            <a:off x="10106314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原题所需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内容全齐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" y="3207715"/>
            <a:ext cx="1019556" cy="436168"/>
          </a:xfrm>
          <a:prstGeom prst="roundRect">
            <a:avLst>
              <a:gd name="adj" fmla="val 6000"/>
            </a:avLst>
          </a:prstGeom>
          <a:solidFill>
            <a:srgbClr val="EA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207715"/>
            <a:ext cx="877824" cy="436168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695183"/>
                </a:solidFill>
                <a:latin typeface="PingFang SC"/>
                <a:ea typeface="PingFang SC"/>
              </a:rPr>
              <a:t>模型
先验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45336" y="320771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评分单元格 M7 指标"/>
          <p:cNvSpPr txBox="1"/>
          <p:nvPr/>
        </p:nvSpPr>
        <p:spPr>
          <a:xfrm>
            <a:off x="1618488" y="320771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M7 检索前知识</a:t>
            </a:r>
          </a:p>
        </p:txBody>
      </p:sp>
      <p:sp>
        <p:nvSpPr>
          <p:cNvPr id="58" name="评分单元格 M7 1分"/>
          <p:cNvSpPr txBox="1"/>
          <p:nvPr/>
        </p:nvSpPr>
        <p:spPr>
          <a:xfrm>
            <a:off x="34107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无正确知识
或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关键主张错</a:t>
            </a:r>
          </a:p>
        </p:txBody>
      </p:sp>
      <p:sp>
        <p:nvSpPr>
          <p:cNvPr id="59" name="评分单元格 M7 2分"/>
          <p:cNvSpPr txBox="1"/>
          <p:nvPr/>
        </p:nvSpPr>
        <p:spPr>
          <a:xfrm>
            <a:off x="50846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只有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正确概念</a:t>
            </a:r>
          </a:p>
        </p:txBody>
      </p:sp>
      <p:sp>
        <p:nvSpPr>
          <p:cNvPr id="60" name="评分单元格 M7 3分"/>
          <p:cNvSpPr txBox="1"/>
          <p:nvPr/>
        </p:nvSpPr>
        <p:spPr>
          <a:xfrm>
            <a:off x="67585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正确方法片段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缺关键细节</a:t>
            </a:r>
          </a:p>
        </p:txBody>
      </p:sp>
      <p:sp>
        <p:nvSpPr>
          <p:cNvPr id="61" name="评分单元格 M7 4分"/>
          <p:cNvSpPr txBox="1"/>
          <p:nvPr/>
        </p:nvSpPr>
        <p:spPr>
          <a:xfrm>
            <a:off x="84324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完整正确流程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缺参数约束</a:t>
            </a:r>
          </a:p>
        </p:txBody>
      </p:sp>
      <p:sp>
        <p:nvSpPr>
          <p:cNvPr id="62" name="评分单元格 M7 5分"/>
          <p:cNvSpPr txBox="1"/>
          <p:nvPr/>
        </p:nvSpPr>
        <p:spPr>
          <a:xfrm>
            <a:off x="10106314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原题知识要求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准确全覆盖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" y="3662172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E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3662172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汇总
证据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5336" y="366217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评分单元格 M6 指标"/>
          <p:cNvSpPr txBox="1"/>
          <p:nvPr/>
        </p:nvSpPr>
        <p:spPr>
          <a:xfrm>
            <a:off x="1618488" y="366217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F"/>
                </a:solidFill>
                <a:latin typeface="PingFang SC"/>
                <a:ea typeface="PingFang SC"/>
              </a:rPr>
              <a:t>M6 说法支持</a:t>
            </a:r>
          </a:p>
        </p:txBody>
      </p:sp>
      <p:sp>
        <p:nvSpPr>
          <p:cNvPr id="67" name="评分单元格 M6 1分"/>
          <p:cNvSpPr txBox="1"/>
          <p:nvPr/>
        </p:nvSpPr>
        <p:spPr>
          <a:xfrm>
            <a:off x="34107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关键矛盾
尚未解决</a:t>
            </a:r>
          </a:p>
        </p:txBody>
      </p:sp>
      <p:sp>
        <p:nvSpPr>
          <p:cNvPr id="68" name="评分单元格 M6 2分"/>
          <p:cNvSpPr txBox="1"/>
          <p:nvPr/>
        </p:nvSpPr>
        <p:spPr>
          <a:xfrm>
            <a:off x="50846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关键说法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无核对依据</a:t>
            </a:r>
          </a:p>
        </p:txBody>
      </p:sp>
      <p:sp>
        <p:nvSpPr>
          <p:cNvPr id="69" name="评分单元格 M6 3分"/>
          <p:cNvSpPr txBox="1"/>
          <p:nvPr/>
        </p:nvSpPr>
        <p:spPr>
          <a:xfrm>
            <a:off x="67585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其余未核验</a:t>
            </a:r>
          </a:p>
        </p:txBody>
      </p:sp>
      <p:sp>
        <p:nvSpPr>
          <p:cNvPr id="70" name="评分单元格 M6 4分"/>
          <p:cNvSpPr txBox="1"/>
          <p:nvPr/>
        </p:nvSpPr>
        <p:spPr>
          <a:xfrm>
            <a:off x="84324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缺独立互证</a:t>
            </a:r>
          </a:p>
        </p:txBody>
      </p:sp>
      <p:sp>
        <p:nvSpPr>
          <p:cNvPr id="71" name="评分单元格 M6 5分"/>
          <p:cNvSpPr txBox="1"/>
          <p:nvPr/>
        </p:nvSpPr>
        <p:spPr>
          <a:xfrm>
            <a:off x="10106314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且独立互证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45336" y="411662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评分单元格 M8 指标"/>
          <p:cNvSpPr txBox="1"/>
          <p:nvPr/>
        </p:nvSpPr>
        <p:spPr>
          <a:xfrm>
            <a:off x="1618488" y="411662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F"/>
                </a:solidFill>
                <a:latin typeface="PingFang SC"/>
                <a:ea typeface="PingFang SC"/>
              </a:rPr>
              <a:t>M8 调用成本</a:t>
            </a:r>
          </a:p>
        </p:txBody>
      </p:sp>
      <p:sp>
        <p:nvSpPr>
          <p:cNvPr id="74" name="评分单元格 M8 1分"/>
          <p:cNvSpPr txBox="1"/>
          <p:nvPr/>
        </p:nvSpPr>
        <p:spPr>
          <a:xfrm>
            <a:off x="34107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≥ 9</a:t>
            </a:r>
          </a:p>
        </p:txBody>
      </p:sp>
      <p:sp>
        <p:nvSpPr>
          <p:cNvPr id="75" name="评分单元格 M8 2分"/>
          <p:cNvSpPr txBox="1"/>
          <p:nvPr/>
        </p:nvSpPr>
        <p:spPr>
          <a:xfrm>
            <a:off x="50846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7–8</a:t>
            </a:r>
          </a:p>
        </p:txBody>
      </p:sp>
      <p:sp>
        <p:nvSpPr>
          <p:cNvPr id="76" name="评分单元格 M8 3分"/>
          <p:cNvSpPr txBox="1"/>
          <p:nvPr/>
        </p:nvSpPr>
        <p:spPr>
          <a:xfrm>
            <a:off x="67585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5–6</a:t>
            </a:r>
          </a:p>
        </p:txBody>
      </p:sp>
      <p:sp>
        <p:nvSpPr>
          <p:cNvPr id="77" name="评分单元格 M8 4分"/>
          <p:cNvSpPr txBox="1"/>
          <p:nvPr/>
        </p:nvSpPr>
        <p:spPr>
          <a:xfrm>
            <a:off x="84324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</a:t>
            </a:r>
          </a:p>
        </p:txBody>
      </p:sp>
      <p:sp>
        <p:nvSpPr>
          <p:cNvPr id="78" name="评分单元格 M8 5分"/>
          <p:cNvSpPr txBox="1"/>
          <p:nvPr/>
        </p:nvSpPr>
        <p:spPr>
          <a:xfrm>
            <a:off x="10106314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4632" y="4571085"/>
            <a:ext cx="1019556" cy="1345082"/>
          </a:xfrm>
          <a:prstGeom prst="roundRect">
            <a:avLst>
              <a:gd name="adj" fmla="val 6000"/>
            </a:avLst>
          </a:prstGeom>
          <a:solidFill>
            <a:srgbClr val="FB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" y="4571085"/>
            <a:ext cx="877824" cy="1345082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检查
充分性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45336" y="457108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评分单元格 M4 指标"/>
          <p:cNvSpPr txBox="1"/>
          <p:nvPr/>
        </p:nvSpPr>
        <p:spPr>
          <a:xfrm>
            <a:off x="1618488" y="457108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M4 版本关系</a:t>
            </a:r>
          </a:p>
        </p:txBody>
      </p:sp>
      <p:sp>
        <p:nvSpPr>
          <p:cNvPr id="83" name="评分单元格 M4 1分"/>
          <p:cNvSpPr txBox="1"/>
          <p:nvPr/>
        </p:nvSpPr>
        <p:spPr>
          <a:xfrm>
            <a:off x="34107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无版本信息</a:t>
            </a:r>
          </a:p>
        </p:txBody>
      </p:sp>
      <p:sp>
        <p:nvSpPr>
          <p:cNvPr id="84" name="评分单元格 M4 2分"/>
          <p:cNvSpPr txBox="1"/>
          <p:nvPr/>
        </p:nvSpPr>
        <p:spPr>
          <a:xfrm>
            <a:off x="50846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无选版依据
或冲突未解</a:t>
            </a:r>
          </a:p>
        </p:txBody>
      </p:sp>
      <p:sp>
        <p:nvSpPr>
          <p:cNvPr id="85" name="评分单元格 M4 3分"/>
          <p:cNvSpPr txBox="1"/>
          <p:nvPr/>
        </p:nvSpPr>
        <p:spPr>
          <a:xfrm>
            <a:off x="67585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部分关系明确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缺必要对应</a:t>
            </a:r>
          </a:p>
        </p:txBody>
      </p:sp>
      <p:sp>
        <p:nvSpPr>
          <p:cNvPr id="86" name="评分单元格 M4 4分"/>
          <p:cNvSpPr txBox="1"/>
          <p:nvPr/>
        </p:nvSpPr>
        <p:spPr>
          <a:xfrm>
            <a:off x="84324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合并官方约束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才可确定版本</a:t>
            </a:r>
          </a:p>
        </p:txBody>
      </p:sp>
      <p:sp>
        <p:nvSpPr>
          <p:cNvPr id="87" name="评分单元格 M4 5分"/>
          <p:cNvSpPr txBox="1"/>
          <p:nvPr/>
        </p:nvSpPr>
        <p:spPr>
          <a:xfrm>
            <a:off x="10106314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官方表/规则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直接确定版本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45336" y="502554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评分单元格 M9 指标"/>
          <p:cNvSpPr txBox="1"/>
          <p:nvPr/>
        </p:nvSpPr>
        <p:spPr>
          <a:xfrm>
            <a:off x="1618488" y="502554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M9 回答定版</a:t>
            </a:r>
          </a:p>
        </p:txBody>
      </p:sp>
      <p:sp>
        <p:nvSpPr>
          <p:cNvPr id="90" name="评分单元格 M9 1分"/>
          <p:cNvSpPr txBox="1"/>
          <p:nvPr/>
        </p:nvSpPr>
        <p:spPr>
          <a:xfrm>
            <a:off x="34107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缺少所需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版本信息</a:t>
            </a:r>
          </a:p>
        </p:txBody>
      </p:sp>
      <p:sp>
        <p:nvSpPr>
          <p:cNvPr id="91" name="评分单元格 M9 2分"/>
          <p:cNvSpPr txBox="1"/>
          <p:nvPr/>
        </p:nvSpPr>
        <p:spPr>
          <a:xfrm>
            <a:off x="50846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有版本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无依据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或关键矛盾</a:t>
            </a:r>
          </a:p>
        </p:txBody>
      </p:sp>
      <p:sp>
        <p:nvSpPr>
          <p:cNvPr id="92" name="评分单元格 M9 3分"/>
          <p:cNvSpPr txBox="1"/>
          <p:nvPr/>
        </p:nvSpPr>
        <p:spPr>
          <a:xfrm>
            <a:off x="67585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部分组件有据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其余未定版</a:t>
            </a:r>
          </a:p>
        </p:txBody>
      </p:sp>
      <p:sp>
        <p:nvSpPr>
          <p:cNvPr id="93" name="评分单元格 M9 4分"/>
          <p:cNvSpPr txBox="1"/>
          <p:nvPr/>
        </p:nvSpPr>
        <p:spPr>
          <a:xfrm>
            <a:off x="84324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全部有据范围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未全定具体版</a:t>
            </a:r>
          </a:p>
        </p:txBody>
      </p:sp>
      <p:sp>
        <p:nvSpPr>
          <p:cNvPr id="94" name="评分单元格 M9 5分"/>
          <p:cNvSpPr txBox="1"/>
          <p:nvPr/>
        </p:nvSpPr>
        <p:spPr>
          <a:xfrm>
            <a:off x="10106314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全部有据具体版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无未解冲突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45336" y="5479999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评分单元格 M10 指标"/>
          <p:cNvSpPr txBox="1"/>
          <p:nvPr/>
        </p:nvSpPr>
        <p:spPr>
          <a:xfrm>
            <a:off x="1618488" y="5479999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M10 操作补改</a:t>
            </a:r>
          </a:p>
        </p:txBody>
      </p:sp>
      <p:sp>
        <p:nvSpPr>
          <p:cNvPr id="97" name="评分单元格 M10 1分"/>
          <p:cNvSpPr txBox="1"/>
          <p:nvPr/>
        </p:nvSpPr>
        <p:spPr>
          <a:xfrm>
            <a:off x="34107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仅目标描述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或示意</a:t>
            </a:r>
          </a:p>
        </p:txBody>
      </p:sp>
      <p:sp>
        <p:nvSpPr>
          <p:cNvPr id="98" name="评分单元格 M10 2分"/>
          <p:cNvSpPr txBox="1"/>
          <p:nvPr/>
        </p:nvSpPr>
        <p:spPr>
          <a:xfrm>
            <a:off x="50846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仅操作骨架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关键操作不明</a:t>
            </a:r>
          </a:p>
        </p:txBody>
      </p:sp>
      <p:sp>
        <p:nvSpPr>
          <p:cNvPr id="99" name="评分单元格 M10 3分"/>
          <p:cNvSpPr txBox="1"/>
          <p:nvPr/>
        </p:nvSpPr>
        <p:spPr>
          <a:xfrm>
            <a:off x="67585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有具体方案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需纠错或补充</a:t>
            </a:r>
          </a:p>
        </p:txBody>
      </p:sp>
      <p:sp>
        <p:nvSpPr>
          <p:cNvPr id="100" name="评分单元格 M10 4分"/>
          <p:cNvSpPr txBox="1"/>
          <p:nvPr/>
        </p:nvSpPr>
        <p:spPr>
          <a:xfrm>
            <a:off x="84324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仅换已说明环境值</a:t>
            </a:r>
          </a:p>
        </p:txBody>
      </p:sp>
      <p:sp>
        <p:nvSpPr>
          <p:cNvPr id="101" name="评分单元格 M10 5分"/>
          <p:cNvSpPr txBox="1"/>
          <p:nvPr/>
        </p:nvSpPr>
        <p:spPr>
          <a:xfrm>
            <a:off x="10106314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指导与前提齐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无需补写修正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4632" y="5971032"/>
            <a:ext cx="1019556" cy="429768"/>
          </a:xfrm>
          <a:prstGeom prst="roundRect">
            <a:avLst>
              <a:gd name="adj" fmla="val 6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" y="5971032"/>
            <a:ext cx="877824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45336" y="5971032"/>
            <a:ext cx="10161727" cy="42976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18488" y="5971032"/>
            <a:ext cx="1645920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M11 综合支撑
连续0–100</a:t>
            </a:r>
          </a:p>
        </p:txBody>
      </p:sp>
      <p:sp>
        <p:nvSpPr>
          <p:cNvPr id="106" name="M11 固定公式及变量定义"/>
          <p:cNvSpPr txBox="1"/>
          <p:nvPr/>
        </p:nvSpPr>
        <p:spPr>
          <a:xfrm>
            <a:off x="3410712" y="5971032"/>
            <a:ext cx="8223199" cy="4297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M11 = 100[1 − (1 − x₁x₂x₃)(1 − x₅x₆)(1 − x₇)](0.7 + 0.3x₄)(0.9 + 0.1x₈)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E646E"/>
                </a:solidFill>
                <a:latin typeface="PingFang SC"/>
                <a:ea typeface="PingFang SC"/>
              </a:rPr>
              <a:t>xᵢ = Mᵢ / 5（i = 1…8）；系数预定；M9/M10独立报告；未经概率校准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指标迭代 · 一个代表例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M7：把知识自评改为回答核验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355080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五档关键词短写，仅表示档位顺序，前后分值不直接换算。缺测或正确性未知单列；09-21冻结规则。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82496"/>
            <a:ext cx="283464" cy="283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42416" y="1636776"/>
            <a:ext cx="459943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68717F"/>
                </a:solidFill>
                <a:latin typeface="PingFang SC"/>
                <a:ea typeface="PingFang SC"/>
              </a:rPr>
              <a:t>改前 · 模型自评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2157984"/>
            <a:ext cx="5102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自评知识强弱，再作时效修正
不足：正确性和原题覆盖难核验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1682496"/>
            <a:ext cx="283464" cy="2834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94576" y="1636776"/>
            <a:ext cx="459943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6A52A8"/>
                </a:solidFill>
                <a:latin typeface="PingFang SC"/>
                <a:ea typeface="PingFang SC"/>
              </a:rPr>
              <a:t>改后 · 回答核验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157984"/>
            <a:ext cx="5102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首次工具前冻结同题无工具回答
优势：证据可追溯，自信不计分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550408" y="1819656"/>
            <a:ext cx="640080" cy="0"/>
          </a:xfrm>
          <a:prstGeom prst="line">
            <a:avLst/>
          </a:prstGeom>
          <a:ln w="13970">
            <a:solidFill>
              <a:srgbClr val="6A52A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M7改前自评阶梯"/>
          <p:cNvSpPr/>
          <p:nvPr/>
        </p:nvSpPr>
        <p:spPr>
          <a:xfrm>
            <a:off x="621792" y="3584448"/>
            <a:ext cx="4800600" cy="2066544"/>
          </a:xfrm>
          <a:custGeom>
            <a:avLst/>
            <a:gdLst/>
            <a:ahLst/>
            <a:cxnLst/>
            <a:rect l="l" t="t" r="r" b="b"/>
            <a:pathLst>
              <a:path w="4800600" h="2066544">
                <a:moveTo>
                  <a:pt x="0" y="2066544"/>
                </a:moveTo>
                <a:lnTo>
                  <a:pt x="0" y="1682496"/>
                </a:lnTo>
                <a:lnTo>
                  <a:pt x="960120" y="1682496"/>
                </a:lnTo>
                <a:lnTo>
                  <a:pt x="960120" y="1261872"/>
                </a:lnTo>
                <a:lnTo>
                  <a:pt x="1920240" y="1261872"/>
                </a:lnTo>
                <a:lnTo>
                  <a:pt x="1920240" y="841248"/>
                </a:lnTo>
                <a:lnTo>
                  <a:pt x="2880360" y="841248"/>
                </a:lnTo>
                <a:lnTo>
                  <a:pt x="2880360" y="420624"/>
                </a:lnTo>
                <a:lnTo>
                  <a:pt x="3840480" y="420624"/>
                </a:lnTo>
                <a:lnTo>
                  <a:pt x="3840480" y="0"/>
                </a:lnTo>
                <a:lnTo>
                  <a:pt x="4800600" y="0"/>
                </a:lnTo>
                <a:lnTo>
                  <a:pt x="4800600" y="2066544"/>
                </a:lnTo>
                <a:close/>
              </a:path>
            </a:pathLst>
          </a:custGeom>
          <a:solidFill>
            <a:srgbClr val="F1F2F3"/>
          </a:solidFill>
          <a:ln w="13970">
            <a:solidFill>
              <a:srgbClr val="D5D7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" y="4361688"/>
            <a:ext cx="987552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8717F"/>
                </a:solidFill>
                <a:latin typeface="PingFang SC"/>
                <a:ea typeface="PingFang SC"/>
              </a:rPr>
              <a:t>依赖现查
知识易过时</a:t>
            </a:r>
          </a:p>
        </p:txBody>
      </p:sp>
      <p:sp>
        <p:nvSpPr>
          <p:cNvPr id="22" name="改前档位1"/>
          <p:cNvSpPr txBox="1"/>
          <p:nvPr/>
        </p:nvSpPr>
        <p:spPr>
          <a:xfrm>
            <a:off x="621792" y="5308092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8717F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68195" y="3941063"/>
            <a:ext cx="987552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8717F"/>
                </a:solidFill>
                <a:latin typeface="PingFang SC"/>
                <a:ea typeface="PingFang SC"/>
              </a:rPr>
              <a:t>知识薄弱
不敢给命令</a:t>
            </a:r>
          </a:p>
        </p:txBody>
      </p:sp>
      <p:sp>
        <p:nvSpPr>
          <p:cNvPr id="24" name="改前档位2"/>
          <p:cNvSpPr txBox="1"/>
          <p:nvPr/>
        </p:nvSpPr>
        <p:spPr>
          <a:xfrm>
            <a:off x="1581912" y="4887468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8717F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8316" y="3520439"/>
            <a:ext cx="987552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8717F"/>
                </a:solidFill>
                <a:latin typeface="PingFang SC"/>
                <a:ea typeface="PingFang SC"/>
              </a:rPr>
              <a:t>已有概念
细节需检索</a:t>
            </a:r>
          </a:p>
        </p:txBody>
      </p:sp>
      <p:sp>
        <p:nvSpPr>
          <p:cNvPr id="26" name="改前档位3"/>
          <p:cNvSpPr txBox="1"/>
          <p:nvPr/>
        </p:nvSpPr>
        <p:spPr>
          <a:xfrm>
            <a:off x="2542032" y="4466844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8717F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88436" y="3099815"/>
            <a:ext cx="987552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8717F"/>
                </a:solidFill>
                <a:latin typeface="PingFang SC"/>
                <a:ea typeface="PingFang SC"/>
              </a:rPr>
              <a:t>流程熟悉
可给骨架</a:t>
            </a:r>
          </a:p>
        </p:txBody>
      </p:sp>
      <p:sp>
        <p:nvSpPr>
          <p:cNvPr id="28" name="改前档位4"/>
          <p:cNvSpPr txBox="1"/>
          <p:nvPr/>
        </p:nvSpPr>
        <p:spPr>
          <a:xfrm>
            <a:off x="3502152" y="4046220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8717F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8556" y="2679191"/>
            <a:ext cx="987552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8717F"/>
                </a:solidFill>
                <a:latin typeface="PingFang SC"/>
                <a:ea typeface="PingFang SC"/>
              </a:rPr>
              <a:t>覆盖密集
大体可靠</a:t>
            </a:r>
          </a:p>
        </p:txBody>
      </p:sp>
      <p:sp>
        <p:nvSpPr>
          <p:cNvPr id="30" name="改前档位5"/>
          <p:cNvSpPr txBox="1"/>
          <p:nvPr/>
        </p:nvSpPr>
        <p:spPr>
          <a:xfrm>
            <a:off x="4462272" y="3625596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8717F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31" name="M7改后证据阶梯"/>
          <p:cNvSpPr/>
          <p:nvPr/>
        </p:nvSpPr>
        <p:spPr>
          <a:xfrm>
            <a:off x="6473952" y="3584448"/>
            <a:ext cx="4800600" cy="2066544"/>
          </a:xfrm>
          <a:custGeom>
            <a:avLst/>
            <a:gdLst/>
            <a:ahLst/>
            <a:cxnLst/>
            <a:rect l="l" t="t" r="r" b="b"/>
            <a:pathLst>
              <a:path w="4800600" h="2066544">
                <a:moveTo>
                  <a:pt x="0" y="2066544"/>
                </a:moveTo>
                <a:lnTo>
                  <a:pt x="0" y="1682496"/>
                </a:lnTo>
                <a:lnTo>
                  <a:pt x="960120" y="1682496"/>
                </a:lnTo>
                <a:lnTo>
                  <a:pt x="960120" y="1261872"/>
                </a:lnTo>
                <a:lnTo>
                  <a:pt x="1920240" y="1261872"/>
                </a:lnTo>
                <a:lnTo>
                  <a:pt x="1920240" y="841248"/>
                </a:lnTo>
                <a:lnTo>
                  <a:pt x="2880360" y="841248"/>
                </a:lnTo>
                <a:lnTo>
                  <a:pt x="2880360" y="420624"/>
                </a:lnTo>
                <a:lnTo>
                  <a:pt x="3840480" y="420624"/>
                </a:lnTo>
                <a:lnTo>
                  <a:pt x="3840480" y="0"/>
                </a:lnTo>
                <a:lnTo>
                  <a:pt x="4800600" y="0"/>
                </a:lnTo>
                <a:lnTo>
                  <a:pt x="4800600" y="2066544"/>
                </a:lnTo>
                <a:close/>
              </a:path>
            </a:pathLst>
          </a:custGeom>
          <a:solidFill>
            <a:srgbClr val="F0EEF6"/>
          </a:solidFill>
          <a:ln w="13970">
            <a:solidFill>
              <a:srgbClr val="BCB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0216" y="4361688"/>
            <a:ext cx="1133856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6191E"/>
                </a:solidFill>
                <a:latin typeface="PingFang SC"/>
                <a:ea typeface="PingFang SC"/>
              </a:rPr>
              <a:t>无可核验
正确知识
或关键主张错</a:t>
            </a:r>
          </a:p>
        </p:txBody>
      </p:sp>
      <p:sp>
        <p:nvSpPr>
          <p:cNvPr id="33" name="改后档位1"/>
          <p:cNvSpPr txBox="1"/>
          <p:nvPr/>
        </p:nvSpPr>
        <p:spPr>
          <a:xfrm>
            <a:off x="6473952" y="5308092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A52A8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0356" y="3941063"/>
            <a:ext cx="987552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6191E"/>
                </a:solidFill>
                <a:latin typeface="PingFang SC"/>
                <a:ea typeface="PingFang SC"/>
              </a:rPr>
              <a:t>仅正确概念
无具体方法</a:t>
            </a:r>
          </a:p>
        </p:txBody>
      </p:sp>
      <p:sp>
        <p:nvSpPr>
          <p:cNvPr id="35" name="改后档位2"/>
          <p:cNvSpPr txBox="1"/>
          <p:nvPr/>
        </p:nvSpPr>
        <p:spPr>
          <a:xfrm>
            <a:off x="7434072" y="4887468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A52A8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0475" y="3520439"/>
            <a:ext cx="987552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6191E"/>
                </a:solidFill>
                <a:latin typeface="PingFang SC"/>
                <a:ea typeface="PingFang SC"/>
              </a:rPr>
              <a:t>正确片段
关键细节缺</a:t>
            </a:r>
          </a:p>
        </p:txBody>
      </p:sp>
      <p:sp>
        <p:nvSpPr>
          <p:cNvPr id="37" name="改后档位3"/>
          <p:cNvSpPr txBox="1"/>
          <p:nvPr/>
        </p:nvSpPr>
        <p:spPr>
          <a:xfrm>
            <a:off x="8394192" y="4466844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A52A8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0596" y="3099815"/>
            <a:ext cx="987552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6191E"/>
                </a:solidFill>
                <a:latin typeface="PingFang SC"/>
                <a:ea typeface="PingFang SC"/>
              </a:rPr>
              <a:t>流程／解释
正确完整
参数约束缺</a:t>
            </a:r>
          </a:p>
        </p:txBody>
      </p:sp>
      <p:sp>
        <p:nvSpPr>
          <p:cNvPr id="39" name="改后档位4"/>
          <p:cNvSpPr txBox="1"/>
          <p:nvPr/>
        </p:nvSpPr>
        <p:spPr>
          <a:xfrm>
            <a:off x="9354312" y="4046220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A52A8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00716" y="2679191"/>
            <a:ext cx="987552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6191E"/>
                </a:solidFill>
                <a:latin typeface="PingFang SC"/>
                <a:ea typeface="PingFang SC"/>
              </a:rPr>
              <a:t>原题要求
准确全覆盖</a:t>
            </a:r>
          </a:p>
        </p:txBody>
      </p:sp>
      <p:sp>
        <p:nvSpPr>
          <p:cNvPr id="41" name="改后档位5"/>
          <p:cNvSpPr txBox="1"/>
          <p:nvPr/>
        </p:nvSpPr>
        <p:spPr>
          <a:xfrm>
            <a:off x="10314432" y="3625596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A52A8"/>
                </a:solidFill>
                <a:latin typeface="Inter"/>
                <a:ea typeface="PingFang SC"/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问题设计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同一个开发目标，分别设置两侧问题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选开发任务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9624" y="1801368"/>
            <a:ext cx="34747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52544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确定共同目标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0375" y="1801368"/>
            <a:ext cx="34747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83296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写成两侧问题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121408"/>
            <a:ext cx="10954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覆盖环境、开发、训练、部署、优化、调试、迁移等七类工作流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72384" y="2642616"/>
            <a:ext cx="6044184" cy="53949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2706624"/>
            <a:ext cx="5751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找到模型运行慢的原因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355E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36976" y="3346704"/>
            <a:ext cx="2857500" cy="0"/>
          </a:xfrm>
          <a:prstGeom prst="line">
            <a:avLst/>
          </a:prstGeom>
          <a:ln w="13970">
            <a:solidFill>
              <a:srgbClr val="355E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36976" y="3346704"/>
            <a:ext cx="0" cy="155448"/>
          </a:xfrm>
          <a:prstGeom prst="line">
            <a:avLst/>
          </a:prstGeom>
          <a:ln w="13970">
            <a:solidFill>
              <a:srgbClr val="355E8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356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94476" y="3346704"/>
            <a:ext cx="2866644" cy="0"/>
          </a:xfrm>
          <a:prstGeom prst="line">
            <a:avLst/>
          </a:prstGeom>
          <a:ln w="13970">
            <a:solidFill>
              <a:srgbClr val="356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961120" y="3346704"/>
            <a:ext cx="0" cy="155448"/>
          </a:xfrm>
          <a:prstGeom prst="line">
            <a:avLst/>
          </a:prstGeom>
          <a:ln w="13970">
            <a:solidFill>
              <a:srgbClr val="356F5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21792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" y="3712463"/>
            <a:ext cx="4745736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55E85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" y="4069080"/>
            <a:ext cx="4745736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GPU 利用率不高，
怎样采集性能数据、
找到模型运行慢的原因？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55E85"/>
                </a:solidFill>
                <a:latin typeface="PingFang SC"/>
                <a:ea typeface="PingFang SC"/>
              </a:rPr>
              <a:t>工具：Nsight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55E85"/>
                </a:solidFill>
                <a:latin typeface="PingFang SC"/>
                <a:ea typeface="PingFang SC"/>
              </a:rPr>
              <a:t>交付：采集命令 + 分析步骤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DE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3712463"/>
            <a:ext cx="4745736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56F5F"/>
                </a:solidFill>
                <a:latin typeface="PingFang SC"/>
                <a:ea typeface="PingFang SC"/>
              </a:rPr>
              <a:t>CANN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92824" y="4069080"/>
            <a:ext cx="4745736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昇腾上运行 PyTorch，
怎样采集性能数据、
找到模型运行慢的原因？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92824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56F5F"/>
                </a:solidFill>
                <a:latin typeface="PingFang SC"/>
                <a:ea typeface="PingFang SC"/>
              </a:rPr>
              <a:t>工具：msprof / Ascend PyTorch Profiler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2824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56F5F"/>
                </a:solidFill>
                <a:latin typeface="PingFang SC"/>
                <a:ea typeface="PingFang SC"/>
              </a:rPr>
              <a:t>交付：代码 + 步骤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5888736"/>
            <a:ext cx="7891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目标相近，工具和交付要求按各自平台设置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584301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25组对照问题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模型与实验安排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让三个模型分别完成同一组问题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691640"/>
            <a:ext cx="5696712" cy="49377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755648"/>
            <a:ext cx="5422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25组问题，每组 CUDA / CANN 各一题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4476" y="2185416"/>
            <a:ext cx="0" cy="17373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391156" y="2359152"/>
            <a:ext cx="370332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391156" y="2359152"/>
            <a:ext cx="0" cy="155448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94476" y="2185416"/>
            <a:ext cx="0" cy="17373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4476" y="2359152"/>
            <a:ext cx="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94476" y="2359152"/>
            <a:ext cx="0" cy="155448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94476" y="2185416"/>
            <a:ext cx="0" cy="17373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94476" y="2359152"/>
            <a:ext cx="370332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797796" y="2359152"/>
            <a:ext cx="0" cy="155448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1792" y="2542032"/>
            <a:ext cx="3538728" cy="10698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2779776"/>
            <a:ext cx="317296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3255264"/>
            <a:ext cx="317296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5112" y="2542032"/>
            <a:ext cx="3538728" cy="10698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7992" y="2779776"/>
            <a:ext cx="317296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3255264"/>
            <a:ext cx="317296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V4.1 Flash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28431" y="2542032"/>
            <a:ext cx="3538728" cy="10698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1311" y="2779776"/>
            <a:ext cx="317296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1" y="3255264"/>
            <a:ext cx="317296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kimi-k3-2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391156" y="3611880"/>
            <a:ext cx="0" cy="210311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391156" y="3822191"/>
            <a:ext cx="370332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94476" y="3611880"/>
            <a:ext cx="0" cy="210311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94476" y="3822191"/>
            <a:ext cx="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797796" y="3611880"/>
            <a:ext cx="0" cy="210311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6094476" y="3822191"/>
            <a:ext cx="370332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094476" y="3822191"/>
            <a:ext cx="0" cy="192024"/>
          </a:xfrm>
          <a:prstGeom prst="line">
            <a:avLst/>
          </a:prstGeom>
          <a:ln w="13970">
            <a:solidFill>
              <a:srgbClr val="355E8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730752" y="4078224"/>
            <a:ext cx="25146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0">
                <a:solidFill>
                  <a:srgbClr val="355E85"/>
                </a:solidFill>
                <a:latin typeface="Inter ExtraLight"/>
                <a:ea typeface="PingFang SC"/>
              </a:rPr>
              <a:t>150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178808"/>
            <a:ext cx="448056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355E85"/>
                </a:solidFill>
                <a:latin typeface="PingFang SC"/>
                <a:ea typeface="PingFang SC"/>
              </a:rPr>
              <a:t>次实验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4882896"/>
            <a:ext cx="10954512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25组问题 × 2个平台 × 3个模型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21792" y="5422392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21792" y="5596128"/>
            <a:ext cx="2578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55E85"/>
                </a:solidFill>
                <a:latin typeface="PingFang SC"/>
                <a:ea typeface="PingFang SC"/>
              </a:rPr>
              <a:t>同一工具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5980176"/>
            <a:ext cx="2578608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搜索 + 读取资料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10712" y="5596128"/>
            <a:ext cx="2578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55E85"/>
                </a:solidFill>
                <a:latin typeface="PingFang SC"/>
                <a:ea typeface="PingFang SC"/>
              </a:rPr>
              <a:t>同一额度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10712" y="5980176"/>
            <a:ext cx="2578608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最多4次搜索 / 8次读取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9631" y="5596128"/>
            <a:ext cx="2578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55E85"/>
                </a:solidFill>
                <a:latin typeface="PingFang SC"/>
                <a:ea typeface="PingFang SC"/>
              </a:rPr>
              <a:t>同一标准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9631" y="5980176"/>
            <a:ext cx="2578608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使用前页评分表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88551" y="5596128"/>
            <a:ext cx="2578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55E85"/>
                </a:solidFill>
                <a:latin typeface="PingFang SC"/>
                <a:ea typeface="PingFang SC"/>
              </a:rPr>
              <a:t>新对话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88551" y="5980176"/>
            <a:ext cx="2578608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每道题重新开始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实验怎么进行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一次实验：先回答，再查资料，最后作答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719072"/>
            <a:ext cx="109545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实例：Kimi 回答 CUDA 性能分析问题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59935" y="3236976"/>
            <a:ext cx="16459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63256" y="3236976"/>
            <a:ext cx="16459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1792" y="2468880"/>
            <a:ext cx="3438144" cy="1792224"/>
          </a:xfrm>
          <a:prstGeom prst="roundRect">
            <a:avLst>
              <a:gd name="adj" fmla="val 10000"/>
            </a:avLst>
          </a:prstGeom>
          <a:solidFill>
            <a:srgbClr val="EA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" y="2679192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267919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1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24" y="2660904"/>
            <a:ext cx="329184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2104" y="3163824"/>
            <a:ext cx="301752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先凭已有知识回答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" y="3657600"/>
            <a:ext cx="30175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看看不查资料时
能答到什么程度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2468880"/>
            <a:ext cx="3438144" cy="1792224"/>
          </a:xfrm>
          <a:prstGeom prst="roundRect">
            <a:avLst>
              <a:gd name="adj" fmla="val 10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35424" y="2679192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5424" y="267919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4" y="2660904"/>
            <a:ext cx="329184" cy="32918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535424" y="3163824"/>
            <a:ext cx="301752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搜索并阅读资料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5424" y="3657600"/>
            <a:ext cx="30175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记录找到的来源
以及实际读到的正文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431" y="2468880"/>
            <a:ext cx="3438144" cy="1792224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38744" y="2679192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38744" y="267919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9063" y="2660904"/>
            <a:ext cx="329184" cy="32918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238744" y="3163824"/>
            <a:ext cx="301752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结合资料再次作答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4" y="3657600"/>
            <a:ext cx="30175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保存最后的完整回答
用于评价对任务的帮助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4800600"/>
            <a:ext cx="34381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0">
                <a:solidFill>
                  <a:srgbClr val="355E85"/>
                </a:solidFill>
                <a:latin typeface="Inter ExtraLight"/>
                <a:ea typeface="PingFang SC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5641848"/>
            <a:ext cx="34381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次搜索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142231" y="4809744"/>
            <a:ext cx="0" cy="98755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325112" y="4800600"/>
            <a:ext cx="34381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0">
                <a:solidFill>
                  <a:srgbClr val="355E85"/>
                </a:solidFill>
                <a:latin typeface="Inter ExtraLight"/>
                <a:ea typeface="PingFang SC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25112" y="5641848"/>
            <a:ext cx="34381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次读取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845552" y="4809744"/>
            <a:ext cx="0" cy="98755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028431" y="5047488"/>
            <a:ext cx="3438144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355E85"/>
                </a:solidFill>
                <a:latin typeface="PingFang SC"/>
                <a:ea typeface="PingFang SC"/>
              </a:rPr>
              <a:t>4分33秒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28431" y="5641848"/>
            <a:ext cx="34381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用时约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6190488"/>
            <a:ext cx="1095451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第一次回答、资料来源、最后回答、调用次数，都留下记录供评分使用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评分与复核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对照评分表打分，再回看记录复核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700784"/>
            <a:ext cx="1095451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统一由 GLM-5.3 初评，随后复核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450592"/>
            <a:ext cx="10945368" cy="1828800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2651760"/>
            <a:ext cx="3236976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97480"/>
                </a:solidFill>
                <a:latin typeface="PingFang SC"/>
                <a:ea typeface="PingFang SC"/>
              </a:rPr>
              <a:t>实验记录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2651760"/>
            <a:ext cx="331012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97480"/>
                </a:solidFill>
                <a:latin typeface="PingFang SC"/>
                <a:ea typeface="PingFang SC"/>
              </a:rPr>
              <a:t>对应评分标准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576" y="2651760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97480"/>
                </a:solidFill>
                <a:latin typeface="PingFang SC"/>
                <a:ea typeface="PingFang SC"/>
              </a:rPr>
              <a:t>得分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24528" y="3483864"/>
            <a:ext cx="438912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57031" y="3483864"/>
            <a:ext cx="585217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7824" y="3136392"/>
            <a:ext cx="3236976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第2次搜索，
才找到官方资料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3136392"/>
            <a:ext cx="331012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M1 官方发现
第2次搜索首次找到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2980944"/>
            <a:ext cx="122529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0" b="0">
                <a:solidFill>
                  <a:srgbClr val="695183"/>
                </a:solidFill>
                <a:latin typeface="Inter ExtraLight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96728" y="3447288"/>
            <a:ext cx="6126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4754880"/>
            <a:ext cx="10945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复核：确认分数有据可查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458968"/>
            <a:ext cx="292608" cy="2926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42416" y="543153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6191E"/>
                </a:solidFill>
                <a:latin typeface="PingFang SC"/>
                <a:ea typeface="PingFang SC"/>
              </a:rPr>
              <a:t>原文能否找到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5458968"/>
            <a:ext cx="292608" cy="2926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745736" y="543153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6191E"/>
                </a:solidFill>
                <a:latin typeface="PingFang SC"/>
                <a:ea typeface="PingFang SC"/>
              </a:rPr>
              <a:t>档位、计算是否正确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1" y="5458968"/>
            <a:ext cx="292608" cy="29260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449056" y="543153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6191E"/>
                </a:solidFill>
                <a:latin typeface="PingFang SC"/>
                <a:ea typeface="PingFang SC"/>
              </a:rPr>
              <a:t>重点内容是否有问题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181344"/>
            <a:ext cx="10945368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初评和修订分别保存，修改时留下依据和理由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结果怎么汇总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各模型分别算平均，再比较结论是否一致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700784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同一个指标下，先比较同题两侧，再汇总每个模型的任务平均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77056" y="2971800"/>
            <a:ext cx="0" cy="128015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877056" y="3099815"/>
            <a:ext cx="3575304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144768" y="2971800"/>
            <a:ext cx="0" cy="128015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77056" y="3950208"/>
            <a:ext cx="0" cy="12801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877056" y="4078224"/>
            <a:ext cx="3575304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44768" y="3950208"/>
            <a:ext cx="0" cy="12801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877056" y="4928616"/>
            <a:ext cx="0" cy="12801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877056" y="5056632"/>
            <a:ext cx="3575304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44768" y="4928616"/>
            <a:ext cx="0" cy="12801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52360" y="3099816"/>
            <a:ext cx="0" cy="195681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52360" y="3639312"/>
            <a:ext cx="384048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1792" y="2459736"/>
            <a:ext cx="212140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52928" y="2350008"/>
            <a:ext cx="2048256" cy="621792"/>
          </a:xfrm>
          <a:prstGeom prst="roundRect">
            <a:avLst>
              <a:gd name="adj" fmla="val 10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20640" y="2350008"/>
            <a:ext cx="2048256" cy="621792"/>
          </a:xfrm>
          <a:prstGeom prst="roundRect">
            <a:avLst>
              <a:gd name="adj" fmla="val 10000"/>
            </a:avLst>
          </a:prstGeom>
          <a:solidFill>
            <a:srgbClr val="DE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35224" y="2459736"/>
            <a:ext cx="188366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CUDA 任务平均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2936" y="2459736"/>
            <a:ext cx="188366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6F5F"/>
                </a:solidFill>
                <a:latin typeface="PingFang SC"/>
                <a:ea typeface="PingFang SC"/>
              </a:rPr>
              <a:t>CANN 任务平均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3438144"/>
            <a:ext cx="212140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DeepSeek V4.1 Flash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52928" y="3328416"/>
            <a:ext cx="2048256" cy="621792"/>
          </a:xfrm>
          <a:prstGeom prst="roundRect">
            <a:avLst>
              <a:gd name="adj" fmla="val 10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120640" y="3328416"/>
            <a:ext cx="2048256" cy="621792"/>
          </a:xfrm>
          <a:prstGeom prst="roundRect">
            <a:avLst>
              <a:gd name="adj" fmla="val 10000"/>
            </a:avLst>
          </a:prstGeom>
          <a:solidFill>
            <a:srgbClr val="DE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35224" y="3438144"/>
            <a:ext cx="188366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CUDA 任务平均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02936" y="3438144"/>
            <a:ext cx="188366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6F5F"/>
                </a:solidFill>
                <a:latin typeface="PingFang SC"/>
                <a:ea typeface="PingFang SC"/>
              </a:rPr>
              <a:t>CANN 任务平均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4416552"/>
            <a:ext cx="212140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52928" y="4306824"/>
            <a:ext cx="2048256" cy="621792"/>
          </a:xfrm>
          <a:prstGeom prst="roundRect">
            <a:avLst>
              <a:gd name="adj" fmla="val 10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120640" y="4306824"/>
            <a:ext cx="2048256" cy="621792"/>
          </a:xfrm>
          <a:prstGeom prst="roundRect">
            <a:avLst>
              <a:gd name="adj" fmla="val 10000"/>
            </a:avLst>
          </a:prstGeom>
          <a:solidFill>
            <a:srgbClr val="DE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35224" y="4416552"/>
            <a:ext cx="188366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CUDA 任务平均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02936" y="4416552"/>
            <a:ext cx="188366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6F5F"/>
                </a:solidFill>
                <a:latin typeface="PingFang SC"/>
                <a:ea typeface="PingFang SC"/>
              </a:rPr>
              <a:t>CANN 任务平均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73568" y="2459736"/>
            <a:ext cx="3593592" cy="2276856"/>
          </a:xfrm>
          <a:prstGeom prst="roundRect">
            <a:avLst>
              <a:gd name="adj" fmla="val 10000"/>
            </a:avLst>
          </a:prstGeom>
          <a:solidFill>
            <a:srgbClr val="EA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1312" y="2724912"/>
            <a:ext cx="31181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跨模型对照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3310128"/>
            <a:ext cx="311810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三个模型是否指向
相同的薄弱环节？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1312" y="4197096"/>
            <a:ext cx="3118104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5183"/>
                </a:solidFill>
                <a:latin typeface="PingFang SC"/>
                <a:ea typeface="PingFang SC"/>
              </a:rPr>
              <a:t>减少单一模型偏好的影响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21792" y="5385816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21792" y="5605272"/>
            <a:ext cx="109453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695183"/>
                </a:solidFill>
                <a:latin typeface="PingFang SC"/>
                <a:ea typeface="PingFang SC"/>
              </a:rPr>
              <a:t>把共同的缺口，转成设计改进线索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" y="6190488"/>
            <a:ext cx="1094536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更容易找到资料、更容易读取正文、更清楚的操作步骤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方法复用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把实验方法沉淀为可复用的 Benchmark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709928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把提问、执行、记录和评分要求，整理成一套可以重复使用的方法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28416" y="3209544"/>
            <a:ext cx="493775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43216" y="3209544"/>
            <a:ext cx="411480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854696" y="2715768"/>
            <a:ext cx="0" cy="109728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54696" y="2715768"/>
            <a:ext cx="320040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54696" y="3813048"/>
            <a:ext cx="320040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1792" y="2450592"/>
            <a:ext cx="2706624" cy="15270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2715768"/>
            <a:ext cx="224942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任务与模型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264408"/>
            <a:ext cx="2249424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一套问题、对照平台
以及实际执行的模型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2322576"/>
            <a:ext cx="3557016" cy="1773936"/>
          </a:xfrm>
          <a:prstGeom prst="roundRect">
            <a:avLst>
              <a:gd name="adj" fmla="val 10000"/>
            </a:avLst>
          </a:prstGeom>
          <a:solidFill>
            <a:srgbClr val="EA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96512" y="2706624"/>
            <a:ext cx="31363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695183"/>
                </a:solidFill>
                <a:latin typeface="PingFang SC"/>
                <a:ea typeface="PingFang SC"/>
              </a:rPr>
              <a:t>Benchmark Skill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2" y="3383280"/>
            <a:ext cx="313639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5183"/>
                </a:solidFill>
                <a:latin typeface="PingFang SC"/>
                <a:ea typeface="PingFang SC"/>
              </a:rPr>
              <a:t>统一执行与记录方式
按规则评价、保留依据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295144"/>
            <a:ext cx="3337560" cy="859536"/>
          </a:xfrm>
          <a:prstGeom prst="roundRect">
            <a:avLst>
              <a:gd name="adj" fmla="val 10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0768" y="2414015"/>
            <a:ext cx="29352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完整过程记录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2825496"/>
            <a:ext cx="2935224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55E85"/>
                </a:solidFill>
                <a:latin typeface="PingFang SC"/>
                <a:ea typeface="PingFang SC"/>
              </a:rPr>
              <a:t>回答、搜索与读取资料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392424"/>
            <a:ext cx="3337560" cy="859536"/>
          </a:xfrm>
          <a:prstGeom prst="roundRect">
            <a:avLst>
              <a:gd name="adj" fmla="val 10000"/>
            </a:avLst>
          </a:prstGeom>
          <a:solidFill>
            <a:srgbClr val="DE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3511296"/>
            <a:ext cx="29352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6F5F"/>
                </a:solidFill>
                <a:latin typeface="PingFang SC"/>
                <a:ea typeface="PingFang SC"/>
              </a:rPr>
              <a:t>评分依据与任务缺口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3922776"/>
            <a:ext cx="2935224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56F5F"/>
                </a:solidFill>
                <a:latin typeface="PingFang SC"/>
                <a:ea typeface="PingFang SC"/>
              </a:rPr>
              <a:t>分项分数、依据、未满足需求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4590288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后续汇总：用这些产物比较平台与模型，找到设计改进线索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1792" y="5148072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1792" y="5431536"/>
            <a:ext cx="342900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便于比较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5961888"/>
            <a:ext cx="34290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不同平台和模型
使用同一套规则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5112" y="5431536"/>
            <a:ext cx="342900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可以复核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5112" y="5961888"/>
            <a:ext cx="34290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分数能回到原始记录
查到判断依据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28431" y="5431536"/>
            <a:ext cx="342900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持续复用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28431" y="5961888"/>
            <a:ext cx="34290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换任务、模型或平台
沿用同一套流程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