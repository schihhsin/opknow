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介绍方法的整体顺序，后续六页逐步展开。沿开发工作流拆解任务，定位模型知识获取环节与指标。M1至M10用五档标准，M11为连续百分制，均以可检查的证据判分，减少主观性。先比较每个模型内的两平台，再检查跨模型差异方向和重复出现的缺口，不计算三个模型混合总均分。GLM-5.3初评，GPT-5.6 Luna辅助指定内容复核，GPT-6 Astra主审定。复核属于证据和内容复核，不等于硬件端到端运行验证。正式结果使用2026-09-21冻结量规。Benchmark Skill用于执行并持续沉淀可复用方法，当前安装默认版本并不代表覆盖正式结果的每项指标。图示是后续页面的真实片段，仅供概览，细节在相应页面展开。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/Users/hsin/Documents/Coding/opknow/paper/ai-usability/slides/实验方法与过程-20261008/AI可用性研究-实验方法与过程-六页精简版-Skill输入层级版.pptx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评分记录中的未满足项指本次任务需求的剩余缺口，后续汇总再比较共同问题。Skill并不一键自动产生研究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页面关系：主流程为准备实验、执行实验、评分与复核。准备实验先确定任务、平台和模型，并明确冻结的任务要求、执行约定和评分标准。执行阶段保留检索前回答、真实搜索与读取、最终作答。评分与复核阶段按统一标准判分，并回查原始证据。执行与评分复核下方分别挂出过程记录和评分记录，表示各步实际留下的文件；准备阶段不另外新增记录文件。过程记录对应process.jsonl，评分记录对应evaluation.json，评分依据和任务缺口均属于评分记录中的内容，不是第三份独立文件。两份记录之间的反向箭头表示复核时从评分记录回查原始过程。</a:t>
            </a:r>
          </a:p>
          <a:p/>
          <a:p>
            <a:r>
              <a:t>真实示例：B题／CANN／GLM-5.3，运行ID B-cann-glm-5_3-standard-20260921T100328。左侧任务名称是原题目标的简短表述，平台与实际执行模型来自run-start.metadata。原问句：昇腾上跑 PyTorch 想定位瓶颈，怎么用 msprof / Ascend PyTorch Profiler 采集分析？给出代码和步骤。。页面保留任务、平台、模型与两类记录的类别名称，补充本次实例。</a:t>
            </a:r>
          </a:p>
          <a:p/>
          <a:p>
            <a:r>
              <a:t>过程记录的搜索关键词为第9行arguments.query原文，仅作展示换行；首条结果标题节选来自第12行response.content，对应Ascend官方组织的msprof-analyze仓库。评分记录展示evaluation.json第13次修订中的M1，状态scored、得分5，判分依据为reason开头的连续原文节选。M1只表示相关官方来源的发现位置，不代表整次实验总分或任务全部完成。原文件还保留其他指标、引用与待确认项；本页只截取与首搜结果对应的一个评分例子，未修改任何实验记录。</a:t>
            </a:r>
          </a:p>
          <a:p/>
          <a:p>
            <a:r>
              <a:t>原文区展示同一次B题/CANN/GLM-5.3实验的完整原始问句、完整检索词和首条搜索标题，保留原有标题中的三个英文省略点；评分区展示最新revision 13的M1=5及完整reason。问句、检索、返回是用于阅读的显示标签，均为普通文字；仅内容字段取自真实记录，不伪装为原始JSON。未显示长URL和原始事件标识；它们仍保留在资料依据中。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/Users/hsin/Documents/Coding/ai-usability-benchmark/experiments/full-rerun-protocol-20260921/runs/B-cann-glm-5_3-standard-20260921T100328/process.jsonl:1</a:t>
            </a:r>
          </a:p>
          <a:p>
            <a:r>
              <a:t>/Users/hsin/Documents/Coding/ai-usability-benchmark/experiments/full-rerun-protocol-20260921/runs/B-cann-glm-5_3-standard-20260921T100328/process.jsonl:9</a:t>
            </a:r>
          </a:p>
          <a:p>
            <a:r>
              <a:t>/Users/hsin/Documents/Coding/ai-usability-benchmark/experiments/full-rerun-protocol-20260921/runs/B-cann-glm-5_3-standard-20260921T100328/process.jsonl:12</a:t>
            </a:r>
          </a:p>
          <a:p>
            <a:r>
              <a:t>/Users/hsin/Documents/Coding/ai-usability-benchmark/experiments/full-rerun-protocol-20260921/runs/B-cann-glm-5_3-standard-20260921T100328/evaluation.json /revisions/12/evaluation/metrics/0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实验整体流程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实验方法概览</a:t>
            </a:r>
          </a:p>
        </p:txBody>
      </p:sp>
      <p:sp>
        <p:nvSpPr>
          <p:cNvPr id="7" name="实验方法阶段：任务与流程分析"/>
          <p:cNvSpPr/>
          <p:nvPr/>
        </p:nvSpPr>
        <p:spPr>
          <a:xfrm>
            <a:off x="62179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任务与流程分析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沿开发工作流拆解任务
定位知识获取和指标位置</a:t>
            </a:r>
          </a:p>
        </p:txBody>
      </p:sp>
      <p:sp>
        <p:nvSpPr>
          <p:cNvPr id="10" name="实验方法阶段：指标与评分规则"/>
          <p:cNvSpPr/>
          <p:nvPr/>
        </p:nvSpPr>
        <p:spPr>
          <a:xfrm>
            <a:off x="341071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C6975"/>
                </a:solidFill>
                <a:latin typeface="PingFang SC"/>
                <a:ea typeface="PingFang SC"/>
              </a:rPr>
              <a:t>指标与评分规则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定义指标，明确评分标准
按可核验证据判分</a:t>
            </a:r>
          </a:p>
        </p:txBody>
      </p:sp>
      <p:sp>
        <p:nvSpPr>
          <p:cNvPr id="13" name="实验方法阶段：问题对与实验执行"/>
          <p:cNvSpPr/>
          <p:nvPr/>
        </p:nvSpPr>
        <p:spPr>
          <a:xfrm>
            <a:off x="619963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F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问题对与实验执行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同一任务分别设置两侧问题
按统一要求执行实验</a:t>
            </a:r>
          </a:p>
        </p:txBody>
      </p:sp>
      <p:sp>
        <p:nvSpPr>
          <p:cNvPr id="16" name="实验方法阶段：评分复核与方法沉淀"/>
          <p:cNvSpPr/>
          <p:nvPr/>
        </p:nvSpPr>
        <p:spPr>
          <a:xfrm>
            <a:off x="898855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评分复核与方法沉淀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复核评分，比较结果
保存证据，复用实验方法</a:t>
            </a:r>
          </a:p>
        </p:txBody>
      </p:sp>
      <p:sp>
        <p:nvSpPr>
          <p:cNvPr id="19" name="真实材料图示区域：workflow"/>
          <p:cNvSpPr/>
          <p:nvPr/>
        </p:nvSpPr>
        <p:spPr>
          <a:xfrm>
            <a:off x="62179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现有知识获取Workflow完整图示" descr="slide-2.png"/>
          <p:cNvPicPr>
            <a:picLocks noChangeAspect="1"/>
          </p:cNvPicPr>
          <p:nvPr/>
        </p:nvPicPr>
        <p:blipFill>
          <a:blip r:embed="rId3"/>
          <a:srcRect l="5312" t="17130" r="6510" b="2685"/>
          <a:stretch>
            <a:fillRect/>
          </a:stretch>
        </p:blipFill>
        <p:spPr>
          <a:xfrm>
            <a:off x="621792" y="3638177"/>
            <a:ext cx="2578608" cy="1319004"/>
          </a:xfrm>
          <a:prstGeom prst="rect">
            <a:avLst/>
          </a:prstGeom>
        </p:spPr>
      </p:pic>
      <p:sp>
        <p:nvSpPr>
          <p:cNvPr id="21" name="真实材料图示区域：rubric"/>
          <p:cNvSpPr/>
          <p:nvPr/>
        </p:nvSpPr>
        <p:spPr>
          <a:xfrm>
            <a:off x="341071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现有五档评分标准图示" descr="slide-2.png"/>
          <p:cNvPicPr>
            <a:picLocks noChangeAspect="1"/>
          </p:cNvPicPr>
          <p:nvPr/>
        </p:nvPicPr>
        <p:blipFill>
          <a:blip r:embed="rId4"/>
          <a:srcRect l="3906" t="15741" r="3906" b="6481"/>
          <a:stretch>
            <a:fillRect/>
          </a:stretch>
        </p:blipFill>
        <p:spPr>
          <a:xfrm>
            <a:off x="3410712" y="3685806"/>
            <a:ext cx="2578608" cy="1223746"/>
          </a:xfrm>
          <a:prstGeom prst="rect">
            <a:avLst/>
          </a:prstGeom>
        </p:spPr>
      </p:pic>
      <p:sp>
        <p:nvSpPr>
          <p:cNvPr id="23" name="真实材料图示区域：pairs"/>
          <p:cNvSpPr/>
          <p:nvPr/>
        </p:nvSpPr>
        <p:spPr>
          <a:xfrm>
            <a:off x="619963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B任务CUDA原有问题示例" descr="slide-4.png"/>
          <p:cNvPicPr>
            <a:picLocks noChangeAspect="1"/>
          </p:cNvPicPr>
          <p:nvPr/>
        </p:nvPicPr>
        <p:blipFill>
          <a:blip r:embed="rId5"/>
          <a:srcRect l="5104" t="51389" r="52188" b="16667"/>
          <a:stretch>
            <a:fillRect/>
          </a:stretch>
        </p:blipFill>
        <p:spPr>
          <a:xfrm>
            <a:off x="6199632" y="3156296"/>
            <a:ext cx="2578608" cy="1084902"/>
          </a:xfrm>
          <a:prstGeom prst="rect">
            <a:avLst/>
          </a:prstGeom>
        </p:spPr>
      </p:pic>
      <p:pic>
        <p:nvPicPr>
          <p:cNvPr id="25" name="B任务CANN原有问题示例" descr="slide-4.png"/>
          <p:cNvPicPr>
            <a:picLocks noChangeAspect="1"/>
          </p:cNvPicPr>
          <p:nvPr/>
        </p:nvPicPr>
        <p:blipFill>
          <a:blip r:embed="rId5"/>
          <a:srcRect l="52188" t="51389" r="5052" b="16667"/>
          <a:stretch>
            <a:fillRect/>
          </a:stretch>
        </p:blipFill>
        <p:spPr>
          <a:xfrm>
            <a:off x="6199632" y="4354821"/>
            <a:ext cx="2578608" cy="1083580"/>
          </a:xfrm>
          <a:prstGeom prst="rect">
            <a:avLst/>
          </a:prstGeom>
        </p:spPr>
      </p:pic>
      <p:sp>
        <p:nvSpPr>
          <p:cNvPr id="26" name="真实材料图示区域：records"/>
          <p:cNvSpPr/>
          <p:nvPr/>
        </p:nvSpPr>
        <p:spPr>
          <a:xfrm>
            <a:off x="898855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真实过程记录文件及原文片段" descr="slide-6.png"/>
          <p:cNvPicPr>
            <a:picLocks noChangeAspect="1"/>
          </p:cNvPicPr>
          <p:nvPr/>
        </p:nvPicPr>
        <p:blipFill>
          <a:blip r:embed="rId6"/>
          <a:srcRect l="25990" t="43611" r="43125" b="30741"/>
          <a:stretch>
            <a:fillRect/>
          </a:stretch>
        </p:blipFill>
        <p:spPr>
          <a:xfrm>
            <a:off x="9113118" y="3154680"/>
            <a:ext cx="2329475" cy="1088136"/>
          </a:xfrm>
          <a:prstGeom prst="rect">
            <a:avLst/>
          </a:prstGeom>
        </p:spPr>
      </p:pic>
      <p:pic>
        <p:nvPicPr>
          <p:cNvPr id="28" name="真实评分记录文件及原文片段" descr="slide-6.png"/>
          <p:cNvPicPr>
            <a:picLocks noChangeAspect="1"/>
          </p:cNvPicPr>
          <p:nvPr/>
        </p:nvPicPr>
        <p:blipFill>
          <a:blip r:embed="rId6"/>
          <a:srcRect l="65312" t="43611" r="3854" b="34167"/>
          <a:stretch>
            <a:fillRect/>
          </a:stretch>
        </p:blipFill>
        <p:spPr>
          <a:xfrm>
            <a:off x="8988552" y="4373921"/>
            <a:ext cx="2578608" cy="10453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25组问题对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25组问题对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463040"/>
            <a:ext cx="2286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可替换的输入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901952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本次示例：性能分析任务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1463040"/>
            <a:ext cx="85404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172968" y="1883664"/>
            <a:ext cx="0" cy="9144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72968" y="1883664"/>
            <a:ext cx="854049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13464" y="1883664"/>
            <a:ext cx="0" cy="9144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41448"/>
            <a:ext cx="237744" cy="237744"/>
          </a:xfrm>
          <a:prstGeom prst="rect">
            <a:avLst/>
          </a:prstGeom>
        </p:spPr>
      </p:pic>
      <p:sp>
        <p:nvSpPr>
          <p:cNvPr id="20" name="主要输入标题：任务"/>
          <p:cNvSpPr txBox="1"/>
          <p:nvPr/>
        </p:nvSpPr>
        <p:spPr>
          <a:xfrm>
            <a:off x="1078992" y="2386584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85032"/>
            <a:ext cx="237744" cy="237744"/>
          </a:xfrm>
          <a:prstGeom prst="rect">
            <a:avLst/>
          </a:prstGeom>
        </p:spPr>
      </p:pic>
      <p:sp>
        <p:nvSpPr>
          <p:cNvPr id="22" name="主要输入标题：平台"/>
          <p:cNvSpPr txBox="1"/>
          <p:nvPr/>
        </p:nvSpPr>
        <p:spPr>
          <a:xfrm>
            <a:off x="1078992" y="3630168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64024"/>
            <a:ext cx="237744" cy="237744"/>
          </a:xfrm>
          <a:prstGeom prst="rect">
            <a:avLst/>
          </a:prstGeom>
        </p:spPr>
      </p:pic>
      <p:sp>
        <p:nvSpPr>
          <p:cNvPr id="24" name="主要输入标题：模型"/>
          <p:cNvSpPr txBox="1"/>
          <p:nvPr/>
        </p:nvSpPr>
        <p:spPr>
          <a:xfrm>
            <a:off x="1078992" y="4709160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770632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定位性能瓶颈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090672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采集并分析性能数据</a:t>
            </a:r>
          </a:p>
        </p:txBody>
      </p:sp>
      <p:pic>
        <p:nvPicPr>
          <p:cNvPr id="27" name="CANN官方标识" descr="cann-logo-pc.png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731520" y="4146879"/>
            <a:ext cx="594360" cy="2101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35608" y="4105656"/>
            <a:ext cx="12893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昇腾</a:t>
            </a:r>
          </a:p>
        </p:txBody>
      </p:sp>
      <p:pic>
        <p:nvPicPr>
          <p:cNvPr id="29" name="glm official brand logo" descr="glm-zai-official-preview.png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731520" y="5230368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60704" y="5184648"/>
            <a:ext cx="1801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79776" y="2203704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62656" y="2203704"/>
            <a:ext cx="0" cy="346557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779776" y="5669280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固定方法：准备实验"/>
          <p:cNvSpPr/>
          <p:nvPr/>
        </p:nvSpPr>
        <p:spPr>
          <a:xfrm>
            <a:off x="3319272" y="2002536"/>
            <a:ext cx="457200" cy="457200"/>
          </a:xfrm>
          <a:prstGeom prst="ellipse">
            <a:avLst/>
          </a:prstGeom>
          <a:solidFill>
            <a:srgbClr val="E3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步骤图标：准备实验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856" y="2103120"/>
            <a:ext cx="256032" cy="25603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977639" y="2048256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3616F"/>
                </a:solidFill>
                <a:latin typeface="PingFang SC"/>
                <a:ea typeface="PingFang SC"/>
              </a:rPr>
              <a:t>准备实验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9504" y="2505456"/>
            <a:ext cx="2542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确定任务与实验要求</a:t>
            </a:r>
          </a:p>
        </p:txBody>
      </p:sp>
      <p:sp>
        <p:nvSpPr>
          <p:cNvPr id="38" name="固定方法：执行实验"/>
          <p:cNvSpPr/>
          <p:nvPr/>
        </p:nvSpPr>
        <p:spPr>
          <a:xfrm>
            <a:off x="6153912" y="2002536"/>
            <a:ext cx="457200" cy="457200"/>
          </a:xfrm>
          <a:prstGeom prst="ellipse">
            <a:avLst/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步骤图标：执行实验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2103120"/>
            <a:ext cx="256032" cy="256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12280" y="2048256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24144" y="2505456"/>
            <a:ext cx="2542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先回答，再检索与作答</a:t>
            </a:r>
          </a:p>
        </p:txBody>
      </p:sp>
      <p:sp>
        <p:nvSpPr>
          <p:cNvPr id="42" name="固定方法：评分与复核"/>
          <p:cNvSpPr/>
          <p:nvPr/>
        </p:nvSpPr>
        <p:spPr>
          <a:xfrm>
            <a:off x="8874252" y="2002536"/>
            <a:ext cx="457200" cy="457200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步骤图标：评分与复核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4836" y="2103120"/>
            <a:ext cx="256032" cy="2560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532620" y="2048256"/>
            <a:ext cx="12710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评分与复核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7928" y="2505456"/>
            <a:ext cx="2542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统一判分，回查证据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962656" y="2231136"/>
            <a:ext cx="265176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093207" y="2231136"/>
            <a:ext cx="969265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927848" y="2231136"/>
            <a:ext cx="854964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留存文件关联：执行实验到过程记录"/>
          <p:cNvCxnSpPr/>
          <p:nvPr/>
        </p:nvCxnSpPr>
        <p:spPr>
          <a:xfrm>
            <a:off x="6995160" y="2807208"/>
            <a:ext cx="0" cy="73152"/>
          </a:xfrm>
          <a:prstGeom prst="line">
            <a:avLst/>
          </a:prstGeom>
          <a:ln w="15875">
            <a:solidFill>
              <a:srgbClr val="355E8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留存文件关联：执行实验到过程记录"/>
          <p:cNvCxnSpPr/>
          <p:nvPr/>
        </p:nvCxnSpPr>
        <p:spPr>
          <a:xfrm flipH="1">
            <a:off x="5047488" y="2880360"/>
            <a:ext cx="1947672" cy="0"/>
          </a:xfrm>
          <a:prstGeom prst="line">
            <a:avLst/>
          </a:prstGeom>
          <a:ln w="15875">
            <a:solidFill>
              <a:srgbClr val="355E8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留存文件关联：执行实验到过程记录"/>
          <p:cNvCxnSpPr/>
          <p:nvPr/>
        </p:nvCxnSpPr>
        <p:spPr>
          <a:xfrm>
            <a:off x="5047488" y="2880360"/>
            <a:ext cx="0" cy="82296"/>
          </a:xfrm>
          <a:prstGeom prst="line">
            <a:avLst/>
          </a:prstGeom>
          <a:ln w="15875">
            <a:solidFill>
              <a:srgbClr val="355E85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留存文件关联：评分与复核到评分记录"/>
          <p:cNvCxnSpPr/>
          <p:nvPr/>
        </p:nvCxnSpPr>
        <p:spPr>
          <a:xfrm>
            <a:off x="9838944" y="2807208"/>
            <a:ext cx="0" cy="155448"/>
          </a:xfrm>
          <a:prstGeom prst="line">
            <a:avLst/>
          </a:prstGeom>
          <a:ln w="15875">
            <a:solidFill>
              <a:srgbClr val="695183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3346703" y="2999232"/>
            <a:ext cx="3401568" cy="2706624"/>
          </a:xfrm>
          <a:custGeom>
            <a:avLst/>
            <a:gdLst/>
            <a:ahLst/>
            <a:cxnLst/>
            <a:rect l="l" t="t" r="r" b="b"/>
            <a:pathLst>
              <a:path w="3401568" h="2706624">
                <a:moveTo>
                  <a:pt x="0" y="0"/>
                </a:moveTo>
                <a:lnTo>
                  <a:pt x="3218688" y="0"/>
                </a:lnTo>
                <a:lnTo>
                  <a:pt x="3401568" y="182880"/>
                </a:lnTo>
                <a:lnTo>
                  <a:pt x="3401568" y="2706624"/>
                </a:lnTo>
                <a:lnTo>
                  <a:pt x="0" y="2706624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6565391" y="2999232"/>
            <a:ext cx="0" cy="18288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565391" y="3182112"/>
            <a:ext cx="182880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实验产物图标：过程记录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29583" y="3163824"/>
            <a:ext cx="274320" cy="2743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886199" y="3136391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57" name="真实文件名：process.jsonl"/>
          <p:cNvSpPr txBox="1"/>
          <p:nvPr/>
        </p:nvSpPr>
        <p:spPr>
          <a:xfrm>
            <a:off x="5239511" y="32004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process.jsonl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529583" y="3538727"/>
            <a:ext cx="3035808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529583" y="3611879"/>
            <a:ext cx="303580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回答、搜索与资料读取</a:t>
            </a:r>
          </a:p>
        </p:txBody>
      </p:sp>
      <p:sp>
        <p:nvSpPr>
          <p:cNvPr id="60" name="原文区底色：process.jsonl"/>
          <p:cNvSpPr/>
          <p:nvPr/>
        </p:nvSpPr>
        <p:spPr>
          <a:xfrm>
            <a:off x="3511295" y="3913631"/>
            <a:ext cx="3072384" cy="168249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真实记录纯文本：process.jsonl"/>
          <p:cNvSpPr txBox="1"/>
          <p:nvPr/>
        </p:nvSpPr>
        <p:spPr>
          <a:xfrm>
            <a:off x="3593591" y="4005072"/>
            <a:ext cx="2907792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0">
                <a:solidFill>
                  <a:srgbClr val="303640"/>
                </a:solidFill>
                <a:latin typeface="PingFang SC"/>
                <a:ea typeface="PingFang SC"/>
              </a:rPr>
              <a:t>问句：昇腾上跑 PyTorch 想定位瓶颈，怎么用 msprof / Ascend PyTorch Profiler 采集分析？给出代码和步骤。
检索：昇腾 PyTorch Profiler 性能分析 msprof 官方文档 hiascend
返回：msprof-analyze/README.md-代码预览-MindStudio-Profiler ...</a:t>
            </a:r>
          </a:p>
        </p:txBody>
      </p:sp>
      <p:sp>
        <p:nvSpPr>
          <p:cNvPr id="62" name="实验产物文档：评分记录"/>
          <p:cNvSpPr/>
          <p:nvPr/>
        </p:nvSpPr>
        <p:spPr>
          <a:xfrm>
            <a:off x="8138160" y="2999232"/>
            <a:ext cx="3401568" cy="2706624"/>
          </a:xfrm>
          <a:custGeom>
            <a:avLst/>
            <a:gdLst/>
            <a:ahLst/>
            <a:cxnLst/>
            <a:rect l="l" t="t" r="r" b="b"/>
            <a:pathLst>
              <a:path w="3401568" h="2706624">
                <a:moveTo>
                  <a:pt x="0" y="0"/>
                </a:moveTo>
                <a:lnTo>
                  <a:pt x="3218688" y="0"/>
                </a:lnTo>
                <a:lnTo>
                  <a:pt x="3401568" y="182880"/>
                </a:lnTo>
                <a:lnTo>
                  <a:pt x="3401568" y="2706624"/>
                </a:lnTo>
                <a:lnTo>
                  <a:pt x="0" y="2706624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1356848" y="2999232"/>
            <a:ext cx="0" cy="18288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356848" y="3182112"/>
            <a:ext cx="182880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实验产物图标：评分记录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1040" y="3163824"/>
            <a:ext cx="274320" cy="27432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677656" y="3136391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67" name="真实文件名：evaluation.json"/>
          <p:cNvSpPr txBox="1"/>
          <p:nvPr/>
        </p:nvSpPr>
        <p:spPr>
          <a:xfrm>
            <a:off x="10030968" y="32004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evaluation.json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321040" y="3538727"/>
            <a:ext cx="3035808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321040" y="3611879"/>
            <a:ext cx="3035808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得分、依据与未满足项</a:t>
            </a:r>
          </a:p>
        </p:txBody>
      </p:sp>
      <p:sp>
        <p:nvSpPr>
          <p:cNvPr id="70" name="原文区底色：evaluation.json"/>
          <p:cNvSpPr/>
          <p:nvPr/>
        </p:nvSpPr>
        <p:spPr>
          <a:xfrm>
            <a:off x="8302752" y="3913631"/>
            <a:ext cx="3072384" cy="168249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真实记录纯文本：evaluation.json"/>
          <p:cNvSpPr txBox="1"/>
          <p:nvPr/>
        </p:nvSpPr>
        <p:spPr>
          <a:xfrm>
            <a:off x="8385048" y="4005072"/>
            <a:ext cx="2907792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0">
                <a:solidFill>
                  <a:srgbClr val="303640"/>
                </a:solidFill>
                <a:latin typeface="PingFang SC"/>
                <a:ea typeface="PingFang SC"/>
              </a:rPr>
              <a:t>M1 官方发现：5分
首次查询第1条即为相关官方来源
（gitcode.com/Ascend/
msprof-analyze，Ascend官方组织的
MindStudio Profiler仓库），
第5条亦为hiascend.com官方文档，
首次查询即命中且排名第1。</a:t>
            </a:r>
          </a:p>
        </p:txBody>
      </p:sp>
      <p:cxnSp>
        <p:nvCxnSpPr>
          <p:cNvPr id="72" name="评分记录回查过程记录"/>
          <p:cNvCxnSpPr/>
          <p:nvPr/>
        </p:nvCxnSpPr>
        <p:spPr>
          <a:xfrm flipH="1">
            <a:off x="6812280" y="4507992"/>
            <a:ext cx="1261872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949440" y="4105656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49440" y="4681728"/>
            <a:ext cx="9875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回查
原始记录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838944" y="5797296"/>
            <a:ext cx="0" cy="521208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8979408" y="6318504"/>
            <a:ext cx="85953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2962656" y="6318504"/>
            <a:ext cx="896112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962656" y="5742432"/>
            <a:ext cx="0" cy="576072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968496" y="6126480"/>
            <a:ext cx="490118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换任务、平台或模型，继续复用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