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先介绍方法的整体顺序，后续六页逐步展开。沿开发工作流拆解任务，定位模型知识获取环节与指标。M1至M10用五档标准，M11为连续百分制，均以可检查的证据判分，减少主观性。先比较每个模型内的两平台，再检查跨模型差异方向和重复出现的缺口，不计算三个模型混合总均分。GLM-5.3初评，GPT-5.6 Luna辅助指定内容复核，GPT-6 Astra主审定。复核属于证据和内容复核，不等于硬件端到端运行验证。正式结果使用2026-09-21冻结量规。Benchmark Skill用于执行并持续沉淀可复用方法，当前安装默认版本并不代表覆盖正式结果的每项指标。图示是后续页面的真实片段，仅供概览，细节在相应页面展开。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/Users/hsin/Documents/Coding/opknow/paper/ai-usability/slides/实验方法与过程-20261008/sources/评分模型核对记录.json /roles</a:t>
            </a:r>
          </a:p>
          <a:p>
            <a:r>
              <a:t>/Users/hsin/Documents/Coding/opknow/paper/ai-usability/slides/实验方法与过程-20261008/AI可用性研究-实验方法与过程-六页精简版-Skill输入层级版.pptx 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这一页展示一个任务内的知识获取和证据判断过程，用于定位各项指标。它是概念分析模型，不复现模型内部推理，也不代表后评执行顺序。</a:t>
            </a:r>
          </a:p>
          <a:p/>
          <a:p>
            <a:r>
              <a:t>任务先经历上下文组装、意图解析、子目标拆解和路由，再决定是否调用工具。需要工具时，搜索候选页面后读取正文；已知URL可以直接读取。无需检索时使用模型自带知识。两条路径都汇总到当前证据。</a:t>
            </a:r>
          </a:p>
          <a:p/>
          <a:p>
            <a:r>
              <a:t>证据充分时收敛为终答。证据不足时判断是否仍可有效检索，若可以则返回路由、换检索词继续。检索穷尽后仍需判断是否存在可靠证据：有则依据证据作答；无则可能凭记忆填补空缺。模型可能无法可靠识别知识缺口，终答应显式说明证据边界。</a:t>
            </a:r>
          </a:p>
          <a:p/>
          <a:p>
            <a:r>
              <a:t>颜色对应下一页评分表：搜索与读取均为浅蓝色，模型先验为薰衣草紫，汇总证据为薄荷绿，充分性检查为蜜桃色，终答为雾蓝灰。所有节点采用浅底与同色系深字。M1/M5位于搜索候选，M2/M3位于正文读取，M7位于检索前知识，M6/M8位于证据汇总，M4/M9/M10位于充分性检查，M11位于终答汇总。</a:t>
            </a:r>
          </a:p>
          <a:p/>
          <a:p>
            <a:r>
              <a:t>本批实验采用2026-09-21冻结量规。M7单独评价冻结的无工具回答的正确性与覆盖，不能从流程箭头推断模型训练数据。M4评价官方资料的版本关系，M9/M10评价最终回答。M11汇总M1–M8，连续0–100，称为综合知识支撑指数，未经概率校准。</a:t>
            </a:r>
          </a:p>
          <a:p/>
          <a:p>
            <a:r>
              <a:t>任务选取沿七类开发工作流展开：环境与安装3类、算子开发6类、训练4类、推理与部署4类、性能与优化4类、调试2类、迁移与概念2类，合计25类主比较任务。G迁移类比另列，两侧分别向CANN与ROCm迁移。七类是任务分类，不表示开发者必须按七个阶段顺序走完；任务集用于覆盖活动，不是开发者总体的随机样本。</a:t>
            </a:r>
          </a:p>
          <a:p/>
          <a:p>
            <a:r>
              <a:t>本页展示合并说明：材料原流程为15个逻辑节点、19条连接；本次将开发任务、上下文、意图解析及子目标拆解合为一个任务理解节点，将相邻的路由与工具决策合为一个路由判断节点，展示11个节点、15条外部连接。只是合并展示，不删改逻辑步骤。检索回路仍返回路由，已知URL可直接读取，两条证据路径继续汇入当前证据；检索穷尽后的有/无可靠证据两条终答路径保留。主要分支左右方位不变，节点高度及纵向间距重新分配。M1–M11使用对应环节深色底白字标签，浅色节点保持与下一页评分表相同的颜色映射。M4/M9/M10仍只定位在充分性检查节点，不重复放在后续检索判断节点。原底部概念说明已保留在备注中：流程用于概念定位，不表示模型内部推理记录；实际评分独立执行。</a:t>
            </a:r>
          </a:p>
          <a:p/>
          <a:p>
            <a:r>
              <a:t>起始任务理解节点宽度为3.5英寸。任务理解和路由判断两个准备阶段节点采用相同的F5F6F8浅灰底、C5CDD8描边和0.8pt线宽，比页面背景更亮，便于识别。中心、高度、文本、字号、行距及所有连线位置保留；有指标的环节继续采用原有马卡龙底色和深色编号标签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/Users/hsin/Documents/Coding/opknow/paper/ai-usability/revisions/full-rerun-20260921/manuscript-cn.md:207</a:t>
            </a:r>
          </a:p>
          <a:p>
            <a:r>
              <a:t>/Users/hsin/Documents/Coding/opknow/paper/ai-usability/revisions/full-rerun-20260921/manuscript-cn.md:67</a:t>
            </a:r>
          </a:p>
          <a:p>
            <a:r>
              <a:t>/Users/hsin/Documents/Coding/opknow/paper/ai-usability/revisions/full-rerun-20260921/manuscript-cn.md:71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/Users/hsin/Documents/Coding/opknow/paper/ai-usability/slides/知识获取流程与指标分值档位/assets/flowchart.png:1</a:t>
            </a:r>
          </a:p>
          <a:p>
            <a:r>
              <a:t>/Users/hsin/Documents/Coding/opknow/paper/ai-usability/slides/01-flowchart-and-metric-tiers.html:159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按Workflow节点分组，色标和环节名称与前一页一致；列从1分到5分，分值越高表示知识支撑或回答质量越强，M8则表示实际调用更少。五档是有序等级，未验证等距。M11是连续0–100综合知识支撑指数，无人为五档，完整公式直接列在本页M11行。</a:t>
            </a:r>
          </a:p>
          <a:p/>
          <a:p>
            <a:r>
              <a:t>M2按每个独立官方文档最终取得的表示判断，重试合并后独立文档等权聚合。正文完整性未知保留4到5候选界限，不能强打4。M3按原题要求，取不到正文记受阻。M4按版本适用关系，不按版本数量扣分。</a:t>
            </a:r>
          </a:p>
          <a:p/>
          <a:p>
            <a:r>
              <a:t>M5只数预算内发现的相关独立第三方来源，转载镜像去重。M6逐条核对会影响操作或版本判断的关键说法，没有第三方材料时记不适用。M7核对检索前回答，缺测或正确性未知不能当作低分。M8低成本得高分，零调用或异常中断不自动给高分。</a:t>
            </a:r>
          </a:p>
          <a:p/>
          <a:p>
            <a:r>
              <a:t>M9从缺少版本信息到所有必要组件有据定到具体版本。M10从目标描述到无需补写或修正内容即可执行。4分只能是替换明确且有说明的环境值，不能包含修改内容错误。未上硬件运行不是4分和5分的分界，实际运行状态单列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正式评分例外：M1预算未用完且未命中、前序超时或列表缺失记待定，首次命中后的追加搜索不降分。M2按独立官方文档等权聚合，重试合并，未知项不删除；5分须完整边界证据，工具自称完整不足；完整性未知保留4–5区间。M3取不到正文记受阻，4分主流程包括参数与前提。M4无正文受阻、无需选版N/A；4/5不能有缺失关系或未解冲突。M5仅预算内相关、独立、去重第三方来源；镜像转载算一次，官方发布者排除；来源归属或相关性未知保留区间。M6的2分指未确证关键矛盾但缺核对依据，4/5均须无未解决矛盾，独立互证须独立来源；没有第三方材料记N/A。M7仅冻结无工具回答，无记录记缺测、正确性未知记待定。M8失败派发计数、未派发不计，C=0或异常中断不自动高分。M9全部/部分限原题需定版组件，符合证据的版本范围并非技术错误；无需版本N/A。M10评价内容补改，执行状态另记；4分仅替换明确标识且有说明环境值，不能含内容纠错；5分适用前提明确，未上机不是4/5分界，证据不足待定、纯概念题N/A。M11只在复核确认整渠道无支撑后置该渠道0，不能将单页失败或N/A补零；M4预设N/A时版本因子为1。有效上下界传播并向外舍入，不取中点；证据界不是统计置信区间，不能提供有效界限则不计算。</a:t>
            </a:r>
          </a:p>
          <a:p/>
          <a:p>
            <a:r>
              <a:t>综合分的渠道解释：</a:t>
            </a:r>
          </a:p>
          <a:p>
            <a:r>
              <a:t>先将M1–M8按Mi/5归一化。官方渠道OFF=x1x2x3，第三方渠道SEC=x5x6，检索前知识OWN=x7。渠道内相乘，渠道间按K=1−(1−OFF)(1−SEC)(1−OWN)汇总，随后乘版本因子0.7+0.3x4与成本因子0.9+0.1x8。预设系数0.30/0.10并非数据拟合结果，公式不是答对概率，也不证明渠道独立。M9/M10独立报告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/Users/hsin/Documents/Coding/opknow/paper/ai-usability/revisions/full-rerun-20260921/sources/rules.md:6</a:t>
            </a:r>
          </a:p>
          <a:p>
            <a:r>
              <a:t>/Users/hsin/Documents/Coding/opknow/paper/ai-usability/revisions/full-rerun-20260921/sources/rules.md:25</a:t>
            </a:r>
          </a:p>
          <a:p>
            <a:r>
              <a:t>/Users/hsin/Documents/Coding/opknow/paper/ai-usability/revisions/full-rerun-20260921/sources/rules.md:44</a:t>
            </a:r>
          </a:p>
          <a:p>
            <a:r>
              <a:t>/Users/hsin/Documents/Coding/opknow/paper/ai-usability/revisions/full-rerun-20260921/sources/rules.md:63</a:t>
            </a:r>
          </a:p>
          <a:p>
            <a:r>
              <a:t>/Users/hsin/Documents/Coding/opknow/paper/ai-usability/revisions/full-rerun-20260921/sources/rules.md:82</a:t>
            </a:r>
          </a:p>
          <a:p>
            <a:r>
              <a:t>/Users/hsin/Documents/Coding/opknow/paper/ai-usability/revisions/full-rerun-20260921/sources/rules.md:101</a:t>
            </a:r>
          </a:p>
          <a:p>
            <a:r>
              <a:t>/Users/hsin/Documents/Coding/opknow/paper/ai-usability/revisions/full-rerun-20260921/sources/rules.md:120</a:t>
            </a:r>
          </a:p>
          <a:p>
            <a:r>
              <a:t>/Users/hsin/Documents/Coding/opknow/paper/ai-usability/revisions/full-rerun-20260921/sources/rules.md:139</a:t>
            </a:r>
          </a:p>
          <a:p>
            <a:r>
              <a:t>/Users/hsin/Documents/Coding/opknow/paper/ai-usability/revisions/full-rerun-20260921/sources/rules.md:158</a:t>
            </a:r>
          </a:p>
          <a:p>
            <a:r>
              <a:t>/Users/hsin/Documents/Coding/opknow/paper/ai-usability/revisions/full-rerun-20260921/sources/rules.md:177</a:t>
            </a:r>
          </a:p>
          <a:p>
            <a:r>
              <a:t>/Users/hsin/Documents/Coding/opknow/paper/ai-usability/revisions/full-rerun-20260921/manuscript-cn.md:173</a:t>
            </a:r>
          </a:p>
          <a:p>
            <a:r>
              <a:t>/Users/hsin/Documents/Coding/opknow/paper/ai-usability/revisions/full-rerun-20260921/manuscript-cn.md:189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/Users/hsin/Documents/Coding/opknow/paper/ai-usability/revisions/full-rerun-20260921/sources/rules.md:200</a:t>
            </a:r>
          </a:p>
          <a:p>
            <a:r>
              <a:t>/Users/hsin/Documents/Coding/ai-usability-benchmark/experiments/full-rerun-protocol-20260921/frozen-skill/references/rules.md:6</a:t>
            </a:r>
          </a:p>
          <a:p>
            <a:r>
              <a:t>/Users/hsin/Documents/Coding/ai-usability-benchmark/experiments/full-rerun-protocol-20260921/frozen-skill/references/rules.md:139</a:t>
            </a:r>
          </a:p>
          <a:p>
            <a:r>
              <a:t>/Users/hsin/Documents/Coding/ai-usability-benchmark/experiments/full-rerun-protocol-20260921/frozen-skill/references/rules.md:177</a:t>
            </a:r>
          </a:p>
          <a:p>
            <a:r>
              <a:t>/Users/hsin/Documents/Coding/ai-usability-benchmark/experiments/full-rerun-protocol-20260921/frozen-skill/references/rules.md:200</a:t>
            </a:r>
          </a:p>
          <a:p>
            <a:r>
              <a:t>/Users/hsin/Documents/Coding/ai-usability-benchmark/experiments/full-rerun-protocol-20260921/frozen-skill/references/rules.md:202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/Users/hsin/Documents/Coding/ai-usability-benchmark/experiments/full-rerun-protocol-20260921/frozen-skill/references/execution-checks.md:21</a:t>
            </a:r>
          </a:p>
          <a:p>
            <a:r>
              <a:t>/Users/hsin/Documents/Coding/ai-usability-benchmark/experiments/full-rerun-protocol-20260921/frozen-skill/references/execution-checks.md:23</a:t>
            </a:r>
          </a:p>
          <a:p>
            <a:r>
              <a:t>/Users/hsin/Documents/Coding/opknow/paper/ai-usability/revisions/full-rerun-20260921/manuscript-cn.md:153</a:t>
            </a:r>
          </a:p>
          <a:p>
            <a:r>
              <a:t>/Users/hsin/Documents/Coding/opknow/paper/ai-usability/revisions/full-rerun-20260921/manuscript-cn.md:151</a:t>
            </a:r>
          </a:p>
          <a:p>
            <a:r>
              <a:t>/Users/hsin/Documents/Coding/opknow/paper/ai-usability/revisions/full-rerun-20260921/manuscript-cn.md:187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这一页只用M7一个代表例，说明怎样减少主观自评。两组评分尺只表示各自量规的1—5顺序，不代表等距变化、进步幅度、正确概率，也不能将旧分换算成新分。关键词忠实缩写，完整规则如下。</a:t>
            </a:r>
          </a:p>
          <a:p/>
          <a:p>
            <a:r>
              <a:t>改前：自评知识覆盖强弱，再叠加截止时效修正，仍难核验同题知识正确性和原题覆盖。改后：首次工具调用前冻结同题无工具回答，另行核对正确性和原题覆盖，自信度不计分，依据可保存、可追溯。独立核验指对留存回答另行核查，并不意味着全部技术断言经独立专家验证。无检索前记录记缺测，正确性未知则待定。</a:t>
            </a:r>
          </a:p>
          <a:p/>
          <a:p>
            <a:r>
              <a:t>改前完整原文：</a:t>
            </a:r>
          </a:p>
          <a:p>
            <a:r>
              <a:t>5 覆盖密集、可凭知识答且大体可靠（且工具 stable、知识不过时）｜ 4 流程熟悉、可凭自带知识给骨架 ｜ 3 有概念但细节/版本需检索补 ｜ 2 自带知识弱、不敢凭记忆给命令 ｜ 1 几乎只能现查、自带知识易过时（churn fast 触发知识截止 gap 罚分）。</a:t>
            </a:r>
          </a:p>
          <a:p>
            <a:r>
              <a:t>量化公式 score7_own(r) ↗GitHub输入 = 训练覆盖密度自评档 own(1–5) + 知识截止 gap 罚分：得分 = clamp( own + 知识截止 gap , 1, 5 )。知识截止 gap（因子 A，cutoff_gap_factor，只罚不奖）：⑦ 原是全 11 项里唯一纯自评、无客观锚的；本因子按相关工具/API 的迭代节奏 churn 给客观罚分——技术迭代越快、我的训练知识越可能落后于最新版本。stable（API 早稳定、知识可靠）0 / moderate −0.25 / fast（alpha/RC 高频刷新）−0.5；churn 由 task_run_log 的版本扩散 + 各生态公开发布节奏判定（非主观自评）。实测结论：CUDA 成熟工具链多 stable（Nsight/cuBLAS）；CANN 前沿 D.cann（Ascend C，fast）−0.5、其余多 moderate −0.25——均未翻档（自评本已反映"知不知道"，gap 只补客观锚）。这是「时效」洞见在 ⑦ 上的对称延伸：⑥ 算二手时效、⑦ 算自带知识时效。</a:t>
            </a:r>
          </a:p>
          <a:p/>
          <a:p>
            <a:r>
              <a:t>改后完整原文：</a:t>
            </a:r>
          </a:p>
          <a:p>
            <a:r>
              <a:t>## M7 模型自带知识</a:t>
            </a:r>
          </a:p>
          <a:p/>
          <a:p>
            <a:r>
              <a:t>这个任务在我训练数据里的覆盖密度——不检索能不能直接答出靠谱内容。把"模型自带、不靠检索的知识"也视为一条触达渠道（即原先说的"先验"）。</a:t>
            </a:r>
          </a:p>
          <a:p/>
          <a:p>
            <a:r>
              <a:t>1. 检索前回答没有可核验的正确任务知识，或关键主张被核对证据否定</a:t>
            </a:r>
          </a:p>
          <a:p/>
          <a:p>
            <a:r>
              <a:t>2. 检索前仅能给出正确概念，无法给出具体方法或解释</a:t>
            </a:r>
          </a:p>
          <a:p/>
          <a:p>
            <a:r>
              <a:t>3. 检索前能给出正确方法或解释片段，但关键细节需要外部资料补充</a:t>
            </a:r>
          </a:p>
          <a:p/>
          <a:p>
            <a:r>
              <a:t>4. 检索前能够给出正确的完整流程或解释，原题涉及的具体参数、约束仍需补充</a:t>
            </a:r>
          </a:p>
          <a:p/>
          <a:p>
            <a:r>
              <a:t>5. 检索前回答已准确覆盖原题所需的流程、解释、参数与约束</a:t>
            </a:r>
          </a:p>
          <a:p/>
          <a:p>
            <a:r>
              <a:t>执行同题无工具回答并冻结，再独立核对其中知识正确性和完整性。回答前不能接触本轮检索内容；自评信心仅存记录，不用于计分。没有检索前回答的旧运行记缺测。该测量只能反映无检索知识表现，不能推断训练数据覆盖密度；未知正确性则待定。</a:t>
            </a:r>
          </a:p>
          <a:p/>
          <a:p>
            <a:r>
              <a:t>依据边界：具体五档与阈值属于本研究操作化约定，下列文献仅支持相应测量原则，不直接验证本五档。</a:t>
            </a:r>
          </a:p>
          <a:p/>
          <a:p/>
          <a:p/>
          <a:p>
            <a:r>
              <a:t>新1档包括没有可核验正确任务知识或关键主张被核查证据否定；2档没有具体方法或解释；3档有正确方法或解释片段但关键细节需补；4档有正确完整流程或解释而原题参数、约束待补；5档准确覆盖原题全部所需流程、解释、参数和约束。旧5档在图上短写覆盖密集、大体可靠；完整条件仍包括工具稳定、知识不过时，以上原文和公式均完整保留。旧3档包括细节和版本需检索补，图中短写为细节需检索。</a:t>
            </a:r>
          </a:p>
          <a:p/>
          <a:p>
            <a:r>
              <a:t>这使依据更可观察、可追溯，不证明内容判断完全客观或量规效度已验证。</a:t>
            </a:r>
          </a:p>
          <a:p/>
          <a:p>
            <a:r>
              <a:t>本页强调可核验依据是减少主观差异、促进一致判断的方法。没有实测不同评分模型之间的一致性，不将其表述为已验证结果。</a:t>
            </a:r>
          </a:p>
          <a:p/>
          <a:p>
            <a:r>
              <a:t>资料依据：</a:t>
            </a:r>
          </a:p>
          <a:p>
            <a:r>
              <a:t>/Users/hsin/Documents/Coding/ai-usability-benchmark/reviews/original-metric-baseline.json /metrics/6</a:t>
            </a:r>
          </a:p>
          <a:p>
            <a:r>
              <a:t>/Users/hsin/Documents/Coding/ai-usability-benchmark/experiments/full-rerun-protocol-20260921/frozen-skill/references/rules.md:120</a:t>
            </a:r>
          </a:p>
          <a:p>
            <a:r>
              <a:t>/Users/hsin/Documents/Coding/ai-usability-benchmark/experiments/full-rerun-protocol-20260921/scoring-revision-history.md:46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沿七类开发工作流选取任务，主比较共25组CUDA/CANN问题对。每对先确定共同开发目标，再按各生态的工具与实际交付要求写题。页面示例是B题的简短概括，不替代原题。</a:t>
            </a:r>
          </a:p>
          <a:p/>
          <a:p>
            <a:r>
              <a:t>CUDA原题：PyTorch 模型 GPU 利用率不高，怎么用 Nsight Systems 抓 timeline 定位瓶颈？给出采集命令和分析步骤。</a:t>
            </a:r>
          </a:p>
          <a:p>
            <a:r>
              <a:t>CANN原题：昇腾上跑 PyTorch 想定位瓶颈，怎么用 msprof / Ascend PyTorch Profiler 采集分析？给出代码和步骤。</a:t>
            </a:r>
          </a:p>
          <a:p/>
          <a:p>
            <a:r>
              <a:t>两题都要求采集并分析性能数据、定位瓶颈，但CUDA要求采集命令和分析步骤，CANN要求代码和步骤。按各自原题评价；目标相近不意味着严格等难。另1类G迁移类比及6次运行单列。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平台视觉编码：CUDA侧采用NVIDIA绿的浅色底，CANN侧采用红的浅色底。第4页使用官方NVIDIA横向标识与CANN软件字标，比例保持原样；此编码仅表示平台，不表示得分或优劣。第8页平台任务平均的色彩保持相同映射。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本页合并模型执行、评分复核、模型内汇总与跨模型对照。</a:t>
            </a:r>
          </a:p>
          <a:p/>
          <a:p>
            <a:r>
              <a:t>被测模型为GLM-5.3、DeepSeek V4.1 Flash和Kimi，请求别名分别为glm-5.3、deepseek-v4.1-flash、kimi-k3-2。三个模型分别执行同一组任务。多模型对照减少只观察一个模型的依赖，不能消除偏差。</a:t>
            </a:r>
          </a:p>
          <a:p/>
          <a:p>
            <a:r>
              <a:t>统一搜索与读取工具、最多4次搜索和8次获取、同一评分标准。每题新建临时目录及会话并设置禁用记忆flags。WorkBuddy CLI，最多22轮、600秒，effort low。这些设置不等于操作系统隔离。模型别名不保证固定底层快照；搜索提供方未独立锁定。每模型每侧只有一次有效入选运行，三模型不代替同模型重复试验。</a:t>
            </a:r>
          </a:p>
          <a:p/>
          <a:p>
            <a:r>
              <a:t>模型分工已核实：GLM-5.3统一初评；程序检查原文引文、分档及算术；GPT-5.6 Luna辅助核对部分证据与指定内容，提出修订；GPT-6 Astra主代理回看原文，批准、调整或驳回修订。正式实验RUNNING.md记录Luna/Root分工，M10与版本来源专项复核代理的会话元数据为gpt-5.6-luna，父任务09-21相关turn_context为gpt-6-astra。程序检查不等于技术正确性验证，内容复核也未覆盖全部技术断言。</a:t>
            </a:r>
          </a:p>
          <a:p/>
          <a:p>
            <a:r>
              <a:t>评分统一由GLM-5.3完成初评，然后检查证据、分档与算术，并对指定范围的内容做复核。按原题评价，M1–M8的知识获取材料与M9–M10的最终回答分别作为评分输入。</a:t>
            </a:r>
          </a:p>
          <a:p/>
          <a:p>
            <a:r>
              <a:t>讲者备注保留一个真实例子：B/CUDA/Kimi第一次搜索前5条全是第三方，第二次首次命中NVIDIA官方资料。按M1第2查首次命中的档位记3分，不能因为第二查第1条就当成首查第1条记5分。</a:t>
            </a:r>
          </a:p>
          <a:p/>
          <a:p>
            <a:r>
              <a:t>复核包括原文定位、评分规则和计算的检查，以及指定内容复核。原始初评、修订后的评价和理由分别保存，不覆盖原件。复核没有宣称全部技术断言已获专家验证。分数不确定时保留范围，不硬给单点；未知不补零。M10评价内容补改需求，未在目标硬件上完成端到端运行。</a:t>
            </a:r>
          </a:p>
          <a:p/>
          <a:p>
            <a:r>
              <a:t>本页说明模型分工、记录如何变成分数，以及复核与汇总方式。下面的真实案例可用于口头补充或问答。我们使用B任务的CUDA侧Kimi运行，原题是：PyTorch模型GPU利用率不高，怎么用Nsight Systems抓timeline定位瓶颈，给出采集命令和分析步骤。案例来自09-21正式最终结果，不使用09-22后续单点重评。</a:t>
            </a:r>
          </a:p>
          <a:p/>
          <a:p>
            <a:r>
              <a:t>补充案例的四项评分：M1的第一次查询前五条都是第三方来源，第二次查询第1条才首次命中NVIDIA官方User Guide，所以是3分。第二轮排第1不等于首轮排第1，不能给5分。M8从真实派发日志记录3次搜索和3次获取，C=6，落在5–6档，所以是3分；这条运行没有用完工具预算。M9依据最终答案：PyTorch侧明确为2.14并以文档核对，Nsight Systems工具版本仍没有确定，因此只有部分所需组件有版本依据，为3分。M10的正式内容复核判断主路线包含采集命令、PyTorch插桩、统计和timeline分析，用户只需替换已说明的train.py、report等环境值，为4分。可选GPU metrics路径仍有未核实参数，最终答案也保留说明。这里转述正式保存的评价，不宣称我们已实际运行这些命令。</a:t>
            </a:r>
          </a:p>
          <a:p/>
          <a:p>
            <a:r>
              <a:t>M11不能给一个单点，因为M3保留[3,4]、M6保留[2,3]、M7保留[4,5]。其余M1–M8输入为M1=3、M2=4、M4=3、M5=5、M8=3。代入全部下界，OFF=0.288、SEC=0.4、OWN=0.8、K=0.91456；版本因子为0.88，成本因子为0.96，得到77.2620288。代入全部上界，OWN=1使K=1，得到84.48。向外舍入到一位小数后展示77.2–84.5。它是输入证据界限传播得到的综合指数区间，不是统计置信区间，不含运行随机性、评价者误差或未建模不确定性；不取中点，也不解释为答对概率。M9和M10不进入M11公式。</a:t>
            </a:r>
          </a:p>
          <a:p/>
          <a:p>
            <a:r>
              <a:t>补充说明后评组织。正式实验统一使用GLM-5.3自动后评，与被测模型的任务回答分开。predictors阶段评价M1–M8，只提供来源、冻结的检索前回答和实际派发计数，不提供最终答案；其中M7依据检索前回答表现，并可以用来源事后核对正确性。outcome阶段评价原题要求、M9和M10，提供最终答案和来源核对材料，不提供检索前回答、计数或分数。M9和M10的指标证据必须引用最终答案，来源段落不能代替答案原文。每次运行产生两份阶段结果，156次共312份；完成阶段评价不等于每项都有点分。</a:t>
            </a:r>
          </a:p>
          <a:p/>
          <a:p>
            <a:r>
              <a:t>随后分别检查结构、引文定位和算术，并对指定范围进行内容复核。结构门禁只检查字段与逻辑一致性，引文匹配只证明文字在指定事件中，算术检查只验证计算；它们都不能独自证明技术断言正确。原始自动后评、复核后的派生评价及修订理由分别保留。正式批次149份通过结构门禁；指定内容复核覆盖149个M10为3、4或5档的单元，以及I任务和已识别的问题，它不等于所有技术断言的独立专家验证。后评统一使用GLM-5.3也可能带来同模型评分偏差。</a:t>
            </a:r>
          </a:p>
          <a:p/>
          <a:p>
            <a:r>
              <a:t>引文审计的覆盖要分清：批次汇总将156份评价标为没有未匹配项，但论文整理时另外逐条回查results.json中的3986条指标引文，3960条原文匹配，26条涉及23次运行仍未按原文匹配，问题包括省略、改写片段和协议引用。因此不能把批次审计标记写成全量指标引文全部验证。这些问题已在补充材料标出，当前统计未据此重新评分或改变纳入规则。未进行硬件端到端执行，所以M10报告的是内容层面的补改需求，不能写成实际复现成功率。</a:t>
            </a:r>
          </a:p>
          <a:p/>
          <a:p>
            <a:r>
              <a:t>先在同一模型、同一任务、同一指标下比较CUDA和CANN两侧；各模型分别汇总合格任务的平均差异，再看三个模型的平均方向、逐任务反例以及共同任务子集。没有把三个模型直接平均成一个总分。多模型一致性帮助减少对某个模型观察的依赖，不能消除单模型偏好和其他偏差。</a:t>
            </a:r>
          </a:p>
          <a:p/>
          <a:p>
            <a:r>
              <a:t>缺失、不适用、受阻或证据不足不当低分；只纳入符合协议且该指标可比较的同题两侧。分数有有效范围时分别平均上下端点，不取中点。各指标可比较任务数会不同。M1–M10的均值仅为描述性汇总，不表示评分档位已验证等距。</a:t>
            </a:r>
          </a:p>
          <a:p/>
          <a:p>
            <a:r>
              <a:t>多个模型共同出现的缺口，可作为设计改进的线索，例如资料更容易找到、正文更容易读取、操作步骤和适用条件更清楚。这些是待验证方向，尚未检验设计改动的效果。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平台视觉编码：CUDA侧采用NVIDIA绿的浅色底，CANN侧采用红的浅色底。第4页使用官方NVIDIA横向标识与CANN软件字标，比例保持原样；此编码仅表示平台，不表示得分或优劣。本页平台任务平均的色彩保持相同映射。</a:t>
            </a:r>
          </a:p>
          <a:p/>
          <a:p>
            <a:r>
              <a:t>模型品牌标识采用官方素材：GLM使用zai-org/GLM-5官方模型仓库README使用的Z.ai图标；DeepSeek使用官网页头原始鲸鱼路径并保留官网品牌蓝；Kimi使用官方品牌手册资产包内Logomark_Light.svg。仅按比例缩放；图标表示模型品牌，与分数无关。DeepSeek完整型号由主名DeepSeek及副行V4.1 Flash共同表示。</a:t>
            </a:r>
          </a:p>
          <a:p/>
          <a:p>
            <a:r>
              <a:t>版式将模型角色与检查内容分开。中间卡片三行仅列初评、辅助复核、审定三个模型分工；卡片下方单独说明程序检查原文定位、评分档位和计算，以及重点内容复核和修订留痕。程序检查不是另一位评分模型，也不表示验证所有技术内容。</a:t>
            </a:r>
          </a:p>
          <a:p/>
          <a:p>
            <a:r>
              <a:t>执行记录说明：先保存第一次无工具回答，再搜索并读取资料，最后形成独立终答。保留两次回答、资料来源和实际调用次数，作为后续评分依据。原独立执行案例页并入本页备注，正文不再重复展开三个步骤。</a:t>
            </a:r>
          </a:p>
          <a:p/>
          <a:p>
            <a:r>
              <a:t>汇总图说明：三行分别对应GLM、DeepSeek和Kimi，每一行表示在该被测模型内部，按同一个指标，对符合比较条件的配对任务分别计算CUDA与CANN的均分，然后看两侧差异。各指标可纳入任务数不同，图中没有声称每个均分都包含完整25题，也没有混合M1至M11或将三个模型的分数取总平均。统一评分与复核卡片去掉初评Logo，保留已核实的模型分工名称。</a:t>
            </a:r>
          </a:p>
          <a:p/>
          <a:p>
            <a:r>
              <a:t>本页右侧采用汇合图。CUDA与CANN只显示一组平台对照标识，三份对照结果分别来自GLM、DeepSeek与Kimi。汇合线表示查看不同模型结果中反复出现的问题，不表示把三个模型的均分求总平均，也不声称三个模型已得出完全一致的判断。图内没有展示实测结果或虚构分数。每个模型内部仍按同一指标、可比较配对题目分别汇总两侧，再检查跨模型方向、逐任务反例与共同可用任务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/Users/hsin/Documents/Coding/ai-usability-benchmark/experiments/full-rerun-protocol-20260921/results.json:36471</a:t>
            </a:r>
          </a:p>
          <a:p>
            <a:r>
              <a:t>/Users/hsin/Documents/Coding/ai-usability-benchmark/experiments/full-rerun-protocol-20260921/results.json:36668</a:t>
            </a:r>
          </a:p>
          <a:p>
            <a:r>
              <a:t>/Users/hsin/Documents/Coding/ai-usability-benchmark/experiments/full-rerun-protocol-20260921/results.json:36687</a:t>
            </a:r>
          </a:p>
          <a:p>
            <a:r>
              <a:t>/Users/hsin/Documents/Coding/ai-usability-benchmark/experiments/full-rerun-protocol-20260921/results.json:36710</a:t>
            </a:r>
          </a:p>
          <a:p>
            <a:r>
              <a:t>/Users/hsin/Documents/Coding/ai-usability-benchmark/experiments/full-rerun-protocol-20260921/results.json:36728</a:t>
            </a:r>
          </a:p>
          <a:p>
            <a:r>
              <a:t>/Users/hsin/Documents/Coding/ai-usability-benchmark/experiments/full-rerun-protocol-20260921/runs/B-cuda-kimi-k3-2-standard-20260921T095928/process.jsonl:12</a:t>
            </a:r>
          </a:p>
          <a:p>
            <a:r>
              <a:t>/Users/hsin/Documents/Coding/ai-usability-benchmark/experiments/full-rerun-protocol-20260921/runs/B-cuda-kimi-k3-2-standard-20260921T095928/process.jsonl:18</a:t>
            </a:r>
          </a:p>
          <a:p>
            <a:r>
              <a:t>/Users/hsin/Documents/Coding/ai-usability-benchmark/experiments/full-rerun-protocol-20260921/runs/B-cuda-kimi-k3-2-standard-20260921T095928/process.jsonl:48</a:t>
            </a:r>
          </a:p>
          <a:p>
            <a:r>
              <a:t>/Users/hsin/Documents/Coding/ai-usability-benchmark/experiments/full-rerun-protocol-20260921/assess.py:12</a:t>
            </a:r>
          </a:p>
          <a:p>
            <a:r>
              <a:t>/Users/hsin/Documents/Coding/ai-usability-benchmark/experiments/full-rerun-protocol-20260921/assess.py:17</a:t>
            </a:r>
          </a:p>
          <a:p>
            <a:r>
              <a:t>/Users/hsin/Documents/Coding/ai-usability-benchmark/experiments/full-rerun-protocol-20260921/protocol.json:78</a:t>
            </a:r>
          </a:p>
          <a:p>
            <a:r>
              <a:t>/Users/hsin/Documents/Coding/ai-usability-benchmark/experiments/full-rerun-protocol-20260921/frozen-skill/references/execution-checks.md:13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/Users/hsin/Documents/Coding/opknow/paper/ai-usability/revisions/full-rerun-20260921/manuscript-cn.md:230</a:t>
            </a:r>
          </a:p>
          <a:p>
            <a:r>
              <a:t>/Users/hsin/Documents/Coding/opknow/paper/ai-usability/revisions/full-rerun-20260921/manuscript-cn.md:232</a:t>
            </a:r>
          </a:p>
          <a:p>
            <a:r>
              <a:t>/Users/hsin/Documents/Coding/opknow/paper/ai-usability/revisions/full-rerun-20260921/manuscript-cn.md:429</a:t>
            </a:r>
          </a:p>
          <a:p>
            <a:r>
              <a:t>/Users/hsin/Documents/Coding/opknow/paper/ai-usability/revisions/full-rerun-20260921/manuscript-cn.md:431</a:t>
            </a:r>
          </a:p>
          <a:p>
            <a:r>
              <a:t>/Users/hsin/Documents/Coding/opknow/paper/ai-usability/slides/实验方法与过程-20261008/sources/评分模型核对记录.json /roles</a:t>
            </a:r>
          </a:p>
          <a:p>
            <a:r>
              <a:t>/Users/hsin/Documents/Coding/ai-usability-benchmark/experiments/full-rerun-protocol-20260921/RUNNING.md:31</a:t>
            </a:r>
          </a:p>
          <a:p>
            <a:r>
              <a:t>/Users/hsin/Documents/Coding/ai-usability-benchmark/experiments/full-rerun-protocol-20260921/consolidate_evaluations.py:89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/Users/hsin/Documents/Coding/opknow/paper/ai-usability/revisions/full-rerun-20260921/manuscript-cn.md:238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/Users/hsin/Documents/Coding/opknow/paper/ai-usability/revisions/full-rerun-20260921/manuscript-cn.md:97</a:t>
            </a:r>
          </a:p>
          <a:p>
            <a:r>
              <a:t>/Users/hsin/Documents/Coding/opknow/paper/ai-usability/revisions/full-rerun-20260921/manuscript-cn.md:99</a:t>
            </a:r>
          </a:p>
          <a:p>
            <a:r>
              <a:t>/Users/hsin/Documents/Coding/opknow/paper/ai-usability/revisions/full-rerun-20260921/manuscript-cn.md:298</a:t>
            </a:r>
          </a:p>
          <a:p>
            <a:r>
              <a:t>/Users/hsin/Documents/Coding/opknow/paper/ai-usability/revisions/full-rerun-20260921/manuscript-cn.md:290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>
            <a:r>
              <a:t>https://raw.githubusercontent.com/zai-org/GLM-5/main/resources/logo.svg </a:t>
            </a:r>
          </a:p>
          <a:p>
            <a:r>
              <a:t>https://www.deepseek.com/ </a:t>
            </a:r>
          </a:p>
          <a:p>
            <a:r>
              <a:t>https://www.kimi.com/en/resources/kimi-brand </a:t>
            </a:r>
          </a:p>
          <a:p>
            <a:r>
              <a:t>https://kimi-file.kimi.ai/prod-chat-kimi/kfs/4/1/2026-08-12/1d9u74p1l51jas5cp5oq0?response-content-disposition=attachment%3Bfilename%3Dkimi-logo-assets.zip </a:t>
            </a:r>
          </a:p>
          <a:p>
            <a:r>
              <a:t>/Users/hsin/Documents/Coding/ai-usability-benchmark/experiments/full-rerun-protocol-20260921/runs/B-cuda-kimi-k3-2-standard-20260921T095928/process.jsonl:7</a:t>
            </a:r>
          </a:p>
          <a:p>
            <a:r>
              <a:t>/Users/hsin/Documents/Coding/ai-usability-benchmark/experiments/full-rerun-protocol-20260921/runs/B-cuda-kimi-k3-2-standard-20260921T095928/process.jsonl:24</a:t>
            </a:r>
          </a:p>
          <a:p>
            <a:r>
              <a:t>/Users/hsin/Documents/Coding/ai-usability-benchmark/experiments/full-rerun-protocol-20260921/runs/B-cuda-kimi-k3-2-standard-20260921T095928/process.jsonl:30</a:t>
            </a:r>
          </a:p>
          <a:p>
            <a:r>
              <a:t>/Users/hsin/Documents/Coding/ai-usability-benchmark/experiments/full-rerun-protocol-20260921/runs/B-cuda-kimi-k3-2-standard-20260921T095928/process.jsonl:35</a:t>
            </a:r>
          </a:p>
          <a:p>
            <a:r>
              <a:t>/Users/hsin/Documents/Coding/ai-usability-benchmark/experiments/full-rerun-protocol-20260921/runs/B-cuda-kimi-k3-2-standard-20260921T095928/process.jsonl:41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本页展示将实验方法沉淀为可重复使用的Benchmark Skill。任务、平台和实际执行模型是可配置输入，页面列多个示例，说明方法可以在其他对象上复用。任务示例包括性能瓶颈定位、模型转换与部署和版本配套排查。当前正式实验的平台为CANN与CUDA，实际执行模型为GLM-5.3、DeepSeek V4.1 Flash和Kimi（kimi-k3-2）。华为云等平台属于可扩展示例，并非本次已经完成的实测结果。</a:t>
            </a:r>
          </a:p>
          <a:p/>
          <a:p>
            <a:r>
              <a:t>实际Skill允许用户指定其他生态，也允许使用其他具备所需工具的模型。扩展前需要明确具体任务和服务、资料范围、执行条件与评分适用范围，配置后复用实验和评价流程。本页不声称只替换名称即可自动完成其他平台的评测。正式批次采用冻结版本，当前安装入口的默认评分定义与正式批次分别管理。</a:t>
            </a:r>
          </a:p>
          <a:p/>
          <a:p>
            <a:r>
              <a:t>流程依次为准备实验、执行实验、评分与复核。准备阶段选择输入并确定实验要求；执行阶段先保存无工具回答，再检索资料并形成最终回答；后续按照对应规则评价并回查证据。执行实验保留process.jsonl，评分与复核保留evaluation.json。虚线只表示动作产生或保存对应文件，过程记录和评分记录并不构成新的实验步骤。评分可回查过程文件中的原始证据，因此记录支持后续复核。</a:t>
            </a:r>
          </a:p>
          <a:p/>
          <a:p>
            <a:r>
              <a:t>下方两份真实片段都来自同一次B题/CANN/GLM-5.3性能分析运行。过程文件展示原问句、首次查询和首条搜索结果。评价文件展示M1官方发现指标的5分及其判分依据，并非整个实验的总分。真实记录片段及文件名保留，用于说明输出可以回溯原始证据；这些片段不属于华为云或其他扩展对象。</a:t>
            </a:r>
          </a:p>
          <a:p/>
          <a:p>
            <a:r>
              <a:t>资料依据：</a:t>
            </a:r>
          </a:p>
          <a:p>
            <a:r>
              <a:t>/Users/hsin/Documents/Coding/ai-usability-benchmark/experiments/full-rerun-protocol-20260921/frozen-skill/SKILL.md:6</a:t>
            </a:r>
          </a:p>
          <a:p>
            <a:r>
              <a:t>/Users/hsin/Documents/Coding/ai-usability-benchmark/experiments/full-rerun-protocol-20260921/frozen-skill/references/recording.md </a:t>
            </a:r>
          </a:p>
          <a:p>
            <a:r>
              <a:t>/Users/hsin/Documents/Coding/ai-usability-benchmark/experiments/full-rerun-protocol-20260921/frozen-skill/references/post-evaluation.md </a:t>
            </a:r>
          </a:p>
          <a:p>
            <a:r>
              <a:t>/Users/hsin/Documents/Coding/ai-usability-benchmark/experiments/full-rerun-protocol-20260921/frozen-skill/references/execution-checks.md </a:t>
            </a:r>
          </a:p>
          <a:p>
            <a:r>
              <a:t>/Users/hsin/Documents/Coding/ai-usability-benchmark/experiments/full-rerun-protocol-20260921/README.md:21</a:t>
            </a:r>
          </a:p>
          <a:p>
            <a:r>
              <a:t>/Users/hsin/Documents/Coding/opknow/paper/ai-usability/revisions/full-rerun-20260921/manuscript-cn.md:145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/Users/hsin/Documents/Coding/ai-usability-benchmark/experiments/full-rerun-protocol-20260921/runs/B-cann-glm-5_3-standard-20260921T100328/process.jsonl:1</a:t>
            </a:r>
          </a:p>
          <a:p>
            <a:r>
              <a:t>/Users/hsin/Documents/Coding/ai-usability-benchmark/experiments/full-rerun-protocol-20260921/runs/B-cann-glm-5_3-standard-20260921T100328/process.jsonl:9</a:t>
            </a:r>
          </a:p>
          <a:p>
            <a:r>
              <a:t>/Users/hsin/Documents/Coding/ai-usability-benchmark/experiments/full-rerun-protocol-20260921/runs/B-cann-glm-5_3-standard-20260921T100328/process.jsonl:12</a:t>
            </a:r>
          </a:p>
          <a:p>
            <a:r>
              <a:t>/Users/hsin/Documents/Coding/ai-usability-benchmark/experiments/full-rerun-protocol-20260921/runs/B-cann-glm-5_3-standard-20260921T100328/evaluation.json /revisions/12/evaluation/metrics/0</a:t>
            </a:r>
          </a:p>
          <a:p>
            <a:r>
              <a:t>/Users/hsin/.codex/skills/ai-usability-benchmark/SKILL.md:9</a:t>
            </a:r>
          </a:p>
          <a:p>
            <a:r>
              <a:t>/Users/hsin/Documents/Coding/ai-usability-benchmark/experiments/full-rerun-protocol-20260921/protocol.json /ecosystems</a:t>
            </a:r>
          </a:p>
          <a:p>
            <a:r>
              <a:t>/Users/hsin/Documents/Coding/opknow/paper/ai-usability/revisions/full-rerun-20260921/manuscript-cn.md:205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image" Target="../media/image18.png"/><Relationship Id="rId1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5BD6"/>
                </a:solidFill>
                <a:latin typeface="Menlo"/>
                <a:ea typeface="PingFang SC"/>
              </a:rPr>
              <a:t>实验整体流程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实验方法概览</a:t>
            </a:r>
          </a:p>
        </p:txBody>
      </p:sp>
      <p:sp>
        <p:nvSpPr>
          <p:cNvPr id="7" name="实验方法阶段：任务与流程分析"/>
          <p:cNvSpPr/>
          <p:nvPr/>
        </p:nvSpPr>
        <p:spPr>
          <a:xfrm>
            <a:off x="62179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D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任务与流程分析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沿开发工作流拆解任务
定位知识获取和指标位置</a:t>
            </a:r>
          </a:p>
        </p:txBody>
      </p:sp>
      <p:sp>
        <p:nvSpPr>
          <p:cNvPr id="10" name="实验方法阶段：指标与评分规则"/>
          <p:cNvSpPr/>
          <p:nvPr/>
        </p:nvSpPr>
        <p:spPr>
          <a:xfrm>
            <a:off x="341071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D7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2C6975"/>
                </a:solidFill>
                <a:latin typeface="PingFang SC"/>
                <a:ea typeface="PingFang SC"/>
              </a:rPr>
              <a:t>指标与评分规则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定义指标，明确评分标准
按可核验证据判分</a:t>
            </a:r>
          </a:p>
        </p:txBody>
      </p:sp>
      <p:sp>
        <p:nvSpPr>
          <p:cNvPr id="13" name="实验方法阶段：问题对与实验执行"/>
          <p:cNvSpPr/>
          <p:nvPr/>
        </p:nvSpPr>
        <p:spPr>
          <a:xfrm>
            <a:off x="619963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DF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6F5F"/>
                </a:solidFill>
                <a:latin typeface="PingFang SC"/>
                <a:ea typeface="PingFang SC"/>
              </a:rPr>
              <a:t>问题对与实验执行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同一任务分别设置两侧问题
按统一要求执行实验</a:t>
            </a:r>
          </a:p>
        </p:txBody>
      </p:sp>
      <p:sp>
        <p:nvSpPr>
          <p:cNvPr id="16" name="实验方法阶段：评分复核与方法沉淀"/>
          <p:cNvSpPr/>
          <p:nvPr/>
        </p:nvSpPr>
        <p:spPr>
          <a:xfrm>
            <a:off x="898855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EAE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1656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评分复核与方法沉淀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复核评分，比较结果
保存证据，复用实验方法</a:t>
            </a:r>
          </a:p>
        </p:txBody>
      </p:sp>
      <p:sp>
        <p:nvSpPr>
          <p:cNvPr id="19" name="真实材料图示区域：workflow"/>
          <p:cNvSpPr/>
          <p:nvPr/>
        </p:nvSpPr>
        <p:spPr>
          <a:xfrm>
            <a:off x="62179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现有知识获取Workflow完整图示" descr="slide-2.png"/>
          <p:cNvPicPr>
            <a:picLocks noChangeAspect="1"/>
          </p:cNvPicPr>
          <p:nvPr/>
        </p:nvPicPr>
        <p:blipFill>
          <a:blip r:embed="rId3"/>
          <a:srcRect l="5312" t="17130" r="6510" b="2685"/>
          <a:stretch>
            <a:fillRect/>
          </a:stretch>
        </p:blipFill>
        <p:spPr>
          <a:xfrm>
            <a:off x="621792" y="3638177"/>
            <a:ext cx="2578608" cy="1319004"/>
          </a:xfrm>
          <a:prstGeom prst="rect">
            <a:avLst/>
          </a:prstGeom>
        </p:spPr>
      </p:pic>
      <p:sp>
        <p:nvSpPr>
          <p:cNvPr id="21" name="真实材料图示区域：rubric"/>
          <p:cNvSpPr/>
          <p:nvPr/>
        </p:nvSpPr>
        <p:spPr>
          <a:xfrm>
            <a:off x="341071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现有五档评分标准图示" descr="slide-2.png"/>
          <p:cNvPicPr>
            <a:picLocks noChangeAspect="1"/>
          </p:cNvPicPr>
          <p:nvPr/>
        </p:nvPicPr>
        <p:blipFill>
          <a:blip r:embed="rId4"/>
          <a:srcRect l="3906" t="15741" r="3906" b="6481"/>
          <a:stretch>
            <a:fillRect/>
          </a:stretch>
        </p:blipFill>
        <p:spPr>
          <a:xfrm>
            <a:off x="3410712" y="3685806"/>
            <a:ext cx="2578608" cy="1223746"/>
          </a:xfrm>
          <a:prstGeom prst="rect">
            <a:avLst/>
          </a:prstGeom>
        </p:spPr>
      </p:pic>
      <p:sp>
        <p:nvSpPr>
          <p:cNvPr id="23" name="真实材料图示区域：pairs"/>
          <p:cNvSpPr/>
          <p:nvPr/>
        </p:nvSpPr>
        <p:spPr>
          <a:xfrm>
            <a:off x="619963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B任务CUDA原有问题示例" descr="slide-4.png"/>
          <p:cNvPicPr>
            <a:picLocks noChangeAspect="1"/>
          </p:cNvPicPr>
          <p:nvPr/>
        </p:nvPicPr>
        <p:blipFill>
          <a:blip r:embed="rId5"/>
          <a:srcRect l="5104" t="51389" r="52188" b="16667"/>
          <a:stretch>
            <a:fillRect/>
          </a:stretch>
        </p:blipFill>
        <p:spPr>
          <a:xfrm>
            <a:off x="6199632" y="3156296"/>
            <a:ext cx="2578608" cy="1084902"/>
          </a:xfrm>
          <a:prstGeom prst="rect">
            <a:avLst/>
          </a:prstGeom>
        </p:spPr>
      </p:pic>
      <p:pic>
        <p:nvPicPr>
          <p:cNvPr id="25" name="B任务CANN原有问题示例" descr="slide-4.png"/>
          <p:cNvPicPr>
            <a:picLocks noChangeAspect="1"/>
          </p:cNvPicPr>
          <p:nvPr/>
        </p:nvPicPr>
        <p:blipFill>
          <a:blip r:embed="rId5"/>
          <a:srcRect l="52188" t="51389" r="5052" b="16667"/>
          <a:stretch>
            <a:fillRect/>
          </a:stretch>
        </p:blipFill>
        <p:spPr>
          <a:xfrm>
            <a:off x="6199632" y="4354821"/>
            <a:ext cx="2578608" cy="1083580"/>
          </a:xfrm>
          <a:prstGeom prst="rect">
            <a:avLst/>
          </a:prstGeom>
        </p:spPr>
      </p:pic>
      <p:sp>
        <p:nvSpPr>
          <p:cNvPr id="26" name="真实材料图示区域：records"/>
          <p:cNvSpPr/>
          <p:nvPr/>
        </p:nvSpPr>
        <p:spPr>
          <a:xfrm>
            <a:off x="898855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真实过程记录文件及原文片段" descr="slide-6.png"/>
          <p:cNvPicPr>
            <a:picLocks noChangeAspect="1"/>
          </p:cNvPicPr>
          <p:nvPr/>
        </p:nvPicPr>
        <p:blipFill>
          <a:blip r:embed="rId6"/>
          <a:srcRect l="25990" t="43611" r="43125" b="30741"/>
          <a:stretch>
            <a:fillRect/>
          </a:stretch>
        </p:blipFill>
        <p:spPr>
          <a:xfrm>
            <a:off x="9113118" y="3154680"/>
            <a:ext cx="2329475" cy="1088136"/>
          </a:xfrm>
          <a:prstGeom prst="rect">
            <a:avLst/>
          </a:prstGeom>
        </p:spPr>
      </p:pic>
      <p:pic>
        <p:nvPicPr>
          <p:cNvPr id="28" name="真实评分记录文件及原文片段" descr="slide-6.png"/>
          <p:cNvPicPr>
            <a:picLocks noChangeAspect="1"/>
          </p:cNvPicPr>
          <p:nvPr/>
        </p:nvPicPr>
        <p:blipFill>
          <a:blip r:embed="rId6"/>
          <a:srcRect l="65312" t="43611" r="3854" b="34167"/>
          <a:stretch>
            <a:fillRect/>
          </a:stretch>
        </p:blipFill>
        <p:spPr>
          <a:xfrm>
            <a:off x="8988552" y="4373921"/>
            <a:ext cx="2578608" cy="10453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06079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6079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876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5BD6"/>
                </a:solidFill>
                <a:latin typeface="Menlo"/>
                <a:ea typeface="PingFang SC"/>
              </a:rPr>
              <a:t>任务分析 · 指标定位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知识获取流程与指标定位</a:t>
            </a:r>
          </a:p>
        </p:txBody>
      </p:sp>
      <p:cxnSp>
        <p:nvCxnSpPr>
          <p:cNvPr id="13" name="E04 N01_N04 to N05_N06"/>
          <p:cNvCxnSpPr/>
          <p:nvPr/>
        </p:nvCxnSpPr>
        <p:spPr>
          <a:xfrm>
            <a:off x="4412482" y="1700784"/>
            <a:ext cx="0" cy="109728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4" name="E06 N05_N06 to N07"/>
          <p:cNvCxnSpPr/>
          <p:nvPr/>
        </p:nvCxnSpPr>
        <p:spPr>
          <a:xfrm>
            <a:off x="4412482" y="2240280"/>
            <a:ext cx="0" cy="59436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5" name="E06 N05_N06 to N07"/>
          <p:cNvCxnSpPr/>
          <p:nvPr/>
        </p:nvCxnSpPr>
        <p:spPr>
          <a:xfrm flipH="1">
            <a:off x="2542077" y="2299716"/>
            <a:ext cx="1870405" cy="0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6" name="E06 N05_N06 to N07"/>
          <p:cNvCxnSpPr/>
          <p:nvPr/>
        </p:nvCxnSpPr>
        <p:spPr>
          <a:xfrm>
            <a:off x="2542077" y="2299716"/>
            <a:ext cx="0" cy="59436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7" name="E07 N07 to N08"/>
          <p:cNvCxnSpPr/>
          <p:nvPr/>
        </p:nvCxnSpPr>
        <p:spPr>
          <a:xfrm>
            <a:off x="2542077" y="2944368"/>
            <a:ext cx="0" cy="146304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8" name="E08 N08 to N10"/>
          <p:cNvCxnSpPr/>
          <p:nvPr/>
        </p:nvCxnSpPr>
        <p:spPr>
          <a:xfrm>
            <a:off x="2542077" y="3675887"/>
            <a:ext cx="0" cy="68581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19" name="E08 N08 to N10"/>
          <p:cNvCxnSpPr/>
          <p:nvPr/>
        </p:nvCxnSpPr>
        <p:spPr>
          <a:xfrm>
            <a:off x="2542077" y="3744468"/>
            <a:ext cx="1309284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0" name="E08 N08 to N10"/>
          <p:cNvCxnSpPr/>
          <p:nvPr/>
        </p:nvCxnSpPr>
        <p:spPr>
          <a:xfrm>
            <a:off x="3851361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1" name="E09 N09 to N10"/>
          <p:cNvCxnSpPr/>
          <p:nvPr/>
        </p:nvCxnSpPr>
        <p:spPr>
          <a:xfrm>
            <a:off x="8546078" y="2944368"/>
            <a:ext cx="0" cy="80010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2" name="E09 N09 to N10"/>
          <p:cNvCxnSpPr/>
          <p:nvPr/>
        </p:nvCxnSpPr>
        <p:spPr>
          <a:xfrm flipH="1">
            <a:off x="4786563" y="3744468"/>
            <a:ext cx="3759515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3" name="E09 N09 to N10"/>
          <p:cNvCxnSpPr/>
          <p:nvPr/>
        </p:nvCxnSpPr>
        <p:spPr>
          <a:xfrm>
            <a:off x="4786563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4" name="E10 N10 to N11"/>
          <p:cNvCxnSpPr/>
          <p:nvPr/>
        </p:nvCxnSpPr>
        <p:spPr>
          <a:xfrm>
            <a:off x="3851361" y="4398264"/>
            <a:ext cx="0" cy="118872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5" name="E11 N05_N06 to N09"/>
          <p:cNvCxnSpPr/>
          <p:nvPr/>
        </p:nvCxnSpPr>
        <p:spPr>
          <a:xfrm>
            <a:off x="6881362" y="2025395"/>
            <a:ext cx="1664716" cy="0"/>
          </a:xfrm>
          <a:prstGeom prst="line">
            <a:avLst/>
          </a:prstGeom>
          <a:ln w="12700">
            <a:solidFill>
              <a:srgbClr val="356F50"/>
            </a:solidFill>
          </a:ln>
        </p:spPr>
      </p:cxnSp>
      <p:cxnSp>
        <p:nvCxnSpPr>
          <p:cNvPr id="26" name="E11 N05_N06 to N09"/>
          <p:cNvCxnSpPr/>
          <p:nvPr/>
        </p:nvCxnSpPr>
        <p:spPr>
          <a:xfrm>
            <a:off x="8546078" y="2025395"/>
            <a:ext cx="0" cy="333757"/>
          </a:xfrm>
          <a:prstGeom prst="line">
            <a:avLst/>
          </a:prstGeom>
          <a:ln w="12700">
            <a:solidFill>
              <a:srgbClr val="356F50"/>
            </a:solidFill>
            <a:tailEnd type="triangle" w="sm" len="sm"/>
          </a:ln>
        </p:spPr>
      </p:cxnSp>
      <p:cxnSp>
        <p:nvCxnSpPr>
          <p:cNvPr id="27" name="E12 N11 to N12"/>
          <p:cNvCxnSpPr/>
          <p:nvPr/>
        </p:nvCxnSpPr>
        <p:spPr>
          <a:xfrm>
            <a:off x="3851361" y="5230368"/>
            <a:ext cx="0" cy="11887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8" name="E13 N12 to N15"/>
          <p:cNvCxnSpPr/>
          <p:nvPr/>
        </p:nvCxnSpPr>
        <p:spPr>
          <a:xfrm>
            <a:off x="3851361" y="5641848"/>
            <a:ext cx="0" cy="43891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9" name="E14 N11 to N13"/>
          <p:cNvCxnSpPr/>
          <p:nvPr/>
        </p:nvCxnSpPr>
        <p:spPr>
          <a:xfrm flipV="1">
            <a:off x="5703021" y="4873751"/>
            <a:ext cx="205831" cy="1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0" name="E15 N13 to N05_N06"/>
          <p:cNvCxnSpPr/>
          <p:nvPr/>
        </p:nvCxnSpPr>
        <p:spPr>
          <a:xfrm>
            <a:off x="10023652" y="4873751"/>
            <a:ext cx="134673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1" name="E15 N13 to N05_N06"/>
          <p:cNvCxnSpPr/>
          <p:nvPr/>
        </p:nvCxnSpPr>
        <p:spPr>
          <a:xfrm flipV="1">
            <a:off x="11370390" y="1755648"/>
            <a:ext cx="0" cy="3118103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2" name="E15 N13 to N05_N06"/>
          <p:cNvCxnSpPr/>
          <p:nvPr/>
        </p:nvCxnSpPr>
        <p:spPr>
          <a:xfrm flipH="1">
            <a:off x="4412482" y="1755648"/>
            <a:ext cx="695790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3" name="E15 N13 to N05_N06"/>
          <p:cNvCxnSpPr/>
          <p:nvPr/>
        </p:nvCxnSpPr>
        <p:spPr>
          <a:xfrm>
            <a:off x="4412482" y="1755648"/>
            <a:ext cx="0" cy="54864"/>
          </a:xfrm>
          <a:prstGeom prst="line">
            <a:avLst/>
          </a:prstGeom>
          <a:ln w="12700">
            <a:solidFill>
              <a:srgbClr val="8A563E"/>
            </a:solidFill>
            <a:prstDash val="dash"/>
            <a:tailEnd type="triangle" w="sm" len="sm"/>
          </a:ln>
        </p:spPr>
      </p:cxnSp>
      <p:cxnSp>
        <p:nvCxnSpPr>
          <p:cNvPr id="34" name="E16 N13 to N14"/>
          <p:cNvCxnSpPr/>
          <p:nvPr/>
        </p:nvCxnSpPr>
        <p:spPr>
          <a:xfrm>
            <a:off x="7966252" y="5157216"/>
            <a:ext cx="0" cy="201168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5" name="E17 N14 to N15"/>
          <p:cNvCxnSpPr/>
          <p:nvPr/>
        </p:nvCxnSpPr>
        <p:spPr>
          <a:xfrm flipH="1">
            <a:off x="5486400" y="5660136"/>
            <a:ext cx="79552" cy="0"/>
          </a:xfrm>
          <a:prstGeom prst="line">
            <a:avLst/>
          </a:prstGeom>
          <a:ln w="12700">
            <a:solidFill>
              <a:srgbClr val="356F5F"/>
            </a:solidFill>
          </a:ln>
        </p:spPr>
      </p:cxnSp>
      <p:cxnSp>
        <p:nvCxnSpPr>
          <p:cNvPr id="36" name="E17 N14 to N15"/>
          <p:cNvCxnSpPr/>
          <p:nvPr/>
        </p:nvCxnSpPr>
        <p:spPr>
          <a:xfrm>
            <a:off x="5486400" y="5660136"/>
            <a:ext cx="0" cy="420624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37" name="E18 N14 to N15"/>
          <p:cNvCxnSpPr/>
          <p:nvPr/>
        </p:nvCxnSpPr>
        <p:spPr>
          <a:xfrm>
            <a:off x="7966252" y="5961888"/>
            <a:ext cx="0" cy="118872"/>
          </a:xfrm>
          <a:prstGeom prst="line">
            <a:avLst/>
          </a:prstGeom>
          <a:ln w="12700">
            <a:solidFill>
              <a:srgbClr val="9C5968"/>
            </a:solidFill>
            <a:prstDash val="dash"/>
            <a:tailEnd type="triangle" w="sm" len="sm"/>
          </a:ln>
        </p:spPr>
      </p:cxnSp>
      <p:cxnSp>
        <p:nvCxnSpPr>
          <p:cNvPr id="38" name="E19 N05_N06 to N08"/>
          <p:cNvCxnSpPr/>
          <p:nvPr/>
        </p:nvCxnSpPr>
        <p:spPr>
          <a:xfrm>
            <a:off x="4412482" y="2299716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39" name="E19 N05_N06 to N08"/>
          <p:cNvCxnSpPr/>
          <p:nvPr/>
        </p:nvCxnSpPr>
        <p:spPr>
          <a:xfrm>
            <a:off x="4736592" y="2299716"/>
            <a:ext cx="0" cy="1083563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40" name="E19 N05_N06 to N08"/>
          <p:cNvCxnSpPr/>
          <p:nvPr/>
        </p:nvCxnSpPr>
        <p:spPr>
          <a:xfrm flipH="1">
            <a:off x="4412482" y="3383279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  <a:tailEnd type="triangle" w="sm" len="sm"/>
          </a:ln>
        </p:spPr>
      </p:cxnSp>
      <p:sp>
        <p:nvSpPr>
          <p:cNvPr id="41" name="Workflow 节点 N01_N04 开发任务／用户问句"/>
          <p:cNvSpPr/>
          <p:nvPr/>
        </p:nvSpPr>
        <p:spPr>
          <a:xfrm>
            <a:off x="2812282" y="1188720"/>
            <a:ext cx="3200400" cy="512064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N01_N04 开发任务／用户问句"/>
          <p:cNvSpPr txBox="1"/>
          <p:nvPr/>
        </p:nvSpPr>
        <p:spPr>
          <a:xfrm>
            <a:off x="2940298" y="1216151"/>
            <a:ext cx="29443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54B58"/>
                </a:solidFill>
                <a:latin typeface="PingFang SC"/>
                <a:ea typeface="PingFang SC"/>
              </a:rPr>
              <a:t>开发任务／用户问句</a:t>
            </a:r>
          </a:p>
        </p:txBody>
      </p:sp>
      <p:sp>
        <p:nvSpPr>
          <p:cNvPr id="43" name="N01_N04 组装上下文 → 意图解析 → 子目标拆解"/>
          <p:cNvSpPr txBox="1"/>
          <p:nvPr/>
        </p:nvSpPr>
        <p:spPr>
          <a:xfrm>
            <a:off x="2940298" y="1490472"/>
            <a:ext cx="2944368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54B58"/>
                </a:solidFill>
                <a:latin typeface="PingFang SC"/>
                <a:ea typeface="PingFang SC"/>
              </a:rPr>
              <a:t>组装上下文 → 意图解析 → 子目标拆解</a:t>
            </a:r>
          </a:p>
        </p:txBody>
      </p:sp>
      <p:sp>
        <p:nvSpPr>
          <p:cNvPr id="44" name="Workflow 节点 N05_N06 是否需要外部资料？"/>
          <p:cNvSpPr/>
          <p:nvPr/>
        </p:nvSpPr>
        <p:spPr>
          <a:xfrm>
            <a:off x="1943602" y="1810512"/>
            <a:ext cx="4937760" cy="429768"/>
          </a:xfrm>
          <a:prstGeom prst="diamond">
            <a:avLst/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N05_N06 是否需要外部资料？"/>
          <p:cNvSpPr txBox="1"/>
          <p:nvPr/>
        </p:nvSpPr>
        <p:spPr>
          <a:xfrm>
            <a:off x="2338623" y="1920239"/>
            <a:ext cx="4147718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54B58"/>
                </a:solidFill>
                <a:latin typeface="PingFang SC"/>
                <a:ea typeface="PingFang SC"/>
              </a:rPr>
              <a:t>是否需要外部资料？</a:t>
            </a:r>
          </a:p>
        </p:txBody>
      </p:sp>
      <p:sp>
        <p:nvSpPr>
          <p:cNvPr id="46" name="Workflow 节点 N07 web_search 搜索候选"/>
          <p:cNvSpPr/>
          <p:nvPr/>
        </p:nvSpPr>
        <p:spPr>
          <a:xfrm>
            <a:off x="671672" y="235915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CEBFA"/>
          </a:solidFill>
          <a:ln w="10160">
            <a:solidFill>
              <a:srgbClr val="ADC4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N07 web_search 搜索候选"/>
          <p:cNvSpPr txBox="1"/>
          <p:nvPr/>
        </p:nvSpPr>
        <p:spPr>
          <a:xfrm>
            <a:off x="821304" y="239572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5E85"/>
                </a:solidFill>
                <a:latin typeface="PingFang SC"/>
                <a:ea typeface="PingFang SC"/>
              </a:rPr>
              <a:t>web_search 搜索候选</a:t>
            </a:r>
          </a:p>
        </p:txBody>
      </p:sp>
      <p:sp>
        <p:nvSpPr>
          <p:cNvPr id="48" name="指标标签 M1"/>
          <p:cNvSpPr/>
          <p:nvPr/>
        </p:nvSpPr>
        <p:spPr>
          <a:xfrm>
            <a:off x="1257345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指标编码 M1"/>
          <p:cNvSpPr txBox="1"/>
          <p:nvPr/>
        </p:nvSpPr>
        <p:spPr>
          <a:xfrm>
            <a:off x="1257345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</a:t>
            </a:r>
          </a:p>
        </p:txBody>
      </p:sp>
      <p:sp>
        <p:nvSpPr>
          <p:cNvPr id="50" name="指标说明 M1"/>
          <p:cNvSpPr txBox="1"/>
          <p:nvPr/>
        </p:nvSpPr>
        <p:spPr>
          <a:xfrm>
            <a:off x="1728261" y="2674620"/>
            <a:ext cx="6400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官方发现</a:t>
            </a:r>
          </a:p>
        </p:txBody>
      </p:sp>
      <p:sp>
        <p:nvSpPr>
          <p:cNvPr id="51" name="指标标签 M5"/>
          <p:cNvSpPr/>
          <p:nvPr/>
        </p:nvSpPr>
        <p:spPr>
          <a:xfrm>
            <a:off x="2532933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指标编码 M5"/>
          <p:cNvSpPr txBox="1"/>
          <p:nvPr/>
        </p:nvSpPr>
        <p:spPr>
          <a:xfrm>
            <a:off x="2532933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M5</a:t>
            </a:r>
          </a:p>
        </p:txBody>
      </p:sp>
      <p:sp>
        <p:nvSpPr>
          <p:cNvPr id="53" name="指标说明 M5"/>
          <p:cNvSpPr txBox="1"/>
          <p:nvPr/>
        </p:nvSpPr>
        <p:spPr>
          <a:xfrm>
            <a:off x="3003849" y="2674620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第三方数量</a:t>
            </a:r>
          </a:p>
        </p:txBody>
      </p:sp>
      <p:sp>
        <p:nvSpPr>
          <p:cNvPr id="54" name="Workflow 节点 N08 web_fetch 读取正文"/>
          <p:cNvSpPr/>
          <p:nvPr/>
        </p:nvSpPr>
        <p:spPr>
          <a:xfrm>
            <a:off x="671672" y="309067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8F1F3"/>
          </a:solidFill>
          <a:ln w="10160">
            <a:solidFill>
              <a:srgbClr val="A9CB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N08 web_fetch 读取正文"/>
          <p:cNvSpPr txBox="1"/>
          <p:nvPr/>
        </p:nvSpPr>
        <p:spPr>
          <a:xfrm>
            <a:off x="821304" y="312724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2F6873"/>
                </a:solidFill>
                <a:latin typeface="PingFang SC"/>
                <a:ea typeface="PingFang SC"/>
              </a:rPr>
              <a:t>web_fetch 读取正文</a:t>
            </a:r>
          </a:p>
        </p:txBody>
      </p:sp>
      <p:sp>
        <p:nvSpPr>
          <p:cNvPr id="56" name="指标标签 M2"/>
          <p:cNvSpPr/>
          <p:nvPr/>
        </p:nvSpPr>
        <p:spPr>
          <a:xfrm>
            <a:off x="1330497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指标编码 M2"/>
          <p:cNvSpPr txBox="1"/>
          <p:nvPr/>
        </p:nvSpPr>
        <p:spPr>
          <a:xfrm>
            <a:off x="1330497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M2</a:t>
            </a:r>
          </a:p>
        </p:txBody>
      </p:sp>
      <p:sp>
        <p:nvSpPr>
          <p:cNvPr id="58" name="指标说明 M2"/>
          <p:cNvSpPr txBox="1"/>
          <p:nvPr/>
        </p:nvSpPr>
        <p:spPr>
          <a:xfrm>
            <a:off x="1801413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正文取得</a:t>
            </a:r>
          </a:p>
        </p:txBody>
      </p:sp>
      <p:sp>
        <p:nvSpPr>
          <p:cNvPr id="59" name="指标标签 M3"/>
          <p:cNvSpPr/>
          <p:nvPr/>
        </p:nvSpPr>
        <p:spPr>
          <a:xfrm>
            <a:off x="2624373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指标编码 M3"/>
          <p:cNvSpPr txBox="1"/>
          <p:nvPr/>
        </p:nvSpPr>
        <p:spPr>
          <a:xfrm>
            <a:off x="2624373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M3</a:t>
            </a:r>
          </a:p>
        </p:txBody>
      </p:sp>
      <p:sp>
        <p:nvSpPr>
          <p:cNvPr id="61" name="指标说明 M3"/>
          <p:cNvSpPr txBox="1"/>
          <p:nvPr/>
        </p:nvSpPr>
        <p:spPr>
          <a:xfrm>
            <a:off x="3095289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内容支撑</a:t>
            </a:r>
          </a:p>
        </p:txBody>
      </p:sp>
      <p:sp>
        <p:nvSpPr>
          <p:cNvPr id="62" name="Workflow 节点 N09 模型自带知识"/>
          <p:cNvSpPr/>
          <p:nvPr/>
        </p:nvSpPr>
        <p:spPr>
          <a:xfrm>
            <a:off x="6488678" y="2359152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DFF3E5"/>
          </a:solidFill>
          <a:ln w="10160">
            <a:solidFill>
              <a:srgbClr val="AFCE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N09 模型自带知识"/>
          <p:cNvSpPr txBox="1"/>
          <p:nvPr/>
        </p:nvSpPr>
        <p:spPr>
          <a:xfrm>
            <a:off x="6653270" y="2395728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6F50"/>
                </a:solidFill>
                <a:latin typeface="PingFang SC"/>
                <a:ea typeface="PingFang SC"/>
              </a:rPr>
              <a:t>模型自带知识</a:t>
            </a:r>
          </a:p>
        </p:txBody>
      </p:sp>
      <p:sp>
        <p:nvSpPr>
          <p:cNvPr id="64" name="指标标签 M7"/>
          <p:cNvSpPr/>
          <p:nvPr/>
        </p:nvSpPr>
        <p:spPr>
          <a:xfrm>
            <a:off x="7259060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6F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指标编码 M7"/>
          <p:cNvSpPr txBox="1"/>
          <p:nvPr/>
        </p:nvSpPr>
        <p:spPr>
          <a:xfrm>
            <a:off x="7259060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M7</a:t>
            </a:r>
          </a:p>
        </p:txBody>
      </p:sp>
      <p:sp>
        <p:nvSpPr>
          <p:cNvPr id="66" name="指标说明 M7"/>
          <p:cNvSpPr txBox="1"/>
          <p:nvPr/>
        </p:nvSpPr>
        <p:spPr>
          <a:xfrm>
            <a:off x="7729976" y="2674620"/>
            <a:ext cx="21031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6F50"/>
                </a:solidFill>
                <a:latin typeface="PingFang SC"/>
                <a:ea typeface="PingFang SC"/>
              </a:rPr>
              <a:t>检索前知识（无工具回答）</a:t>
            </a:r>
          </a:p>
        </p:txBody>
      </p:sp>
      <p:sp>
        <p:nvSpPr>
          <p:cNvPr id="67" name="Workflow 节点 N10 汇总当前证据（回灌）"/>
          <p:cNvSpPr/>
          <p:nvPr/>
        </p:nvSpPr>
        <p:spPr>
          <a:xfrm>
            <a:off x="1793961" y="3813048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F7F0CC"/>
          </a:solidFill>
          <a:ln w="10160">
            <a:solidFill>
              <a:srgbClr val="D4CA9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N10 汇总当前证据（回灌）"/>
          <p:cNvSpPr txBox="1"/>
          <p:nvPr/>
        </p:nvSpPr>
        <p:spPr>
          <a:xfrm>
            <a:off x="1958553" y="3849624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7A672B"/>
                </a:solidFill>
                <a:latin typeface="PingFang SC"/>
                <a:ea typeface="PingFang SC"/>
              </a:rPr>
              <a:t>汇总当前证据（回灌）</a:t>
            </a:r>
          </a:p>
        </p:txBody>
      </p:sp>
      <p:sp>
        <p:nvSpPr>
          <p:cNvPr id="69" name="指标标签 M6"/>
          <p:cNvSpPr/>
          <p:nvPr/>
        </p:nvSpPr>
        <p:spPr>
          <a:xfrm>
            <a:off x="2639781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指标编码 M6"/>
          <p:cNvSpPr txBox="1"/>
          <p:nvPr/>
        </p:nvSpPr>
        <p:spPr>
          <a:xfrm>
            <a:off x="2639781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M6</a:t>
            </a:r>
          </a:p>
        </p:txBody>
      </p:sp>
      <p:sp>
        <p:nvSpPr>
          <p:cNvPr id="71" name="指标说明 M6"/>
          <p:cNvSpPr txBox="1"/>
          <p:nvPr/>
        </p:nvSpPr>
        <p:spPr>
          <a:xfrm>
            <a:off x="3110697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说法支持</a:t>
            </a:r>
          </a:p>
        </p:txBody>
      </p:sp>
      <p:sp>
        <p:nvSpPr>
          <p:cNvPr id="72" name="指标标签 M8"/>
          <p:cNvSpPr/>
          <p:nvPr/>
        </p:nvSpPr>
        <p:spPr>
          <a:xfrm>
            <a:off x="3933657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指标编码 M8"/>
          <p:cNvSpPr txBox="1"/>
          <p:nvPr/>
        </p:nvSpPr>
        <p:spPr>
          <a:xfrm>
            <a:off x="3933657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M8</a:t>
            </a:r>
          </a:p>
        </p:txBody>
      </p:sp>
      <p:sp>
        <p:nvSpPr>
          <p:cNvPr id="74" name="指标说明 M8"/>
          <p:cNvSpPr txBox="1"/>
          <p:nvPr/>
        </p:nvSpPr>
        <p:spPr>
          <a:xfrm>
            <a:off x="4404573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调用成本</a:t>
            </a:r>
          </a:p>
        </p:txBody>
      </p:sp>
      <p:sp>
        <p:nvSpPr>
          <p:cNvPr id="75" name="Workflow 节点 N11 证据是否充分？"/>
          <p:cNvSpPr/>
          <p:nvPr/>
        </p:nvSpPr>
        <p:spPr>
          <a:xfrm>
            <a:off x="1999701" y="4517136"/>
            <a:ext cx="3703320" cy="713232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N11 证据是否充分？"/>
          <p:cNvSpPr txBox="1"/>
          <p:nvPr/>
        </p:nvSpPr>
        <p:spPr>
          <a:xfrm>
            <a:off x="2555199" y="4631436"/>
            <a:ext cx="259232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证据是否充分？</a:t>
            </a:r>
          </a:p>
        </p:txBody>
      </p:sp>
      <p:sp>
        <p:nvSpPr>
          <p:cNvPr id="77" name="指标标签 M4"/>
          <p:cNvSpPr/>
          <p:nvPr/>
        </p:nvSpPr>
        <p:spPr>
          <a:xfrm>
            <a:off x="3096981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指标编码 M4"/>
          <p:cNvSpPr txBox="1"/>
          <p:nvPr/>
        </p:nvSpPr>
        <p:spPr>
          <a:xfrm>
            <a:off x="3096981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M4</a:t>
            </a:r>
          </a:p>
        </p:txBody>
      </p:sp>
      <p:sp>
        <p:nvSpPr>
          <p:cNvPr id="79" name="指标标签 M9"/>
          <p:cNvSpPr/>
          <p:nvPr/>
        </p:nvSpPr>
        <p:spPr>
          <a:xfrm>
            <a:off x="3609045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指标编码 M9"/>
          <p:cNvSpPr txBox="1"/>
          <p:nvPr/>
        </p:nvSpPr>
        <p:spPr>
          <a:xfrm>
            <a:off x="3609045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M9</a:t>
            </a:r>
          </a:p>
        </p:txBody>
      </p:sp>
      <p:sp>
        <p:nvSpPr>
          <p:cNvPr id="81" name="指标标签 M10"/>
          <p:cNvSpPr/>
          <p:nvPr/>
        </p:nvSpPr>
        <p:spPr>
          <a:xfrm>
            <a:off x="4121109" y="4869180"/>
            <a:ext cx="484632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指标编码 M10"/>
          <p:cNvSpPr txBox="1"/>
          <p:nvPr/>
        </p:nvSpPr>
        <p:spPr>
          <a:xfrm>
            <a:off x="4121109" y="4869180"/>
            <a:ext cx="484632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M10</a:t>
            </a:r>
          </a:p>
        </p:txBody>
      </p:sp>
      <p:sp>
        <p:nvSpPr>
          <p:cNvPr id="83" name="Workflow 节点 N12 收敛（证据充分）"/>
          <p:cNvSpPr/>
          <p:nvPr/>
        </p:nvSpPr>
        <p:spPr>
          <a:xfrm>
            <a:off x="2251161" y="5349240"/>
            <a:ext cx="3200400" cy="292608"/>
          </a:xfrm>
          <a:prstGeom prst="roundRect">
            <a:avLst>
              <a:gd name="adj" fmla="val 14000"/>
            </a:avLst>
          </a:prstGeom>
          <a:solidFill>
            <a:srgbClr val="DEF2EA"/>
          </a:solidFill>
          <a:ln w="10160">
            <a:solidFill>
              <a:srgbClr val="B9D6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N12 收敛（证据充分）"/>
          <p:cNvSpPr txBox="1"/>
          <p:nvPr/>
        </p:nvSpPr>
        <p:spPr>
          <a:xfrm>
            <a:off x="2507193" y="5390388"/>
            <a:ext cx="2688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F"/>
                </a:solidFill>
                <a:latin typeface="PingFang SC"/>
                <a:ea typeface="PingFang SC"/>
              </a:rPr>
              <a:t>收敛（证据充分）</a:t>
            </a:r>
          </a:p>
        </p:txBody>
      </p:sp>
      <p:sp>
        <p:nvSpPr>
          <p:cNvPr id="85" name="Workflow 节点 N13 能否继续检索？"/>
          <p:cNvSpPr/>
          <p:nvPr/>
        </p:nvSpPr>
        <p:spPr>
          <a:xfrm>
            <a:off x="5908852" y="4590288"/>
            <a:ext cx="4114800" cy="566928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N13 能否继续检索？"/>
          <p:cNvSpPr txBox="1"/>
          <p:nvPr/>
        </p:nvSpPr>
        <p:spPr>
          <a:xfrm>
            <a:off x="6526072" y="4654295"/>
            <a:ext cx="28803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能否继续检索？</a:t>
            </a:r>
          </a:p>
        </p:txBody>
      </p:sp>
      <p:sp>
        <p:nvSpPr>
          <p:cNvPr id="87" name="N13 未达上限且预期有效"/>
          <p:cNvSpPr txBox="1"/>
          <p:nvPr/>
        </p:nvSpPr>
        <p:spPr>
          <a:xfrm>
            <a:off x="6526072" y="4896612"/>
            <a:ext cx="288036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未达上限且预期有效</a:t>
            </a:r>
          </a:p>
        </p:txBody>
      </p:sp>
      <p:sp>
        <p:nvSpPr>
          <p:cNvPr id="88" name="Workflow 节点 N14 是否仍有可靠证据？"/>
          <p:cNvSpPr/>
          <p:nvPr/>
        </p:nvSpPr>
        <p:spPr>
          <a:xfrm>
            <a:off x="5565952" y="5358384"/>
            <a:ext cx="4800600" cy="603504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N14 是否仍有可靠证据？"/>
          <p:cNvSpPr txBox="1"/>
          <p:nvPr/>
        </p:nvSpPr>
        <p:spPr>
          <a:xfrm>
            <a:off x="6286042" y="5440680"/>
            <a:ext cx="33604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是否仍有可靠证据？</a:t>
            </a:r>
          </a:p>
        </p:txBody>
      </p:sp>
      <p:sp>
        <p:nvSpPr>
          <p:cNvPr id="90" name="N14 官方／第三方／先验任一充分"/>
          <p:cNvSpPr txBox="1"/>
          <p:nvPr/>
        </p:nvSpPr>
        <p:spPr>
          <a:xfrm>
            <a:off x="6286042" y="5682996"/>
            <a:ext cx="336042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官方／第三方／先验任一充分</a:t>
            </a:r>
          </a:p>
        </p:txBody>
      </p:sp>
      <p:sp>
        <p:nvSpPr>
          <p:cNvPr id="91" name="Workflow 节点 N15 终答"/>
          <p:cNvSpPr/>
          <p:nvPr/>
        </p:nvSpPr>
        <p:spPr>
          <a:xfrm>
            <a:off x="1232794" y="6080760"/>
            <a:ext cx="9352026" cy="585216"/>
          </a:xfrm>
          <a:prstGeom prst="roundRect">
            <a:avLst>
              <a:gd name="adj" fmla="val 14000"/>
            </a:avLst>
          </a:prstGeom>
          <a:solidFill>
            <a:srgbClr val="E3EAF1"/>
          </a:solidFill>
          <a:ln w="10160">
            <a:solidFill>
              <a:srgbClr val="B9C4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N15 终答"/>
          <p:cNvSpPr txBox="1"/>
          <p:nvPr/>
        </p:nvSpPr>
        <p:spPr>
          <a:xfrm>
            <a:off x="1606875" y="6117336"/>
            <a:ext cx="860386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93" name="指标标签 M11"/>
          <p:cNvSpPr/>
          <p:nvPr/>
        </p:nvSpPr>
        <p:spPr>
          <a:xfrm>
            <a:off x="4397761" y="6396228"/>
            <a:ext cx="484632" cy="219456"/>
          </a:xfrm>
          <a:prstGeom prst="roundRect">
            <a:avLst>
              <a:gd name="adj" fmla="val 50000"/>
            </a:avLst>
          </a:prstGeom>
          <a:solidFill>
            <a:srgbClr val="4C61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指标编码 M11"/>
          <p:cNvSpPr txBox="1"/>
          <p:nvPr/>
        </p:nvSpPr>
        <p:spPr>
          <a:xfrm>
            <a:off x="4397761" y="6396228"/>
            <a:ext cx="48463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M11</a:t>
            </a:r>
          </a:p>
        </p:txBody>
      </p:sp>
      <p:sp>
        <p:nvSpPr>
          <p:cNvPr id="95" name="指标说明 M11"/>
          <p:cNvSpPr txBox="1"/>
          <p:nvPr/>
        </p:nvSpPr>
        <p:spPr>
          <a:xfrm>
            <a:off x="4950973" y="6396228"/>
            <a:ext cx="24688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C6176"/>
                </a:solidFill>
                <a:latin typeface="PingFang SC"/>
                <a:ea typeface="PingFang SC"/>
              </a:rPr>
              <a:t>综合知识支撑（连续 0–100）</a:t>
            </a:r>
          </a:p>
        </p:txBody>
      </p:sp>
      <p:sp>
        <p:nvSpPr>
          <p:cNvPr id="96" name="原 Workflow 分支 是：检索资料"/>
          <p:cNvSpPr txBox="1"/>
          <p:nvPr/>
        </p:nvSpPr>
        <p:spPr>
          <a:xfrm>
            <a:off x="832104" y="2112264"/>
            <a:ext cx="18288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5E85"/>
                </a:solidFill>
                <a:latin typeface="PingFang SC"/>
                <a:ea typeface="PingFang SC"/>
              </a:rPr>
              <a:t>是：检索资料</a:t>
            </a:r>
          </a:p>
        </p:txBody>
      </p:sp>
      <p:sp>
        <p:nvSpPr>
          <p:cNvPr id="97" name="原 Workflow 分支 否：依据模型先验"/>
          <p:cNvSpPr txBox="1"/>
          <p:nvPr/>
        </p:nvSpPr>
        <p:spPr>
          <a:xfrm>
            <a:off x="7132320" y="2084831"/>
            <a:ext cx="2880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0"/>
                </a:solidFill>
                <a:latin typeface="PingFang SC"/>
                <a:ea typeface="PingFang SC"/>
              </a:rPr>
              <a:t>否：依据模型先验</a:t>
            </a:r>
          </a:p>
        </p:txBody>
      </p:sp>
      <p:sp>
        <p:nvSpPr>
          <p:cNvPr id="98" name="原 Workflow 分支 选中 URL"/>
          <p:cNvSpPr txBox="1"/>
          <p:nvPr/>
        </p:nvSpPr>
        <p:spPr>
          <a:xfrm>
            <a:off x="3063240" y="2953512"/>
            <a:ext cx="1051560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55E85"/>
                </a:solidFill>
                <a:latin typeface="PingFang SC"/>
                <a:ea typeface="PingFang SC"/>
              </a:rPr>
              <a:t>选中 URL</a:t>
            </a:r>
          </a:p>
        </p:txBody>
      </p:sp>
      <p:sp>
        <p:nvSpPr>
          <p:cNvPr id="99" name="原 Workflow 分支 已知 URL&#10;可直接获取"/>
          <p:cNvSpPr txBox="1"/>
          <p:nvPr/>
        </p:nvSpPr>
        <p:spPr>
          <a:xfrm>
            <a:off x="4919472" y="3054096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C8592"/>
                </a:solidFill>
                <a:latin typeface="PingFang SC"/>
                <a:ea typeface="PingFang SC"/>
              </a:rPr>
              <a:t>已知 URL
可直接获取</a:t>
            </a:r>
          </a:p>
        </p:txBody>
      </p:sp>
      <p:sp>
        <p:nvSpPr>
          <p:cNvPr id="100" name="原 Workflow 分支 充分"/>
          <p:cNvSpPr txBox="1"/>
          <p:nvPr/>
        </p:nvSpPr>
        <p:spPr>
          <a:xfrm>
            <a:off x="4251960" y="5225796"/>
            <a:ext cx="640080" cy="1234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56F5F"/>
                </a:solidFill>
                <a:latin typeface="PingFang SC"/>
                <a:ea typeface="PingFang SC"/>
              </a:rPr>
              <a:t>充分</a:t>
            </a:r>
          </a:p>
        </p:txBody>
      </p:sp>
      <p:sp>
        <p:nvSpPr>
          <p:cNvPr id="101" name="原 Workflow 分支 不足"/>
          <p:cNvSpPr txBox="1"/>
          <p:nvPr/>
        </p:nvSpPr>
        <p:spPr>
          <a:xfrm>
            <a:off x="5596128" y="4645152"/>
            <a:ext cx="438912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563E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102" name="原 Workflow 分支 是：换检索词再搜索"/>
          <p:cNvSpPr txBox="1"/>
          <p:nvPr/>
        </p:nvSpPr>
        <p:spPr>
          <a:xfrm>
            <a:off x="9436608" y="3291840"/>
            <a:ext cx="2057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是：换检索词再搜索</a:t>
            </a:r>
          </a:p>
        </p:txBody>
      </p:sp>
      <p:sp>
        <p:nvSpPr>
          <p:cNvPr id="103" name="原 Workflow 分支 否：检索已穷尽"/>
          <p:cNvSpPr txBox="1"/>
          <p:nvPr/>
        </p:nvSpPr>
        <p:spPr>
          <a:xfrm>
            <a:off x="8302752" y="5170932"/>
            <a:ext cx="224028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否：检索已穷尽</a:t>
            </a:r>
          </a:p>
        </p:txBody>
      </p:sp>
      <p:sp>
        <p:nvSpPr>
          <p:cNvPr id="104" name="原 Workflow 分支 有：依据证据作答"/>
          <p:cNvSpPr txBox="1"/>
          <p:nvPr/>
        </p:nvSpPr>
        <p:spPr>
          <a:xfrm>
            <a:off x="5577840" y="5861304"/>
            <a:ext cx="20116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F"/>
                </a:solidFill>
                <a:latin typeface="PingFang SC"/>
                <a:ea typeface="PingFang SC"/>
              </a:rPr>
              <a:t>有：依据证据作答</a:t>
            </a:r>
          </a:p>
        </p:txBody>
      </p:sp>
      <p:sp>
        <p:nvSpPr>
          <p:cNvPr id="105" name="原 Workflow 分支 无：记忆补缺风险"/>
          <p:cNvSpPr txBox="1"/>
          <p:nvPr/>
        </p:nvSpPr>
        <p:spPr>
          <a:xfrm>
            <a:off x="8430768" y="5879592"/>
            <a:ext cx="217627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C5968"/>
                </a:solidFill>
                <a:latin typeface="PingFang SC"/>
                <a:ea typeface="PingFang SC"/>
              </a:rPr>
              <a:t>无：记忆补缺风险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601968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指标与评分 · 与前页色标对应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流程各环节对应的五档评分标准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6428232"/>
            <a:ext cx="11222431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PingFang SC"/>
                <a:ea typeface="PingFang SC"/>
              </a:rPr>
              <a:t>C=实际搜索+获取，失败计数；未知/受阻/N/A单列，不补零。M2完整性未知留4–5；M6高档须无未解矛盾。</a:t>
            </a:r>
          </a:p>
        </p:txBody>
      </p:sp>
      <p:sp>
        <p:nvSpPr>
          <p:cNvPr id="14" name="雾蓝灰马卡龙表头"/>
          <p:cNvSpPr/>
          <p:nvPr/>
        </p:nvSpPr>
        <p:spPr>
          <a:xfrm>
            <a:off x="484632" y="1088136"/>
            <a:ext cx="11222431" cy="265176"/>
          </a:xfrm>
          <a:prstGeom prst="roundRect">
            <a:avLst>
              <a:gd name="adj" fmla="val 35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088136"/>
            <a:ext cx="932688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流程环节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344" y="1088136"/>
            <a:ext cx="1664207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1分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54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2分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93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3分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32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4分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7170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5分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" y="1389888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1389888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5E85"/>
                </a:solidFill>
                <a:latin typeface="PingFang SC"/>
                <a:ea typeface="PingFang SC"/>
              </a:rPr>
              <a:t>搜索
候选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45336" y="138988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评分单元格 M1 指标"/>
          <p:cNvSpPr txBox="1"/>
          <p:nvPr/>
        </p:nvSpPr>
        <p:spPr>
          <a:xfrm>
            <a:off x="1618488" y="138988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M1 官方发现</a:t>
            </a:r>
          </a:p>
        </p:txBody>
      </p:sp>
      <p:sp>
        <p:nvSpPr>
          <p:cNvPr id="26" name="评分单元格 M1 1分"/>
          <p:cNvSpPr txBox="1"/>
          <p:nvPr/>
        </p:nvSpPr>
        <p:spPr>
          <a:xfrm>
            <a:off x="34107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预算用尽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仍未发现</a:t>
            </a:r>
          </a:p>
        </p:txBody>
      </p:sp>
      <p:sp>
        <p:nvSpPr>
          <p:cNvPr id="27" name="评分单元格 M1 2分"/>
          <p:cNvSpPr txBox="1"/>
          <p:nvPr/>
        </p:nvSpPr>
        <p:spPr>
          <a:xfrm>
            <a:off x="50846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第3查起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8" name="评分单元格 M1 3分"/>
          <p:cNvSpPr txBox="1"/>
          <p:nvPr/>
        </p:nvSpPr>
        <p:spPr>
          <a:xfrm>
            <a:off x="67585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第2查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9" name="评分单元格 M1 4分"/>
          <p:cNvSpPr txBox="1"/>
          <p:nvPr/>
        </p:nvSpPr>
        <p:spPr>
          <a:xfrm>
            <a:off x="84324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第2–5条</a:t>
            </a:r>
          </a:p>
        </p:txBody>
      </p:sp>
      <p:sp>
        <p:nvSpPr>
          <p:cNvPr id="30" name="评分单元格 M1 5分"/>
          <p:cNvSpPr txBox="1"/>
          <p:nvPr/>
        </p:nvSpPr>
        <p:spPr>
          <a:xfrm>
            <a:off x="10106314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第1条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45336" y="1844344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评分单元格 M5 指标"/>
          <p:cNvSpPr txBox="1"/>
          <p:nvPr/>
        </p:nvSpPr>
        <p:spPr>
          <a:xfrm>
            <a:off x="1618488" y="1844344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M5 第三方数量</a:t>
            </a:r>
          </a:p>
        </p:txBody>
      </p:sp>
      <p:sp>
        <p:nvSpPr>
          <p:cNvPr id="33" name="评分单元格 M5 1分"/>
          <p:cNvSpPr txBox="1"/>
          <p:nvPr/>
        </p:nvSpPr>
        <p:spPr>
          <a:xfrm>
            <a:off x="34107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0条</a:t>
            </a:r>
          </a:p>
        </p:txBody>
      </p:sp>
      <p:sp>
        <p:nvSpPr>
          <p:cNvPr id="34" name="评分单元格 M5 2分"/>
          <p:cNvSpPr txBox="1"/>
          <p:nvPr/>
        </p:nvSpPr>
        <p:spPr>
          <a:xfrm>
            <a:off x="50846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1–2条</a:t>
            </a:r>
          </a:p>
        </p:txBody>
      </p:sp>
      <p:sp>
        <p:nvSpPr>
          <p:cNvPr id="35" name="评分单元格 M5 3分"/>
          <p:cNvSpPr txBox="1"/>
          <p:nvPr/>
        </p:nvSpPr>
        <p:spPr>
          <a:xfrm>
            <a:off x="67585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3–4条</a:t>
            </a:r>
          </a:p>
        </p:txBody>
      </p:sp>
      <p:sp>
        <p:nvSpPr>
          <p:cNvPr id="36" name="评分单元格 M5 4分"/>
          <p:cNvSpPr txBox="1"/>
          <p:nvPr/>
        </p:nvSpPr>
        <p:spPr>
          <a:xfrm>
            <a:off x="84324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5条</a:t>
            </a:r>
          </a:p>
        </p:txBody>
      </p:sp>
      <p:sp>
        <p:nvSpPr>
          <p:cNvPr id="37" name="评分单元格 M5 5分"/>
          <p:cNvSpPr txBox="1"/>
          <p:nvPr/>
        </p:nvSpPr>
        <p:spPr>
          <a:xfrm>
            <a:off x="10106314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至少6条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" y="2298801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7784" y="2298801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F6873"/>
                </a:solidFill>
                <a:latin typeface="PingFang SC"/>
                <a:ea typeface="PingFang SC"/>
              </a:rPr>
              <a:t>读取
正文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45336" y="2298801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评分单元格 M2 指标"/>
          <p:cNvSpPr txBox="1"/>
          <p:nvPr/>
        </p:nvSpPr>
        <p:spPr>
          <a:xfrm>
            <a:off x="1618488" y="2298801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M2 正文取得</a:t>
            </a:r>
          </a:p>
        </p:txBody>
      </p:sp>
      <p:sp>
        <p:nvSpPr>
          <p:cNvPr id="42" name="评分单元格 M2 1分"/>
          <p:cNvSpPr txBox="1"/>
          <p:nvPr/>
        </p:nvSpPr>
        <p:spPr>
          <a:xfrm>
            <a:off x="34107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无可识别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目标内容</a:t>
            </a:r>
          </a:p>
        </p:txBody>
      </p:sp>
      <p:sp>
        <p:nvSpPr>
          <p:cNvPr id="43" name="评分单元格 M2 2分"/>
          <p:cNvSpPr txBox="1"/>
          <p:nvPr/>
        </p:nvSpPr>
        <p:spPr>
          <a:xfrm>
            <a:off x="50846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标题/导航
或元数据</a:t>
            </a:r>
          </a:p>
        </p:txBody>
      </p:sp>
      <p:sp>
        <p:nvSpPr>
          <p:cNvPr id="44" name="评分单元格 M2 3分"/>
          <p:cNvSpPr txBox="1"/>
          <p:nvPr/>
        </p:nvSpPr>
        <p:spPr>
          <a:xfrm>
            <a:off x="67585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仅明确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摘要/摘录</a:t>
            </a:r>
          </a:p>
        </p:txBody>
      </p:sp>
      <p:sp>
        <p:nvSpPr>
          <p:cNvPr id="45" name="评分单元格 M2 4分"/>
          <p:cNvSpPr txBox="1"/>
          <p:nvPr/>
        </p:nvSpPr>
        <p:spPr>
          <a:xfrm>
            <a:off x="84324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缺损有据</a:t>
            </a:r>
          </a:p>
        </p:txBody>
      </p:sp>
      <p:sp>
        <p:nvSpPr>
          <p:cNvPr id="46" name="评分单元格 M2 5分"/>
          <p:cNvSpPr txBox="1"/>
          <p:nvPr/>
        </p:nvSpPr>
        <p:spPr>
          <a:xfrm>
            <a:off x="10106314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完整边界有据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45336" y="275325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评分单元格 M3 指标"/>
          <p:cNvSpPr txBox="1"/>
          <p:nvPr/>
        </p:nvSpPr>
        <p:spPr>
          <a:xfrm>
            <a:off x="1618488" y="275325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M3 内容支撑</a:t>
            </a:r>
          </a:p>
        </p:txBody>
      </p:sp>
      <p:sp>
        <p:nvSpPr>
          <p:cNvPr id="49" name="评分单元格 M3 1分"/>
          <p:cNvSpPr txBox="1"/>
          <p:nvPr/>
        </p:nvSpPr>
        <p:spPr>
          <a:xfrm>
            <a:off x="34107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只有概述</a:t>
            </a:r>
          </a:p>
        </p:txBody>
      </p:sp>
      <p:sp>
        <p:nvSpPr>
          <p:cNvPr id="50" name="评分单元格 M3 2分"/>
          <p:cNvSpPr txBox="1"/>
          <p:nvPr/>
        </p:nvSpPr>
        <p:spPr>
          <a:xfrm>
            <a:off x="50846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零散细节</a:t>
            </a:r>
          </a:p>
        </p:txBody>
      </p:sp>
      <p:sp>
        <p:nvSpPr>
          <p:cNvPr id="51" name="评分单元格 M3 3分"/>
          <p:cNvSpPr txBox="1"/>
          <p:nvPr/>
        </p:nvSpPr>
        <p:spPr>
          <a:xfrm>
            <a:off x="67585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完整段落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仍缺关键内容</a:t>
            </a:r>
          </a:p>
        </p:txBody>
      </p:sp>
      <p:sp>
        <p:nvSpPr>
          <p:cNvPr id="52" name="评分单元格 M3 4分"/>
          <p:cNvSpPr txBox="1"/>
          <p:nvPr/>
        </p:nvSpPr>
        <p:spPr>
          <a:xfrm>
            <a:off x="84324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主流程完整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仍缺分支约束</a:t>
            </a:r>
          </a:p>
        </p:txBody>
      </p:sp>
      <p:sp>
        <p:nvSpPr>
          <p:cNvPr id="53" name="评分单元格 M3 5分"/>
          <p:cNvSpPr txBox="1"/>
          <p:nvPr/>
        </p:nvSpPr>
        <p:spPr>
          <a:xfrm>
            <a:off x="10106314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原题所需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内容全齐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4632" y="3207715"/>
            <a:ext cx="1019556" cy="436168"/>
          </a:xfrm>
          <a:prstGeom prst="roundRect">
            <a:avLst>
              <a:gd name="adj" fmla="val 6000"/>
            </a:avLst>
          </a:prstGeom>
          <a:solidFill>
            <a:srgbClr val="DF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7784" y="3207715"/>
            <a:ext cx="877824" cy="436168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0"/>
                </a:solidFill>
                <a:latin typeface="PingFang SC"/>
                <a:ea typeface="PingFang SC"/>
              </a:rPr>
              <a:t>模型
先验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545336" y="320771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评分单元格 M7 指标"/>
          <p:cNvSpPr txBox="1"/>
          <p:nvPr/>
        </p:nvSpPr>
        <p:spPr>
          <a:xfrm>
            <a:off x="1618488" y="320771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6F50"/>
                </a:solidFill>
                <a:latin typeface="PingFang SC"/>
                <a:ea typeface="PingFang SC"/>
              </a:rPr>
              <a:t>M7 检索前知识</a:t>
            </a:r>
          </a:p>
        </p:txBody>
      </p:sp>
      <p:sp>
        <p:nvSpPr>
          <p:cNvPr id="58" name="评分单元格 M7 1分"/>
          <p:cNvSpPr txBox="1"/>
          <p:nvPr/>
        </p:nvSpPr>
        <p:spPr>
          <a:xfrm>
            <a:off x="34107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无正确知识
或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关键主张错</a:t>
            </a:r>
          </a:p>
        </p:txBody>
      </p:sp>
      <p:sp>
        <p:nvSpPr>
          <p:cNvPr id="59" name="评分单元格 M7 2分"/>
          <p:cNvSpPr txBox="1"/>
          <p:nvPr/>
        </p:nvSpPr>
        <p:spPr>
          <a:xfrm>
            <a:off x="50846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只有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正确概念</a:t>
            </a:r>
          </a:p>
        </p:txBody>
      </p:sp>
      <p:sp>
        <p:nvSpPr>
          <p:cNvPr id="60" name="评分单元格 M7 3分"/>
          <p:cNvSpPr txBox="1"/>
          <p:nvPr/>
        </p:nvSpPr>
        <p:spPr>
          <a:xfrm>
            <a:off x="67585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正确方法片段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缺关键细节</a:t>
            </a:r>
          </a:p>
        </p:txBody>
      </p:sp>
      <p:sp>
        <p:nvSpPr>
          <p:cNvPr id="61" name="评分单元格 M7 4分"/>
          <p:cNvSpPr txBox="1"/>
          <p:nvPr/>
        </p:nvSpPr>
        <p:spPr>
          <a:xfrm>
            <a:off x="84324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完整正确流程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缺参数约束</a:t>
            </a:r>
          </a:p>
        </p:txBody>
      </p:sp>
      <p:sp>
        <p:nvSpPr>
          <p:cNvPr id="62" name="评分单元格 M7 5分"/>
          <p:cNvSpPr txBox="1"/>
          <p:nvPr/>
        </p:nvSpPr>
        <p:spPr>
          <a:xfrm>
            <a:off x="10106314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原题知识要求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准确全覆盖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" y="3662172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F7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7784" y="3662172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A672B"/>
                </a:solidFill>
                <a:latin typeface="PingFang SC"/>
                <a:ea typeface="PingFang SC"/>
              </a:rPr>
              <a:t>汇总
证据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545336" y="366217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评分单元格 M6 指标"/>
          <p:cNvSpPr txBox="1"/>
          <p:nvPr/>
        </p:nvSpPr>
        <p:spPr>
          <a:xfrm>
            <a:off x="1618488" y="366217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M6 说法支持</a:t>
            </a:r>
          </a:p>
        </p:txBody>
      </p:sp>
      <p:sp>
        <p:nvSpPr>
          <p:cNvPr id="67" name="评分单元格 M6 1分"/>
          <p:cNvSpPr txBox="1"/>
          <p:nvPr/>
        </p:nvSpPr>
        <p:spPr>
          <a:xfrm>
            <a:off x="34107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关键矛盾
尚未解决</a:t>
            </a:r>
          </a:p>
        </p:txBody>
      </p:sp>
      <p:sp>
        <p:nvSpPr>
          <p:cNvPr id="68" name="评分单元格 M6 2分"/>
          <p:cNvSpPr txBox="1"/>
          <p:nvPr/>
        </p:nvSpPr>
        <p:spPr>
          <a:xfrm>
            <a:off x="50846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关键说法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无核对依据</a:t>
            </a:r>
          </a:p>
        </p:txBody>
      </p:sp>
      <p:sp>
        <p:nvSpPr>
          <p:cNvPr id="69" name="评分单元格 M6 3分"/>
          <p:cNvSpPr txBox="1"/>
          <p:nvPr/>
        </p:nvSpPr>
        <p:spPr>
          <a:xfrm>
            <a:off x="67585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其余未核验</a:t>
            </a:r>
          </a:p>
        </p:txBody>
      </p:sp>
      <p:sp>
        <p:nvSpPr>
          <p:cNvPr id="70" name="评分单元格 M6 4分"/>
          <p:cNvSpPr txBox="1"/>
          <p:nvPr/>
        </p:nvSpPr>
        <p:spPr>
          <a:xfrm>
            <a:off x="84324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缺独立互证</a:t>
            </a:r>
          </a:p>
        </p:txBody>
      </p:sp>
      <p:sp>
        <p:nvSpPr>
          <p:cNvPr id="71" name="评分单元格 M6 5分"/>
          <p:cNvSpPr txBox="1"/>
          <p:nvPr/>
        </p:nvSpPr>
        <p:spPr>
          <a:xfrm>
            <a:off x="10106314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且独立互证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545336" y="411662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评分单元格 M8 指标"/>
          <p:cNvSpPr txBox="1"/>
          <p:nvPr/>
        </p:nvSpPr>
        <p:spPr>
          <a:xfrm>
            <a:off x="1618488" y="411662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M8 调用成本</a:t>
            </a:r>
          </a:p>
        </p:txBody>
      </p:sp>
      <p:sp>
        <p:nvSpPr>
          <p:cNvPr id="74" name="评分单元格 M8 1分"/>
          <p:cNvSpPr txBox="1"/>
          <p:nvPr/>
        </p:nvSpPr>
        <p:spPr>
          <a:xfrm>
            <a:off x="34107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≥ 9</a:t>
            </a:r>
          </a:p>
        </p:txBody>
      </p:sp>
      <p:sp>
        <p:nvSpPr>
          <p:cNvPr id="75" name="评分单元格 M8 2分"/>
          <p:cNvSpPr txBox="1"/>
          <p:nvPr/>
        </p:nvSpPr>
        <p:spPr>
          <a:xfrm>
            <a:off x="50846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7–8</a:t>
            </a:r>
          </a:p>
        </p:txBody>
      </p:sp>
      <p:sp>
        <p:nvSpPr>
          <p:cNvPr id="76" name="评分单元格 M8 3分"/>
          <p:cNvSpPr txBox="1"/>
          <p:nvPr/>
        </p:nvSpPr>
        <p:spPr>
          <a:xfrm>
            <a:off x="67585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5–6</a:t>
            </a:r>
          </a:p>
        </p:txBody>
      </p:sp>
      <p:sp>
        <p:nvSpPr>
          <p:cNvPr id="77" name="评分单元格 M8 4分"/>
          <p:cNvSpPr txBox="1"/>
          <p:nvPr/>
        </p:nvSpPr>
        <p:spPr>
          <a:xfrm>
            <a:off x="84324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</a:t>
            </a:r>
          </a:p>
        </p:txBody>
      </p:sp>
      <p:sp>
        <p:nvSpPr>
          <p:cNvPr id="78" name="评分单元格 M8 5分"/>
          <p:cNvSpPr txBox="1"/>
          <p:nvPr/>
        </p:nvSpPr>
        <p:spPr>
          <a:xfrm>
            <a:off x="10106314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84632" y="4571085"/>
            <a:ext cx="1019556" cy="1345082"/>
          </a:xfrm>
          <a:prstGeom prst="roundRect">
            <a:avLst>
              <a:gd name="adj" fmla="val 6000"/>
            </a:avLst>
          </a:prstGeom>
          <a:solidFill>
            <a:srgbClr val="FBE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7784" y="4571085"/>
            <a:ext cx="877824" cy="1345082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检查
充分性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545336" y="457108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评分单元格 M4 指标"/>
          <p:cNvSpPr txBox="1"/>
          <p:nvPr/>
        </p:nvSpPr>
        <p:spPr>
          <a:xfrm>
            <a:off x="1618488" y="457108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M4 版本关系</a:t>
            </a:r>
          </a:p>
        </p:txBody>
      </p:sp>
      <p:sp>
        <p:nvSpPr>
          <p:cNvPr id="83" name="评分单元格 M4 1分"/>
          <p:cNvSpPr txBox="1"/>
          <p:nvPr/>
        </p:nvSpPr>
        <p:spPr>
          <a:xfrm>
            <a:off x="34107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无版本信息</a:t>
            </a:r>
          </a:p>
        </p:txBody>
      </p:sp>
      <p:sp>
        <p:nvSpPr>
          <p:cNvPr id="84" name="评分单元格 M4 2分"/>
          <p:cNvSpPr txBox="1"/>
          <p:nvPr/>
        </p:nvSpPr>
        <p:spPr>
          <a:xfrm>
            <a:off x="50846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无选版依据
或冲突未解</a:t>
            </a:r>
          </a:p>
        </p:txBody>
      </p:sp>
      <p:sp>
        <p:nvSpPr>
          <p:cNvPr id="85" name="评分单元格 M4 3分"/>
          <p:cNvSpPr txBox="1"/>
          <p:nvPr/>
        </p:nvSpPr>
        <p:spPr>
          <a:xfrm>
            <a:off x="67585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部分关系明确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缺必要对应</a:t>
            </a:r>
          </a:p>
        </p:txBody>
      </p:sp>
      <p:sp>
        <p:nvSpPr>
          <p:cNvPr id="86" name="评分单元格 M4 4分"/>
          <p:cNvSpPr txBox="1"/>
          <p:nvPr/>
        </p:nvSpPr>
        <p:spPr>
          <a:xfrm>
            <a:off x="84324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合并官方约束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才可确定版本</a:t>
            </a:r>
          </a:p>
        </p:txBody>
      </p:sp>
      <p:sp>
        <p:nvSpPr>
          <p:cNvPr id="87" name="评分单元格 M4 5分"/>
          <p:cNvSpPr txBox="1"/>
          <p:nvPr/>
        </p:nvSpPr>
        <p:spPr>
          <a:xfrm>
            <a:off x="10106314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官方表/规则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直接确定版本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545336" y="502554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评分单元格 M9 指标"/>
          <p:cNvSpPr txBox="1"/>
          <p:nvPr/>
        </p:nvSpPr>
        <p:spPr>
          <a:xfrm>
            <a:off x="1618488" y="502554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M9 回答定版</a:t>
            </a:r>
          </a:p>
        </p:txBody>
      </p:sp>
      <p:sp>
        <p:nvSpPr>
          <p:cNvPr id="90" name="评分单元格 M9 1分"/>
          <p:cNvSpPr txBox="1"/>
          <p:nvPr/>
        </p:nvSpPr>
        <p:spPr>
          <a:xfrm>
            <a:off x="34107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缺少所需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版本信息</a:t>
            </a:r>
          </a:p>
        </p:txBody>
      </p:sp>
      <p:sp>
        <p:nvSpPr>
          <p:cNvPr id="91" name="评分单元格 M9 2分"/>
          <p:cNvSpPr txBox="1"/>
          <p:nvPr/>
        </p:nvSpPr>
        <p:spPr>
          <a:xfrm>
            <a:off x="50846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有版本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无依据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或关键矛盾</a:t>
            </a:r>
          </a:p>
        </p:txBody>
      </p:sp>
      <p:sp>
        <p:nvSpPr>
          <p:cNvPr id="92" name="评分单元格 M9 3分"/>
          <p:cNvSpPr txBox="1"/>
          <p:nvPr/>
        </p:nvSpPr>
        <p:spPr>
          <a:xfrm>
            <a:off x="67585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部分组件有据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其余未定版</a:t>
            </a:r>
          </a:p>
        </p:txBody>
      </p:sp>
      <p:sp>
        <p:nvSpPr>
          <p:cNvPr id="93" name="评分单元格 M9 4分"/>
          <p:cNvSpPr txBox="1"/>
          <p:nvPr/>
        </p:nvSpPr>
        <p:spPr>
          <a:xfrm>
            <a:off x="84324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全部有据范围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未全定具体版</a:t>
            </a:r>
          </a:p>
        </p:txBody>
      </p:sp>
      <p:sp>
        <p:nvSpPr>
          <p:cNvPr id="94" name="评分单元格 M9 5分"/>
          <p:cNvSpPr txBox="1"/>
          <p:nvPr/>
        </p:nvSpPr>
        <p:spPr>
          <a:xfrm>
            <a:off x="10106314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全部有据具体版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无未解冲突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545336" y="5479999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评分单元格 M10 指标"/>
          <p:cNvSpPr txBox="1"/>
          <p:nvPr/>
        </p:nvSpPr>
        <p:spPr>
          <a:xfrm>
            <a:off x="1618488" y="5479999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M10 操作补改</a:t>
            </a:r>
          </a:p>
        </p:txBody>
      </p:sp>
      <p:sp>
        <p:nvSpPr>
          <p:cNvPr id="97" name="评分单元格 M10 1分"/>
          <p:cNvSpPr txBox="1"/>
          <p:nvPr/>
        </p:nvSpPr>
        <p:spPr>
          <a:xfrm>
            <a:off x="34107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仅目标描述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或示意</a:t>
            </a:r>
          </a:p>
        </p:txBody>
      </p:sp>
      <p:sp>
        <p:nvSpPr>
          <p:cNvPr id="98" name="评分单元格 M10 2分"/>
          <p:cNvSpPr txBox="1"/>
          <p:nvPr/>
        </p:nvSpPr>
        <p:spPr>
          <a:xfrm>
            <a:off x="50846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仅操作骨架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关键操作不明</a:t>
            </a:r>
          </a:p>
        </p:txBody>
      </p:sp>
      <p:sp>
        <p:nvSpPr>
          <p:cNvPr id="99" name="评分单元格 M10 3分"/>
          <p:cNvSpPr txBox="1"/>
          <p:nvPr/>
        </p:nvSpPr>
        <p:spPr>
          <a:xfrm>
            <a:off x="67585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有具体方案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需纠错或补充</a:t>
            </a:r>
          </a:p>
        </p:txBody>
      </p:sp>
      <p:sp>
        <p:nvSpPr>
          <p:cNvPr id="100" name="评分单元格 M10 4分"/>
          <p:cNvSpPr txBox="1"/>
          <p:nvPr/>
        </p:nvSpPr>
        <p:spPr>
          <a:xfrm>
            <a:off x="84324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仅换已说明环境值</a:t>
            </a:r>
          </a:p>
        </p:txBody>
      </p:sp>
      <p:sp>
        <p:nvSpPr>
          <p:cNvPr id="101" name="评分单元格 M10 5分"/>
          <p:cNvSpPr txBox="1"/>
          <p:nvPr/>
        </p:nvSpPr>
        <p:spPr>
          <a:xfrm>
            <a:off x="10106314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指导与前提齐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无需补写修正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84632" y="5971032"/>
            <a:ext cx="1019556" cy="429768"/>
          </a:xfrm>
          <a:prstGeom prst="roundRect">
            <a:avLst>
              <a:gd name="adj" fmla="val 6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57784" y="5971032"/>
            <a:ext cx="877824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545336" y="5971032"/>
            <a:ext cx="10161727" cy="42976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618488" y="5971032"/>
            <a:ext cx="1645920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M11 综合支撑
连续0–100</a:t>
            </a:r>
          </a:p>
        </p:txBody>
      </p:sp>
      <p:sp>
        <p:nvSpPr>
          <p:cNvPr id="106" name="M11 固定公式及变量定义"/>
          <p:cNvSpPr txBox="1"/>
          <p:nvPr/>
        </p:nvSpPr>
        <p:spPr>
          <a:xfrm>
            <a:off x="3410712" y="5971032"/>
            <a:ext cx="8223199" cy="4297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M11 = 100[1 − (1 − x₁x₂x₃)(1 − x₅x₆)(1 − x₇)](0.7 + 0.3x₄)(0.9 + 0.1x₈)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5E646E"/>
                </a:solidFill>
                <a:latin typeface="PingFang SC"/>
                <a:ea typeface="PingFang SC"/>
              </a:rPr>
              <a:t>xᵢ = Mᵢ / 5（i = 1…8）；系数预定；M9/M10独立报告；未经概率校准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指标迭代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用可核验的标准，让评分更客观、更一致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1207008"/>
            <a:ext cx="10789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46E"/>
                </a:solidFill>
                <a:latin typeface="PingFang SC"/>
                <a:ea typeface="PingFang SC"/>
              </a:rPr>
              <a:t>以 M7 模型自带知识为例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1673352"/>
            <a:ext cx="11222431" cy="4526280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522976" y="2103120"/>
            <a:ext cx="694944" cy="0"/>
          </a:xfrm>
          <a:prstGeom prst="line">
            <a:avLst/>
          </a:prstGeom>
          <a:ln w="13970">
            <a:solidFill>
              <a:srgbClr val="AB91C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F7699"/>
                </a:solidFill>
                <a:latin typeface="PingFang SC"/>
                <a:ea typeface="PingFang SC"/>
              </a:rPr>
              <a:t>改前：模型自评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自评知识强弱，再作时效修正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14984" y="3026664"/>
            <a:ext cx="0" cy="2048256"/>
          </a:xfrm>
          <a:prstGeom prst="line">
            <a:avLst/>
          </a:prstGeom>
          <a:ln w="13970">
            <a:solidFill>
              <a:srgbClr val="D2D9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改前：模型自评 独立档位 5"/>
          <p:cNvSpPr/>
          <p:nvPr/>
        </p:nvSpPr>
        <p:spPr>
          <a:xfrm>
            <a:off x="841248" y="2852928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21" name="改前：模型自评 第5档标准"/>
          <p:cNvSpPr txBox="1"/>
          <p:nvPr/>
        </p:nvSpPr>
        <p:spPr>
          <a:xfrm>
            <a:off x="1353312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覆盖密集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，可答且大体可靠</a:t>
            </a:r>
          </a:p>
        </p:txBody>
      </p:sp>
      <p:sp>
        <p:nvSpPr>
          <p:cNvPr id="22" name="改前：模型自评 独立档位 4"/>
          <p:cNvSpPr/>
          <p:nvPr/>
        </p:nvSpPr>
        <p:spPr>
          <a:xfrm>
            <a:off x="841248" y="3364992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24" name="改前：模型自评 第4档标准"/>
          <p:cNvSpPr txBox="1"/>
          <p:nvPr/>
        </p:nvSpPr>
        <p:spPr>
          <a:xfrm>
            <a:off x="1353312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流程熟悉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，可给出骨架</a:t>
            </a:r>
          </a:p>
        </p:txBody>
      </p:sp>
      <p:sp>
        <p:nvSpPr>
          <p:cNvPr id="25" name="改前：模型自评 独立档位 3"/>
          <p:cNvSpPr/>
          <p:nvPr/>
        </p:nvSpPr>
        <p:spPr>
          <a:xfrm>
            <a:off x="841248" y="3877056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27" name="改前：模型自评 第3档标准"/>
          <p:cNvSpPr txBox="1"/>
          <p:nvPr/>
        </p:nvSpPr>
        <p:spPr>
          <a:xfrm>
            <a:off x="1353312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有概念，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细节／版本需检索</a:t>
            </a:r>
          </a:p>
        </p:txBody>
      </p:sp>
      <p:sp>
        <p:nvSpPr>
          <p:cNvPr id="28" name="改前：模型自评 独立档位 2"/>
          <p:cNvSpPr/>
          <p:nvPr/>
        </p:nvSpPr>
        <p:spPr>
          <a:xfrm>
            <a:off x="841248" y="4389120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30" name="改前：模型自评 第2档标准"/>
          <p:cNvSpPr txBox="1"/>
          <p:nvPr/>
        </p:nvSpPr>
        <p:spPr>
          <a:xfrm>
            <a:off x="1353312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知识薄弱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，不敢给命令</a:t>
            </a:r>
          </a:p>
        </p:txBody>
      </p:sp>
      <p:sp>
        <p:nvSpPr>
          <p:cNvPr id="31" name="改前：模型自评 独立档位 1"/>
          <p:cNvSpPr/>
          <p:nvPr/>
        </p:nvSpPr>
        <p:spPr>
          <a:xfrm>
            <a:off x="841248" y="4901184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33" name="改前：模型自评 第1档标准"/>
          <p:cNvSpPr txBox="1"/>
          <p:nvPr/>
        </p:nvSpPr>
        <p:spPr>
          <a:xfrm>
            <a:off x="1353312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依赖现查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，知识易过时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F7699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知识强弱靠自评，正确性难核验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7752A7"/>
                </a:solidFill>
                <a:latin typeface="PingFang SC"/>
                <a:ea typeface="PingFang SC"/>
              </a:rPr>
              <a:t>改后：回答核验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先保存无工具回答，再按证据核验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75704" y="3026664"/>
            <a:ext cx="0" cy="2048256"/>
          </a:xfrm>
          <a:prstGeom prst="line">
            <a:avLst/>
          </a:prstGeom>
          <a:ln w="13970">
            <a:solidFill>
              <a:srgbClr val="D9CF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改后：回答核验 独立档位 5"/>
          <p:cNvSpPr/>
          <p:nvPr/>
        </p:nvSpPr>
        <p:spPr>
          <a:xfrm>
            <a:off x="6601968" y="2852928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42" name="改后：回答核验 第5档标准"/>
          <p:cNvSpPr txBox="1"/>
          <p:nvPr/>
        </p:nvSpPr>
        <p:spPr>
          <a:xfrm>
            <a:off x="7114031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原题所需流程／解释／参数／约束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均准确</a:t>
            </a:r>
          </a:p>
        </p:txBody>
      </p:sp>
      <p:sp>
        <p:nvSpPr>
          <p:cNvPr id="43" name="改后：回答核验 独立档位 4"/>
          <p:cNvSpPr/>
          <p:nvPr/>
        </p:nvSpPr>
        <p:spPr>
          <a:xfrm>
            <a:off x="6601968" y="3364992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45" name="改后：回答核验 第4档标准"/>
          <p:cNvSpPr txBox="1"/>
          <p:nvPr/>
        </p:nvSpPr>
        <p:spPr>
          <a:xfrm>
            <a:off x="7114031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流程／解释完整正确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，参数／约束待补</a:t>
            </a:r>
          </a:p>
        </p:txBody>
      </p:sp>
      <p:sp>
        <p:nvSpPr>
          <p:cNvPr id="46" name="改后：回答核验 独立档位 3"/>
          <p:cNvSpPr/>
          <p:nvPr/>
        </p:nvSpPr>
        <p:spPr>
          <a:xfrm>
            <a:off x="6601968" y="3877056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196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48" name="改后：回答核验 第3档标准"/>
          <p:cNvSpPr txBox="1"/>
          <p:nvPr/>
        </p:nvSpPr>
        <p:spPr>
          <a:xfrm>
            <a:off x="7114031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方法／解释片段正确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，关键细节待补</a:t>
            </a:r>
          </a:p>
        </p:txBody>
      </p:sp>
      <p:sp>
        <p:nvSpPr>
          <p:cNvPr id="49" name="改后：回答核验 独立档位 2"/>
          <p:cNvSpPr/>
          <p:nvPr/>
        </p:nvSpPr>
        <p:spPr>
          <a:xfrm>
            <a:off x="6601968" y="4389120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51" name="改后：回答核验 第2档标准"/>
          <p:cNvSpPr txBox="1"/>
          <p:nvPr/>
        </p:nvSpPr>
        <p:spPr>
          <a:xfrm>
            <a:off x="7114031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概念正确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，无具体方法／解释</a:t>
            </a:r>
          </a:p>
        </p:txBody>
      </p:sp>
      <p:sp>
        <p:nvSpPr>
          <p:cNvPr id="52" name="改后：回答核验 独立档位 1"/>
          <p:cNvSpPr/>
          <p:nvPr/>
        </p:nvSpPr>
        <p:spPr>
          <a:xfrm>
            <a:off x="6601968" y="4901184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0196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54" name="改后：回答核验 第1档标准"/>
          <p:cNvSpPr txBox="1"/>
          <p:nvPr/>
        </p:nvSpPr>
        <p:spPr>
          <a:xfrm>
            <a:off x="7114031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无可核验正确知识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，或关键主张错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60196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60196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752A7"/>
                </a:solidFill>
                <a:latin typeface="PingFang SC"/>
                <a:ea typeface="PingFang SC"/>
              </a:rPr>
              <a:t>改进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4204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依据可追溯，自信程度不计分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问题设计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同一个开发目标，分别设置两侧问题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选开发任务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9624" y="1801368"/>
            <a:ext cx="347472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352544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确定共同目标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0375" y="1801368"/>
            <a:ext cx="347473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083296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写成两侧问题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121408"/>
            <a:ext cx="109545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覆盖环境、开发、训练、部署、优化、调试、迁移等七类工作流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72384" y="2642616"/>
            <a:ext cx="6044184" cy="539496"/>
          </a:xfrm>
          <a:prstGeom prst="roundRect">
            <a:avLst>
              <a:gd name="adj" fmla="val 10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18688" y="2706624"/>
            <a:ext cx="57515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找到模型运行慢的原因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4476" y="3182112"/>
            <a:ext cx="0" cy="164592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236976" y="3346704"/>
            <a:ext cx="2857500" cy="0"/>
          </a:xfrm>
          <a:prstGeom prst="line">
            <a:avLst/>
          </a:prstGeom>
          <a:ln w="13970">
            <a:solidFill>
              <a:srgbClr val="527B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36976" y="3346704"/>
            <a:ext cx="0" cy="155448"/>
          </a:xfrm>
          <a:prstGeom prst="line">
            <a:avLst/>
          </a:prstGeom>
          <a:ln w="13970">
            <a:solidFill>
              <a:srgbClr val="527B1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94476" y="3346704"/>
            <a:ext cx="2866644" cy="0"/>
          </a:xfrm>
          <a:prstGeom prst="line">
            <a:avLst/>
          </a:prstGeom>
          <a:ln w="13970">
            <a:solidFill>
              <a:srgbClr val="AF26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961120" y="3346704"/>
            <a:ext cx="0" cy="155448"/>
          </a:xfrm>
          <a:prstGeom prst="line">
            <a:avLst/>
          </a:prstGeom>
          <a:ln w="13970">
            <a:solidFill>
              <a:srgbClr val="AF26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1792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pic>
        <p:nvPicPr>
          <p:cNvPr id="34" name="NVIDIA官方标识" descr="nvidia-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24" y="3704938"/>
            <a:ext cx="1517904" cy="2802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50392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GPU 利用率不高，
怎样采集性能数据、
找到模型运行慢的原因？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5166360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工具：Nsight 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交付：采集命令 + 分析步骤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64224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2824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pic>
        <p:nvPicPr>
          <p:cNvPr id="40" name="CANN官方标识" descr="cann-logo-p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3659141"/>
            <a:ext cx="1051560" cy="37182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592824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昇腾上运行 PyTorch，
怎样采集性能数据、
找到模型运行慢的原因？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92824" y="5166360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工具：msprof / Ascend PyTorch Profiler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92824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交付：代码 + 步骤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5888736"/>
            <a:ext cx="7891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目标相近，工具和交付要求按各自平台设置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5843016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25组问题对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模型与评分安排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三个模型执行，统一评分后分别汇总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1700784"/>
            <a:ext cx="10945368" cy="457200"/>
          </a:xfrm>
          <a:prstGeom prst="roundRect">
            <a:avLst>
              <a:gd name="adj" fmla="val 10000"/>
            </a:avLst>
          </a:prstGeom>
          <a:solidFill>
            <a:srgbClr val="EA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1801368"/>
            <a:ext cx="10597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每次保存：无工具回答 · 资料来源 · 最终回答 · 调用次数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三个模型执行</a:t>
            </a:r>
          </a:p>
        </p:txBody>
      </p:sp>
      <p:sp>
        <p:nvSpPr>
          <p:cNvPr id="18" name="Oval 17"/>
          <p:cNvSpPr/>
          <p:nvPr/>
        </p:nvSpPr>
        <p:spPr>
          <a:xfrm>
            <a:off x="432511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511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统一评分与复核</a:t>
            </a:r>
          </a:p>
        </p:txBody>
      </p:sp>
      <p:sp>
        <p:nvSpPr>
          <p:cNvPr id="21" name="Oval 20"/>
          <p:cNvSpPr/>
          <p:nvPr/>
        </p:nvSpPr>
        <p:spPr>
          <a:xfrm>
            <a:off x="8028431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28431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1" y="2514600"/>
            <a:ext cx="31363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看不同模型是否
发现相同问题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3035808"/>
            <a:ext cx="3182112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glm official brand logo" descr="glm-zai-official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259836"/>
            <a:ext cx="329184" cy="32918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316736" y="3255264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59536" y="3913632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deepseek official brand logo" descr="deepseek-official-whale-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024681"/>
            <a:ext cx="329184" cy="2808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316736" y="3995928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16736" y="4379976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V4.1 Flash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9536" y="4654296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kimi official brand logo" descr="kimi-official-logomark_light-p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741164"/>
            <a:ext cx="329184" cy="32918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316736" y="4736592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16736" y="5120640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kimi-k3-2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886200" y="4224528"/>
            <a:ext cx="31089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325112" y="3035808"/>
            <a:ext cx="3154680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3255264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初评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3255264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526280" y="3913632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526280" y="3995928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辅助复核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32120" y="3995928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GPT-5.6 Luna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526280" y="4654296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526280" y="4736592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审定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32120" y="4736592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GPT-6 Astra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562088" y="4224528"/>
            <a:ext cx="329184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平台对照共用标签 CUDA"/>
          <p:cNvSpPr/>
          <p:nvPr/>
        </p:nvSpPr>
        <p:spPr>
          <a:xfrm>
            <a:off x="8302752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75904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sp>
        <p:nvSpPr>
          <p:cNvPr id="48" name="平台对照共用标签 CANN"/>
          <p:cNvSpPr/>
          <p:nvPr/>
        </p:nvSpPr>
        <p:spPr>
          <a:xfrm>
            <a:off x="10149840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222992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619488" y="3547872"/>
            <a:ext cx="35661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  <a:head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028431" y="3858768"/>
            <a:ext cx="3538728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各模型内，按指标算两侧均分</a:t>
            </a:r>
          </a:p>
        </p:txBody>
      </p:sp>
      <p:sp>
        <p:nvSpPr>
          <p:cNvPr id="52" name="独立模型平台对照结果 GLM-5.3"/>
          <p:cNvSpPr/>
          <p:nvPr/>
        </p:nvSpPr>
        <p:spPr>
          <a:xfrm>
            <a:off x="8028431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92440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92440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5" name="独立模型平台对照结果 DeepSeek"/>
          <p:cNvSpPr/>
          <p:nvPr/>
        </p:nvSpPr>
        <p:spPr>
          <a:xfrm>
            <a:off x="9256776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20784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20784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8" name="独立模型平台对照结果 Kimi"/>
          <p:cNvSpPr/>
          <p:nvPr/>
        </p:nvSpPr>
        <p:spPr>
          <a:xfrm>
            <a:off x="10485119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549127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49127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569452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797796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1026139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569452" y="5166360"/>
            <a:ext cx="2456687" cy="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797796" y="5166360"/>
            <a:ext cx="0" cy="283464"/>
          </a:xfrm>
          <a:prstGeom prst="line">
            <a:avLst/>
          </a:prstGeom>
          <a:ln w="13970">
            <a:solidFill>
              <a:srgbClr val="B8A6D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查看跨模型重复问题，不合并模型均分"/>
          <p:cNvSpPr/>
          <p:nvPr/>
        </p:nvSpPr>
        <p:spPr>
          <a:xfrm>
            <a:off x="8426196" y="5477256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EBE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17636" y="5554980"/>
            <a:ext cx="25603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695183"/>
                </a:solidFill>
                <a:latin typeface="PingFang SC"/>
                <a:ea typeface="PingFang SC"/>
              </a:rPr>
              <a:t>查看反复出现的薄弱环节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1792" y="5641848"/>
            <a:ext cx="3547872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同一组问题、工具与额度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25112" y="5559552"/>
            <a:ext cx="35478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程序检查：原文 · 档位 · 计算
重点复核，修改留依据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21792" y="6080760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621792" y="6217920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减少单一模型偏好的影响，找到共同的薄弱环节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4285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92663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92663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D63D8"/>
                </a:solidFill>
                <a:latin typeface="Menlo"/>
                <a:ea typeface="PingFang SC"/>
              </a:rPr>
              <a:t>方法复用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把实验方法沉淀为可复用的 Benchmark Skill</a:t>
            </a:r>
          </a:p>
        </p:txBody>
      </p:sp>
      <p:sp>
        <p:nvSpPr>
          <p:cNvPr id="13" name="可替换输入：任务、平台、模型"/>
          <p:cNvSpPr/>
          <p:nvPr/>
        </p:nvSpPr>
        <p:spPr>
          <a:xfrm>
            <a:off x="621792" y="1408176"/>
            <a:ext cx="10945368" cy="1133856"/>
          </a:xfrm>
          <a:prstGeom prst="rect">
            <a:avLst/>
          </a:prstGeom>
          <a:solidFill>
            <a:srgbClr val="FFFFFF">
              <a:alpha val="5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主要输入图标：任务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618488"/>
            <a:ext cx="237744" cy="237744"/>
          </a:xfrm>
          <a:prstGeom prst="rect">
            <a:avLst/>
          </a:prstGeom>
        </p:spPr>
      </p:pic>
      <p:sp>
        <p:nvSpPr>
          <p:cNvPr id="15" name="主要输入标题：任务"/>
          <p:cNvSpPr txBox="1"/>
          <p:nvPr/>
        </p:nvSpPr>
        <p:spPr>
          <a:xfrm>
            <a:off x="1143000" y="1563624"/>
            <a:ext cx="24688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任务</a:t>
            </a:r>
          </a:p>
        </p:txBody>
      </p:sp>
      <p:pic>
        <p:nvPicPr>
          <p:cNvPr id="16" name="主要输入图标：平台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416" y="1618488"/>
            <a:ext cx="237744" cy="237744"/>
          </a:xfrm>
          <a:prstGeom prst="rect">
            <a:avLst/>
          </a:prstGeom>
        </p:spPr>
      </p:pic>
      <p:sp>
        <p:nvSpPr>
          <p:cNvPr id="17" name="主要输入标题：平台"/>
          <p:cNvSpPr txBox="1"/>
          <p:nvPr/>
        </p:nvSpPr>
        <p:spPr>
          <a:xfrm>
            <a:off x="4818888" y="1563624"/>
            <a:ext cx="24688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平台</a:t>
            </a:r>
          </a:p>
        </p:txBody>
      </p:sp>
      <p:pic>
        <p:nvPicPr>
          <p:cNvPr id="18" name="主要输入图标：模型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312" y="1618488"/>
            <a:ext cx="237744" cy="237744"/>
          </a:xfrm>
          <a:prstGeom prst="rect">
            <a:avLst/>
          </a:prstGeom>
        </p:spPr>
      </p:pic>
      <p:sp>
        <p:nvSpPr>
          <p:cNvPr id="19" name="主要输入标题：模型"/>
          <p:cNvSpPr txBox="1"/>
          <p:nvPr/>
        </p:nvSpPr>
        <p:spPr>
          <a:xfrm>
            <a:off x="8558784" y="1563624"/>
            <a:ext cx="24688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模型</a:t>
            </a:r>
          </a:p>
        </p:txBody>
      </p:sp>
      <p:sp>
        <p:nvSpPr>
          <p:cNvPr id="20" name="任务选项：性能瓶颈定位、模型转换与部署"/>
          <p:cNvSpPr txBox="1"/>
          <p:nvPr/>
        </p:nvSpPr>
        <p:spPr>
          <a:xfrm>
            <a:off x="795528" y="1956816"/>
            <a:ext cx="33741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性能瓶颈定位、模型转换与部署</a:t>
            </a:r>
          </a:p>
        </p:txBody>
      </p:sp>
      <p:sp>
        <p:nvSpPr>
          <p:cNvPr id="21" name="任务选项：版本配套排查等任务"/>
          <p:cNvSpPr txBox="1"/>
          <p:nvPr/>
        </p:nvSpPr>
        <p:spPr>
          <a:xfrm>
            <a:off x="795528" y="2249424"/>
            <a:ext cx="33741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版本配套排查等任务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1416" y="1956816"/>
            <a:ext cx="475488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本次</a:t>
            </a:r>
          </a:p>
        </p:txBody>
      </p:sp>
      <p:pic>
        <p:nvPicPr>
          <p:cNvPr id="23" name="本次平台：CANN官方标识" descr="cann-logo-pc.png"/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4965192" y="2026633"/>
            <a:ext cx="329183" cy="11639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376672" y="1956816"/>
            <a:ext cx="10972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昇腾 / CANN</a:t>
            </a:r>
          </a:p>
        </p:txBody>
      </p:sp>
      <p:pic>
        <p:nvPicPr>
          <p:cNvPr id="25" name="本次平台：NVIDIA官方标识" descr="nvidia-logo-black.png"/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6528816" y="2030812"/>
            <a:ext cx="585216" cy="10803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205472" y="1956816"/>
            <a:ext cx="612648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CUDA</a:t>
            </a:r>
          </a:p>
        </p:txBody>
      </p:sp>
      <p:sp>
        <p:nvSpPr>
          <p:cNvPr id="27" name="可扩展平台：华为云等"/>
          <p:cNvSpPr txBox="1"/>
          <p:nvPr/>
        </p:nvSpPr>
        <p:spPr>
          <a:xfrm>
            <a:off x="4471416" y="2249424"/>
            <a:ext cx="332841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可扩展：华为云等平台</a:t>
            </a:r>
          </a:p>
        </p:txBody>
      </p:sp>
      <p:pic>
        <p:nvPicPr>
          <p:cNvPr id="28" name="可选模型：glm official brand logo" descr="glm-zai-official-preview.png"/>
          <p:cNvPicPr>
            <a:picLocks noChangeAspect="1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>
            <a:off x="8211312" y="1984248"/>
            <a:ext cx="201168" cy="201168"/>
          </a:xfrm>
          <a:prstGeom prst="rect">
            <a:avLst/>
          </a:prstGeom>
        </p:spPr>
      </p:pic>
      <p:sp>
        <p:nvSpPr>
          <p:cNvPr id="29" name="模型选项：GLM-5.3"/>
          <p:cNvSpPr txBox="1"/>
          <p:nvPr/>
        </p:nvSpPr>
        <p:spPr>
          <a:xfrm>
            <a:off x="8485632" y="1956816"/>
            <a:ext cx="886968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GLM-5.3</a:t>
            </a:r>
          </a:p>
        </p:txBody>
      </p:sp>
      <p:pic>
        <p:nvPicPr>
          <p:cNvPr id="30" name="可选模型：deepseek official brand logo" descr="deepseek-official-whale-preview.png"/>
          <p:cNvPicPr>
            <a:picLocks noChangeAspect="1"/>
          </p:cNvPicPr>
          <p:nvPr/>
        </p:nvPicPr>
        <p:blipFill>
          <a:blip r:embed="rId9">
            <a:alphaModFix amt="50000"/>
          </a:blip>
          <a:stretch>
            <a:fillRect/>
          </a:stretch>
        </p:blipFill>
        <p:spPr>
          <a:xfrm>
            <a:off x="9464040" y="1999025"/>
            <a:ext cx="201168" cy="171612"/>
          </a:xfrm>
          <a:prstGeom prst="rect">
            <a:avLst/>
          </a:prstGeom>
        </p:spPr>
      </p:pic>
      <p:sp>
        <p:nvSpPr>
          <p:cNvPr id="31" name="模型选项：DeepSeek"/>
          <p:cNvSpPr txBox="1"/>
          <p:nvPr/>
        </p:nvSpPr>
        <p:spPr>
          <a:xfrm>
            <a:off x="9738360" y="1956816"/>
            <a:ext cx="95097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DeepSeek</a:t>
            </a:r>
          </a:p>
        </p:txBody>
      </p:sp>
      <p:pic>
        <p:nvPicPr>
          <p:cNvPr id="32" name="可选模型：kimi official brand logo" descr="kimi-official-logomark_light-preview.png"/>
          <p:cNvPicPr>
            <a:picLocks noChangeAspect="1"/>
          </p:cNvPicPr>
          <p:nvPr/>
        </p:nvPicPr>
        <p:blipFill>
          <a:blip r:embed="rId10">
            <a:alphaModFix amt="50000"/>
          </a:blip>
          <a:stretch>
            <a:fillRect/>
          </a:stretch>
        </p:blipFill>
        <p:spPr>
          <a:xfrm>
            <a:off x="10780776" y="1984248"/>
            <a:ext cx="201168" cy="201168"/>
          </a:xfrm>
          <a:prstGeom prst="rect">
            <a:avLst/>
          </a:prstGeom>
        </p:spPr>
      </p:pic>
      <p:sp>
        <p:nvSpPr>
          <p:cNvPr id="33" name="模型选项：Kimi"/>
          <p:cNvSpPr txBox="1"/>
          <p:nvPr/>
        </p:nvSpPr>
        <p:spPr>
          <a:xfrm>
            <a:off x="11064240" y="1956816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2249424"/>
            <a:ext cx="3355848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也可配置其他模型</a:t>
            </a:r>
          </a:p>
        </p:txBody>
      </p:sp>
      <p:sp>
        <p:nvSpPr>
          <p:cNvPr id="35" name="固定方法：准备实验"/>
          <p:cNvSpPr/>
          <p:nvPr/>
        </p:nvSpPr>
        <p:spPr>
          <a:xfrm>
            <a:off x="1549908" y="2633472"/>
            <a:ext cx="457200" cy="457200"/>
          </a:xfrm>
          <a:prstGeom prst="ellipse">
            <a:avLst/>
          </a:prstGeom>
          <a:solidFill>
            <a:srgbClr val="E3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步骤图标：准备实验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50492" y="2734056"/>
            <a:ext cx="256032" cy="25603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208276" y="2679192"/>
            <a:ext cx="10241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3616F"/>
                </a:solidFill>
                <a:latin typeface="PingFang SC"/>
                <a:ea typeface="PingFang SC"/>
              </a:rPr>
              <a:t>准备实验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" y="3136392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选择输入，确定实验要求</a:t>
            </a:r>
          </a:p>
        </p:txBody>
      </p:sp>
      <p:sp>
        <p:nvSpPr>
          <p:cNvPr id="39" name="固定方法：执行实验"/>
          <p:cNvSpPr/>
          <p:nvPr/>
        </p:nvSpPr>
        <p:spPr>
          <a:xfrm>
            <a:off x="5253228" y="2633472"/>
            <a:ext cx="457200" cy="457200"/>
          </a:xfrm>
          <a:prstGeom prst="ellipse">
            <a:avLst/>
          </a:prstGeom>
          <a:solidFill>
            <a:srgbClr val="D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步骤图标：执行实验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53812" y="2734056"/>
            <a:ext cx="256032" cy="25603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911596" y="2679192"/>
            <a:ext cx="10241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执行实验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39996" y="3136392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先回答，再检索与作答</a:t>
            </a:r>
          </a:p>
        </p:txBody>
      </p:sp>
      <p:sp>
        <p:nvSpPr>
          <p:cNvPr id="43" name="固定方法：评分与复核"/>
          <p:cNvSpPr/>
          <p:nvPr/>
        </p:nvSpPr>
        <p:spPr>
          <a:xfrm>
            <a:off x="8833104" y="2633472"/>
            <a:ext cx="457200" cy="457200"/>
          </a:xfrm>
          <a:prstGeom prst="ellipse">
            <a:avLst/>
          </a:prstGeom>
          <a:solidFill>
            <a:srgbClr val="EAE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步骤图标：评分与复核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33688" y="2734056"/>
            <a:ext cx="256032" cy="25603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491472" y="2679192"/>
            <a:ext cx="12710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评分与复核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3316" y="3136392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统一判分，回查证据</a:t>
            </a:r>
          </a:p>
        </p:txBody>
      </p:sp>
      <p:cxnSp>
        <p:nvCxnSpPr>
          <p:cNvPr id="47" name="步骤顺序：准备、执行、评分与复核"/>
          <p:cNvCxnSpPr/>
          <p:nvPr/>
        </p:nvCxnSpPr>
        <p:spPr>
          <a:xfrm>
            <a:off x="3351276" y="2862072"/>
            <a:ext cx="1783080" cy="0"/>
          </a:xfrm>
          <a:prstGeom prst="line">
            <a:avLst/>
          </a:prstGeom>
          <a:ln w="13970">
            <a:solidFill>
              <a:srgbClr val="929AA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步骤顺序：准备、执行、评分与复核"/>
          <p:cNvCxnSpPr/>
          <p:nvPr/>
        </p:nvCxnSpPr>
        <p:spPr>
          <a:xfrm>
            <a:off x="7054596" y="2862072"/>
            <a:ext cx="1659636" cy="0"/>
          </a:xfrm>
          <a:prstGeom prst="line">
            <a:avLst/>
          </a:prstGeom>
          <a:ln w="13970">
            <a:solidFill>
              <a:srgbClr val="929AA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留存文件关联：执行实验到过程记录"/>
          <p:cNvCxnSpPr/>
          <p:nvPr/>
        </p:nvCxnSpPr>
        <p:spPr>
          <a:xfrm>
            <a:off x="6094476" y="3438144"/>
            <a:ext cx="0" cy="137160"/>
          </a:xfrm>
          <a:prstGeom prst="line">
            <a:avLst/>
          </a:prstGeom>
          <a:ln w="15875">
            <a:solidFill>
              <a:srgbClr val="355E85"/>
            </a:solidFill>
            <a:tailEnd type="triangle" w="sm" len="sm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实验产物文档：过程记录"/>
          <p:cNvSpPr/>
          <p:nvPr/>
        </p:nvSpPr>
        <p:spPr>
          <a:xfrm>
            <a:off x="4393692" y="3611880"/>
            <a:ext cx="3401568" cy="2706624"/>
          </a:xfrm>
          <a:custGeom>
            <a:avLst/>
            <a:gdLst/>
            <a:ahLst/>
            <a:cxnLst/>
            <a:rect l="l" t="t" r="r" b="b"/>
            <a:pathLst>
              <a:path w="3401568" h="2706624">
                <a:moveTo>
                  <a:pt x="0" y="0"/>
                </a:moveTo>
                <a:lnTo>
                  <a:pt x="3218688" y="0"/>
                </a:lnTo>
                <a:lnTo>
                  <a:pt x="3401568" y="182880"/>
                </a:lnTo>
                <a:lnTo>
                  <a:pt x="3401568" y="2706624"/>
                </a:lnTo>
                <a:lnTo>
                  <a:pt x="0" y="2706624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7612380" y="3611880"/>
            <a:ext cx="0" cy="18288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612380" y="3794760"/>
            <a:ext cx="182880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实验产物图标：过程记录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6572" y="3776472"/>
            <a:ext cx="274320" cy="27432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4933188" y="3749040"/>
            <a:ext cx="12527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过程记录</a:t>
            </a:r>
          </a:p>
        </p:txBody>
      </p:sp>
      <p:sp>
        <p:nvSpPr>
          <p:cNvPr id="54" name="真实文件名：process.jsonl"/>
          <p:cNvSpPr txBox="1"/>
          <p:nvPr/>
        </p:nvSpPr>
        <p:spPr>
          <a:xfrm>
            <a:off x="6286500" y="3813048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697480"/>
                </a:solidFill>
                <a:latin typeface="Menlo"/>
                <a:ea typeface="PingFang SC"/>
              </a:rPr>
              <a:t>process.jsonl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576572" y="4151376"/>
            <a:ext cx="3035808" cy="0"/>
          </a:xfrm>
          <a:prstGeom prst="line">
            <a:avLst/>
          </a:prstGeom>
          <a:ln w="13970">
            <a:solidFill>
              <a:srgbClr val="D8DD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576572" y="4224528"/>
            <a:ext cx="3035808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回答、搜索与资料读取</a:t>
            </a:r>
          </a:p>
        </p:txBody>
      </p:sp>
      <p:sp>
        <p:nvSpPr>
          <p:cNvPr id="57" name="原文区底色：process.jsonl"/>
          <p:cNvSpPr/>
          <p:nvPr/>
        </p:nvSpPr>
        <p:spPr>
          <a:xfrm>
            <a:off x="4558283" y="4526280"/>
            <a:ext cx="3072384" cy="1682496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真实记录纯文本：process.jsonl"/>
          <p:cNvSpPr txBox="1"/>
          <p:nvPr/>
        </p:nvSpPr>
        <p:spPr>
          <a:xfrm>
            <a:off x="4640579" y="4617720"/>
            <a:ext cx="2907792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300" b="0">
                <a:solidFill>
                  <a:srgbClr val="303640"/>
                </a:solidFill>
                <a:latin typeface="PingFang SC"/>
                <a:ea typeface="PingFang SC"/>
              </a:rPr>
              <a:t>问句：昇腾上跑 PyTorch 想定位瓶颈，怎么用 msprof / Ascend PyTorch Profiler 采集分析？给出代码和步骤。
检索：昇腾 PyTorch Profiler 性能分析 msprof 官方文档 hiascend
返回：msprof-analyze/README.md-代码预览-MindStudio-Profiler ...</a:t>
            </a:r>
          </a:p>
        </p:txBody>
      </p:sp>
      <p:cxnSp>
        <p:nvCxnSpPr>
          <p:cNvPr id="59" name="留存文件关联：评分与复核到评分记录"/>
          <p:cNvCxnSpPr/>
          <p:nvPr/>
        </p:nvCxnSpPr>
        <p:spPr>
          <a:xfrm>
            <a:off x="9797796" y="3438144"/>
            <a:ext cx="0" cy="137160"/>
          </a:xfrm>
          <a:prstGeom prst="line">
            <a:avLst/>
          </a:prstGeom>
          <a:ln w="15875">
            <a:solidFill>
              <a:srgbClr val="695183"/>
            </a:solidFill>
            <a:tailEnd type="triangle" w="sm" len="sm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实验产物文档：评分记录"/>
          <p:cNvSpPr/>
          <p:nvPr/>
        </p:nvSpPr>
        <p:spPr>
          <a:xfrm>
            <a:off x="8097012" y="3611880"/>
            <a:ext cx="3401568" cy="2706624"/>
          </a:xfrm>
          <a:custGeom>
            <a:avLst/>
            <a:gdLst/>
            <a:ahLst/>
            <a:cxnLst/>
            <a:rect l="l" t="t" r="r" b="b"/>
            <a:pathLst>
              <a:path w="3401568" h="2706624">
                <a:moveTo>
                  <a:pt x="0" y="0"/>
                </a:moveTo>
                <a:lnTo>
                  <a:pt x="3218688" y="0"/>
                </a:lnTo>
                <a:lnTo>
                  <a:pt x="3401568" y="182880"/>
                </a:lnTo>
                <a:lnTo>
                  <a:pt x="3401568" y="2706624"/>
                </a:lnTo>
                <a:lnTo>
                  <a:pt x="0" y="2706624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11315700" y="3611880"/>
            <a:ext cx="0" cy="18288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1315700" y="3794760"/>
            <a:ext cx="182880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3" name="实验产物图标：评分记录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79892" y="3776472"/>
            <a:ext cx="274320" cy="27432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8636508" y="3749040"/>
            <a:ext cx="12527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评分记录</a:t>
            </a:r>
          </a:p>
        </p:txBody>
      </p:sp>
      <p:sp>
        <p:nvSpPr>
          <p:cNvPr id="65" name="真实文件名：evaluation.json"/>
          <p:cNvSpPr txBox="1"/>
          <p:nvPr/>
        </p:nvSpPr>
        <p:spPr>
          <a:xfrm>
            <a:off x="9989820" y="3813048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697480"/>
                </a:solidFill>
                <a:latin typeface="Menlo"/>
                <a:ea typeface="PingFang SC"/>
              </a:rPr>
              <a:t>evaluation.json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8279892" y="4151376"/>
            <a:ext cx="3035808" cy="0"/>
          </a:xfrm>
          <a:prstGeom prst="line">
            <a:avLst/>
          </a:prstGeom>
          <a:ln w="13970">
            <a:solidFill>
              <a:srgbClr val="D8DD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279892" y="4224528"/>
            <a:ext cx="3035808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得分、依据与未满足项</a:t>
            </a:r>
          </a:p>
        </p:txBody>
      </p:sp>
      <p:sp>
        <p:nvSpPr>
          <p:cNvPr id="68" name="原文区底色：evaluation.json"/>
          <p:cNvSpPr/>
          <p:nvPr/>
        </p:nvSpPr>
        <p:spPr>
          <a:xfrm>
            <a:off x="8261604" y="4526280"/>
            <a:ext cx="3072384" cy="1682496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真实记录纯文本：evaluation.json"/>
          <p:cNvSpPr txBox="1"/>
          <p:nvPr/>
        </p:nvSpPr>
        <p:spPr>
          <a:xfrm>
            <a:off x="8343900" y="4617720"/>
            <a:ext cx="2907792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300" b="0">
                <a:solidFill>
                  <a:srgbClr val="303640"/>
                </a:solidFill>
                <a:latin typeface="PingFang SC"/>
                <a:ea typeface="PingFang SC"/>
              </a:rPr>
              <a:t>M1 官方发现：5分
首次查询第1条即为相关官方来源
（gitcode.com/Ascend/
msprof-analyze，Ascend官方组织的
MindStudio Profiler仓库），
第5条亦为hiascend.com官方文档，
首次查询即命中且排名第1。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5528" y="4005072"/>
            <a:ext cx="337413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换输入，继续复用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5528" y="4544568"/>
            <a:ext cx="33741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先明确对应任务与评分要求，
再按同样流程开展评测。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5528" y="5367528"/>
            <a:ext cx="33741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本次记录示例</a:t>
            </a:r>
          </a:p>
        </p:txBody>
      </p:sp>
      <p:sp>
        <p:nvSpPr>
          <p:cNvPr id="73" name="真实记录的单次实验归属"/>
          <p:cNvSpPr txBox="1"/>
          <p:nvPr/>
        </p:nvSpPr>
        <p:spPr>
          <a:xfrm>
            <a:off x="795528" y="5715000"/>
            <a:ext cx="337413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性能瓶颈定位
CANN，GLM-5.3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