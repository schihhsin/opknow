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主实验包括25组CANN/CUDA问题对，每侧分别由GLM-5.3、DeepSeek V4.1 Flash和Kimi（kimi-k3-2）执行一次，共150次。完整批次还有6次G迁移类比运行，单列分析。各指标按各自纳入范围统计，150次不意味着全部进入每个指标的均分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准备实验、执行实验、评分与复核。准备实验先确定任务、平台和模型，并明确冻结的任务要求、执行约定和评分标准。执行阶段保留检索前回答、真实搜索与读取、最终作答。评分与复核阶段按统一标准判分，并回查原始证据。执行与评分复核下方分别挂出过程记录和评分记录，表示各步实际留下的文件；准备阶段不另外新增记录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原文区展示同一次B题/CANN/GLM-5.3实验的完整原始问句、完整检索词和首条搜索标题，保留原有标题中的三个英文省略点；评分区展示最新revision 13的M1=5及完整reason。问句、检索、返回是用于阅读的显示标签，均为普通文字；仅内容字段取自真实记录，不伪装为原始JSON。未显示长URL和原始事件标识；它们仍保留在资料依据中。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三个模型按统一要求执行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621792" y="5797296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5952744"/>
            <a:ext cx="10954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25组问题对 × 2个平台 × 3个模型 = 150次主实验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46304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019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463040"/>
            <a:ext cx="85404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72968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1883664"/>
            <a:ext cx="854049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13464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20" name="主要输入标题：任务"/>
          <p:cNvSpPr txBox="1"/>
          <p:nvPr/>
        </p:nvSpPr>
        <p:spPr>
          <a:xfrm>
            <a:off x="1078992" y="2386584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85032"/>
            <a:ext cx="237744" cy="237744"/>
          </a:xfrm>
          <a:prstGeom prst="rect">
            <a:avLst/>
          </a:prstGeom>
        </p:spPr>
      </p:pic>
      <p:sp>
        <p:nvSpPr>
          <p:cNvPr id="22" name="主要输入标题：平台"/>
          <p:cNvSpPr txBox="1"/>
          <p:nvPr/>
        </p:nvSpPr>
        <p:spPr>
          <a:xfrm>
            <a:off x="1078992" y="3630168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64024"/>
            <a:ext cx="237744" cy="237744"/>
          </a:xfrm>
          <a:prstGeom prst="rect">
            <a:avLst/>
          </a:prstGeom>
        </p:spPr>
      </p:pic>
      <p:sp>
        <p:nvSpPr>
          <p:cNvPr id="24" name="主要输入标题：模型"/>
          <p:cNvSpPr txBox="1"/>
          <p:nvPr/>
        </p:nvSpPr>
        <p:spPr>
          <a:xfrm>
            <a:off x="1078992" y="4709160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063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9067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731520" y="4146879"/>
            <a:ext cx="594360" cy="210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5608" y="4105656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731520" y="523036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0704" y="5184648"/>
            <a:ext cx="1801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20370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203704"/>
            <a:ext cx="0" cy="34655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固定方法：准备实验"/>
          <p:cNvSpPr/>
          <p:nvPr/>
        </p:nvSpPr>
        <p:spPr>
          <a:xfrm>
            <a:off x="3319272" y="2002536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步骤图标：准备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2103120"/>
            <a:ext cx="256032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977639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950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确定任务与实验要求</a:t>
            </a:r>
          </a:p>
        </p:txBody>
      </p:sp>
      <p:sp>
        <p:nvSpPr>
          <p:cNvPr id="38" name="固定方法：执行实验"/>
          <p:cNvSpPr/>
          <p:nvPr/>
        </p:nvSpPr>
        <p:spPr>
          <a:xfrm>
            <a:off x="6153912" y="2002536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步骤图标：执行实验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2103120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12280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14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2" name="固定方法：评分与复核"/>
          <p:cNvSpPr/>
          <p:nvPr/>
        </p:nvSpPr>
        <p:spPr>
          <a:xfrm>
            <a:off x="8874252" y="2002536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步骤图标：评分与复核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4836" y="2103120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32620" y="2048256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928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62656" y="2231136"/>
            <a:ext cx="26517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93207" y="2231136"/>
            <a:ext cx="969265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927848" y="2231136"/>
            <a:ext cx="854964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995160" y="2807208"/>
            <a:ext cx="0" cy="73152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留存文件关联：执行实验到过程记录"/>
          <p:cNvCxnSpPr/>
          <p:nvPr/>
        </p:nvCxnSpPr>
        <p:spPr>
          <a:xfrm flipH="1">
            <a:off x="5047488" y="2880360"/>
            <a:ext cx="1947672" cy="0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留存文件关联：执行实验到过程记录"/>
          <p:cNvCxnSpPr/>
          <p:nvPr/>
        </p:nvCxnSpPr>
        <p:spPr>
          <a:xfrm>
            <a:off x="5047488" y="2880360"/>
            <a:ext cx="0" cy="82296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留存文件关联：评分与复核到评分记录"/>
          <p:cNvCxnSpPr/>
          <p:nvPr/>
        </p:nvCxnSpPr>
        <p:spPr>
          <a:xfrm>
            <a:off x="9838944" y="2807208"/>
            <a:ext cx="0" cy="155448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172968" y="2999232"/>
            <a:ext cx="3749039" cy="2990088"/>
          </a:xfrm>
          <a:custGeom>
            <a:avLst/>
            <a:gdLst/>
            <a:ahLst/>
            <a:cxnLst/>
            <a:rect l="l" t="t" r="r" b="b"/>
            <a:pathLst>
              <a:path w="3749039" h="2990088">
                <a:moveTo>
                  <a:pt x="0" y="0"/>
                </a:moveTo>
                <a:lnTo>
                  <a:pt x="3547872" y="0"/>
                </a:lnTo>
                <a:lnTo>
                  <a:pt x="3749039" y="201168"/>
                </a:lnTo>
                <a:lnTo>
                  <a:pt x="3749039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720840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720840" y="3200400"/>
            <a:ext cx="201167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实验产物图标：过程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5848" y="316382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712463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7" name="真实文件名：process.jsonl"/>
          <p:cNvSpPr txBox="1"/>
          <p:nvPr/>
        </p:nvSpPr>
        <p:spPr>
          <a:xfrm>
            <a:off x="5413248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355848" y="3538727"/>
            <a:ext cx="3383279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355848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60" name="原文区底色：process.jsonl"/>
          <p:cNvSpPr/>
          <p:nvPr/>
        </p:nvSpPr>
        <p:spPr>
          <a:xfrm>
            <a:off x="3337560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真实记录纯文本：process.jsonl"/>
          <p:cNvSpPr txBox="1"/>
          <p:nvPr/>
        </p:nvSpPr>
        <p:spPr>
          <a:xfrm>
            <a:off x="3447287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
怎么用 msprof / Ascend PyTorch 
Profiler 采集分析？给出代码和步骤。
检索：昇腾 PyTorch Profiler 性能分析 
msprof 官方文档 hiascend
返回：msprof-analyze/README.md-
代码预览-MindStudio-Profiler ...</a:t>
            </a:r>
          </a:p>
        </p:txBody>
      </p:sp>
      <p:sp>
        <p:nvSpPr>
          <p:cNvPr id="62" name="实验产物文档：评分记录"/>
          <p:cNvSpPr/>
          <p:nvPr/>
        </p:nvSpPr>
        <p:spPr>
          <a:xfrm>
            <a:off x="7964424" y="2999232"/>
            <a:ext cx="3749040" cy="2990088"/>
          </a:xfrm>
          <a:custGeom>
            <a:avLst/>
            <a:gdLst/>
            <a:ahLst/>
            <a:cxnLst/>
            <a:rect l="l" t="t" r="r" b="b"/>
            <a:pathLst>
              <a:path w="3749040" h="2990088">
                <a:moveTo>
                  <a:pt x="0" y="0"/>
                </a:moveTo>
                <a:lnTo>
                  <a:pt x="3547872" y="0"/>
                </a:lnTo>
                <a:lnTo>
                  <a:pt x="3749040" y="201168"/>
                </a:lnTo>
                <a:lnTo>
                  <a:pt x="3749040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1512296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512296" y="3200400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实验产物图标：评分记录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7304" y="3163824"/>
            <a:ext cx="274320" cy="2743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503920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7" name="真实文件名：evaluation.json"/>
          <p:cNvSpPr txBox="1"/>
          <p:nvPr/>
        </p:nvSpPr>
        <p:spPr>
          <a:xfrm>
            <a:off x="10204704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147304" y="3538727"/>
            <a:ext cx="3383280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147304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70" name="原文区底色：evaluation.json"/>
          <p:cNvSpPr/>
          <p:nvPr/>
        </p:nvSpPr>
        <p:spPr>
          <a:xfrm>
            <a:off x="8129016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真实记录纯文本：evaluation.json"/>
          <p:cNvSpPr txBox="1"/>
          <p:nvPr/>
        </p:nvSpPr>
        <p:spPr>
          <a:xfrm>
            <a:off x="8238744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cxnSp>
        <p:nvCxnSpPr>
          <p:cNvPr id="72" name="评分记录回查过程记录"/>
          <p:cNvCxnSpPr/>
          <p:nvPr/>
        </p:nvCxnSpPr>
        <p:spPr>
          <a:xfrm flipH="1">
            <a:off x="6986016" y="4645152"/>
            <a:ext cx="91440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949440" y="4242816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4818888"/>
            <a:ext cx="987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
原始记录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838944" y="6080760"/>
            <a:ext cx="0" cy="237744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8979408" y="6318504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2962656" y="6318504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962656" y="5742432"/>
            <a:ext cx="0" cy="576072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68496" y="6126480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