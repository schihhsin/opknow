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这一页只用M7一个代表例，说明怎样减少主观自评。双阶梯只表示各自量规的1—5顺序，不代表等距变化、进步幅度、正确概率，也不能将旧分换算成新分。关键词忠实缩写，完整规则如下。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正式B/CUDA/Kimi运行为例。模型先仅凭已有知识回答，把第一次回答保存下来，用于M7评价；随后搜索并读取资料；最后结合取得的资料重新给出独立回答。搜索结果、读取正文、两次回答和实际调用次数均保存，后续据此评分。</a:t>
            </a:r>
          </a:p>
          <a:p/>
          <a:p>
            <a:r>
              <a:t>这次运行首查前5条均为第三方，第二次搜索首次命中NVIDIA官方资料。全程3次搜索、3次读取，约4分33秒。示意图用于说明顺序，不表示等比例耗时。获得官方资料不等于全部任务需求均已满足。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页面只放一个真实例子：B/CUDA/Kimi第一次搜索前5条全是第三方，第二次首次命中NVIDIA官方资料。按M1第2查首次命中的档位记3分，不能因为第二查第1条就当成首查第1条记5分。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这一页接着上一页真实运行，说明记录怎样变成分数，以及怎样复核。我们使用B任务的CUDA侧Kimi运行，原题是：PyTorch模型GPU利用率不高，怎么用Nsight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首先看左侧四个判分。M1的第一次查询前五条都是第三方来源，第二次查询第1条才首次命中NVIDIA官方User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右侧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任务、平台和模型之间的比较、各模型任务平均、图表与设计线索属于后续汇总分析，页面明确区分；不是Skill一键自动产生结论。内容判断仍需复核，不声称已验证硬件运行成功或消除模型偏差。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1 N01 to N02"/>
          <p:cNvCxnSpPr/>
          <p:nvPr/>
        </p:nvCxnSpPr>
        <p:spPr>
          <a:xfrm>
            <a:off x="4412482" y="1430644"/>
            <a:ext cx="0" cy="33726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2 N02 to N03"/>
          <p:cNvCxnSpPr/>
          <p:nvPr/>
        </p:nvCxnSpPr>
        <p:spPr>
          <a:xfrm>
            <a:off x="4412482" y="1747667"/>
            <a:ext cx="0" cy="47217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5" name="E03 N03 to N04"/>
          <p:cNvCxnSpPr/>
          <p:nvPr/>
        </p:nvCxnSpPr>
        <p:spPr>
          <a:xfrm>
            <a:off x="4412482" y="1983749"/>
            <a:ext cx="0" cy="53961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6" name="E04 N04 to N05"/>
          <p:cNvCxnSpPr/>
          <p:nvPr/>
        </p:nvCxnSpPr>
        <p:spPr>
          <a:xfrm>
            <a:off x="4412482" y="2226575"/>
            <a:ext cx="0" cy="5396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7" name="E05 N05 to N06"/>
          <p:cNvCxnSpPr/>
          <p:nvPr/>
        </p:nvCxnSpPr>
        <p:spPr>
          <a:xfrm>
            <a:off x="4412482" y="2496383"/>
            <a:ext cx="0" cy="6745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8" name="E06 N06 to N07"/>
          <p:cNvCxnSpPr/>
          <p:nvPr/>
        </p:nvCxnSpPr>
        <p:spPr>
          <a:xfrm>
            <a:off x="4412482" y="2914584"/>
            <a:ext cx="0" cy="107923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9" name="E06 N06 to N07"/>
          <p:cNvCxnSpPr/>
          <p:nvPr/>
        </p:nvCxnSpPr>
        <p:spPr>
          <a:xfrm flipH="1">
            <a:off x="2542077" y="3022507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20" name="E06 N06 to N07"/>
          <p:cNvCxnSpPr/>
          <p:nvPr/>
        </p:nvCxnSpPr>
        <p:spPr>
          <a:xfrm>
            <a:off x="2542077" y="3022507"/>
            <a:ext cx="0" cy="80942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21" name="E07 N07 to N08"/>
          <p:cNvCxnSpPr/>
          <p:nvPr/>
        </p:nvCxnSpPr>
        <p:spPr>
          <a:xfrm>
            <a:off x="2542077" y="3481180"/>
            <a:ext cx="0" cy="80942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22" name="E08 N08 to N10"/>
          <p:cNvCxnSpPr/>
          <p:nvPr/>
        </p:nvCxnSpPr>
        <p:spPr>
          <a:xfrm>
            <a:off x="2542077" y="3939852"/>
            <a:ext cx="0" cy="74197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8 N08 to N10"/>
          <p:cNvCxnSpPr/>
          <p:nvPr/>
        </p:nvCxnSpPr>
        <p:spPr>
          <a:xfrm>
            <a:off x="2542077" y="4014049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4" name="E08 N08 to N10"/>
          <p:cNvCxnSpPr/>
          <p:nvPr/>
        </p:nvCxnSpPr>
        <p:spPr>
          <a:xfrm>
            <a:off x="3851361" y="4014049"/>
            <a:ext cx="0" cy="47217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09 N09 to N10"/>
          <p:cNvCxnSpPr/>
          <p:nvPr/>
        </p:nvCxnSpPr>
        <p:spPr>
          <a:xfrm>
            <a:off x="8546078" y="3568867"/>
            <a:ext cx="0" cy="445182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6" name="E09 N09 to N10"/>
          <p:cNvCxnSpPr/>
          <p:nvPr/>
        </p:nvCxnSpPr>
        <p:spPr>
          <a:xfrm flipH="1">
            <a:off x="4786563" y="4014049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7" name="E09 N09 to N10"/>
          <p:cNvCxnSpPr/>
          <p:nvPr/>
        </p:nvCxnSpPr>
        <p:spPr>
          <a:xfrm>
            <a:off x="4786563" y="4014049"/>
            <a:ext cx="0" cy="47217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8" name="E10 N10 to N11"/>
          <p:cNvCxnSpPr/>
          <p:nvPr/>
        </p:nvCxnSpPr>
        <p:spPr>
          <a:xfrm>
            <a:off x="3851361" y="4398525"/>
            <a:ext cx="0" cy="40471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9" name="E11 N06 to N09"/>
          <p:cNvCxnSpPr/>
          <p:nvPr/>
        </p:nvCxnSpPr>
        <p:spPr>
          <a:xfrm>
            <a:off x="6002327" y="2739209"/>
            <a:ext cx="2543751" cy="0"/>
          </a:xfrm>
          <a:prstGeom prst="line">
            <a:avLst/>
          </a:prstGeom>
          <a:ln w="12700">
            <a:solidFill>
              <a:srgbClr val="695183"/>
            </a:solidFill>
          </a:ln>
        </p:spPr>
      </p:cxnSp>
      <p:cxnSp>
        <p:nvCxnSpPr>
          <p:cNvPr id="30" name="E11 N06 to N09"/>
          <p:cNvCxnSpPr/>
          <p:nvPr/>
        </p:nvCxnSpPr>
        <p:spPr>
          <a:xfrm>
            <a:off x="8546078" y="2739209"/>
            <a:ext cx="0" cy="357495"/>
          </a:xfrm>
          <a:prstGeom prst="line">
            <a:avLst/>
          </a:prstGeom>
          <a:ln w="12700">
            <a:solidFill>
              <a:srgbClr val="695183"/>
            </a:solidFill>
            <a:tailEnd type="triangle" w="sm" len="sm"/>
          </a:ln>
        </p:spPr>
      </p:cxnSp>
      <p:cxnSp>
        <p:nvCxnSpPr>
          <p:cNvPr id="31" name="E12 N11 to N12"/>
          <p:cNvCxnSpPr/>
          <p:nvPr/>
        </p:nvCxnSpPr>
        <p:spPr>
          <a:xfrm>
            <a:off x="3851361" y="5005591"/>
            <a:ext cx="0" cy="107923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2" name="E13 N12 to N15"/>
          <p:cNvCxnSpPr/>
          <p:nvPr/>
        </p:nvCxnSpPr>
        <p:spPr>
          <a:xfrm>
            <a:off x="3851361" y="5383322"/>
            <a:ext cx="0" cy="451927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3" name="E14 N11 to N13"/>
          <p:cNvCxnSpPr/>
          <p:nvPr/>
        </p:nvCxnSpPr>
        <p:spPr>
          <a:xfrm>
            <a:off x="5441205" y="4722294"/>
            <a:ext cx="654642" cy="0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4" name="E15 N13 to N05"/>
          <p:cNvCxnSpPr/>
          <p:nvPr/>
        </p:nvCxnSpPr>
        <p:spPr>
          <a:xfrm>
            <a:off x="9836658" y="4722294"/>
            <a:ext cx="1533732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5" name="E15 N13 to N05"/>
          <p:cNvCxnSpPr/>
          <p:nvPr/>
        </p:nvCxnSpPr>
        <p:spPr>
          <a:xfrm flipV="1">
            <a:off x="11370390" y="2415441"/>
            <a:ext cx="0" cy="230685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6" name="E15 N13 to N05"/>
          <p:cNvCxnSpPr/>
          <p:nvPr/>
        </p:nvCxnSpPr>
        <p:spPr>
          <a:xfrm flipH="1">
            <a:off x="6282888" y="2415441"/>
            <a:ext cx="5087502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7" name="E16 N13 to N14"/>
          <p:cNvCxnSpPr/>
          <p:nvPr/>
        </p:nvCxnSpPr>
        <p:spPr>
          <a:xfrm>
            <a:off x="7966252" y="5005591"/>
            <a:ext cx="0" cy="8768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8" name="E17 N14 to N15"/>
          <p:cNvCxnSpPr/>
          <p:nvPr/>
        </p:nvCxnSpPr>
        <p:spPr>
          <a:xfrm flipH="1">
            <a:off x="5721766" y="5349596"/>
            <a:ext cx="140280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9" name="E17 N14 to N15"/>
          <p:cNvCxnSpPr/>
          <p:nvPr/>
        </p:nvCxnSpPr>
        <p:spPr>
          <a:xfrm>
            <a:off x="5721766" y="5349596"/>
            <a:ext cx="0" cy="485653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40" name="E18 N14 to N15"/>
          <p:cNvCxnSpPr/>
          <p:nvPr/>
        </p:nvCxnSpPr>
        <p:spPr>
          <a:xfrm>
            <a:off x="7966252" y="5605913"/>
            <a:ext cx="0" cy="229336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41" name="E19 N06 to N08"/>
          <p:cNvCxnSpPr/>
          <p:nvPr/>
        </p:nvCxnSpPr>
        <p:spPr>
          <a:xfrm>
            <a:off x="4412482" y="3022507"/>
            <a:ext cx="374081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2" name="E19 N06 to N08"/>
          <p:cNvCxnSpPr/>
          <p:nvPr/>
        </p:nvCxnSpPr>
        <p:spPr>
          <a:xfrm>
            <a:off x="4786563" y="3022507"/>
            <a:ext cx="0" cy="72848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3" name="E19 N06 to N08"/>
          <p:cNvCxnSpPr/>
          <p:nvPr/>
        </p:nvCxnSpPr>
        <p:spPr>
          <a:xfrm flipH="1">
            <a:off x="4412482" y="3750987"/>
            <a:ext cx="374081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4" name="原 Workflow N01 开发任务／用户问句"/>
          <p:cNvSpPr/>
          <p:nvPr/>
        </p:nvSpPr>
        <p:spPr>
          <a:xfrm>
            <a:off x="2729118" y="1228288"/>
            <a:ext cx="3366729" cy="20235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1 开发任务／用户问句"/>
          <p:cNvSpPr txBox="1"/>
          <p:nvPr/>
        </p:nvSpPr>
        <p:spPr>
          <a:xfrm>
            <a:off x="2897454" y="1244477"/>
            <a:ext cx="3030056" cy="169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6" name="原 Workflow N02 组装任务上下文"/>
          <p:cNvSpPr/>
          <p:nvPr/>
        </p:nvSpPr>
        <p:spPr>
          <a:xfrm>
            <a:off x="2355037" y="1464370"/>
            <a:ext cx="4114891" cy="283297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2 组装任务上下文"/>
          <p:cNvSpPr txBox="1"/>
          <p:nvPr/>
        </p:nvSpPr>
        <p:spPr>
          <a:xfrm>
            <a:off x="2519632" y="1471452"/>
            <a:ext cx="3785700" cy="1444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454B58"/>
                </a:solidFill>
                <a:latin typeface="PingFang SC"/>
                <a:ea typeface="PingFang SC"/>
              </a:rPr>
              <a:t>组装任务上下文</a:t>
            </a:r>
          </a:p>
        </p:txBody>
      </p:sp>
      <p:sp>
        <p:nvSpPr>
          <p:cNvPr id="48" name="N02 约束、会话上下文与当前问句"/>
          <p:cNvSpPr txBox="1"/>
          <p:nvPr/>
        </p:nvSpPr>
        <p:spPr>
          <a:xfrm>
            <a:off x="2519632" y="1623016"/>
            <a:ext cx="3785700" cy="1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54B58"/>
                </a:solidFill>
                <a:latin typeface="PingFang SC"/>
                <a:ea typeface="PingFang SC"/>
              </a:rPr>
              <a:t>约束、会话上下文与当前问句</a:t>
            </a:r>
          </a:p>
        </p:txBody>
      </p:sp>
      <p:sp>
        <p:nvSpPr>
          <p:cNvPr id="49" name="原 Workflow N03 ① 意图解析"/>
          <p:cNvSpPr/>
          <p:nvPr/>
        </p:nvSpPr>
        <p:spPr>
          <a:xfrm>
            <a:off x="2822638" y="1794884"/>
            <a:ext cx="3179688" cy="18886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N03 ① 意图解析"/>
          <p:cNvSpPr txBox="1"/>
          <p:nvPr/>
        </p:nvSpPr>
        <p:spPr>
          <a:xfrm>
            <a:off x="2981622" y="1809993"/>
            <a:ext cx="2861719" cy="158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54B58"/>
                </a:solidFill>
                <a:latin typeface="PingFang SC"/>
                <a:ea typeface="PingFang SC"/>
              </a:rPr>
              <a:t>① 意图解析</a:t>
            </a:r>
          </a:p>
        </p:txBody>
      </p:sp>
      <p:sp>
        <p:nvSpPr>
          <p:cNvPr id="51" name="原 Workflow N04 ② 子目标拆解"/>
          <p:cNvSpPr/>
          <p:nvPr/>
        </p:nvSpPr>
        <p:spPr>
          <a:xfrm>
            <a:off x="2822638" y="2037710"/>
            <a:ext cx="3179688" cy="18886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N04 ② 子目标拆解"/>
          <p:cNvSpPr txBox="1"/>
          <p:nvPr/>
        </p:nvSpPr>
        <p:spPr>
          <a:xfrm>
            <a:off x="2981622" y="2052819"/>
            <a:ext cx="2861719" cy="158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54B58"/>
                </a:solidFill>
                <a:latin typeface="PingFang SC"/>
                <a:ea typeface="PingFang SC"/>
              </a:rPr>
              <a:t>② 子目标拆解</a:t>
            </a:r>
          </a:p>
        </p:txBody>
      </p:sp>
      <p:sp>
        <p:nvSpPr>
          <p:cNvPr id="53" name="原 Workflow N05 ③ 路由"/>
          <p:cNvSpPr/>
          <p:nvPr/>
        </p:nvSpPr>
        <p:spPr>
          <a:xfrm>
            <a:off x="2542077" y="2280537"/>
            <a:ext cx="3740810" cy="21584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N05 ③ 路由：检索／抓取／直接作答"/>
          <p:cNvSpPr txBox="1"/>
          <p:nvPr/>
        </p:nvSpPr>
        <p:spPr>
          <a:xfrm>
            <a:off x="2729118" y="2297805"/>
            <a:ext cx="3366729" cy="181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4B58"/>
                </a:solidFill>
                <a:latin typeface="PingFang SC"/>
                <a:ea typeface="PingFang SC"/>
              </a:rPr>
              <a:t>③ 路由：检索／抓取／直接作答</a:t>
            </a:r>
          </a:p>
        </p:txBody>
      </p:sp>
      <p:sp>
        <p:nvSpPr>
          <p:cNvPr id="55" name="原 Workflow N06 是否需要检索？"/>
          <p:cNvSpPr/>
          <p:nvPr/>
        </p:nvSpPr>
        <p:spPr>
          <a:xfrm>
            <a:off x="2822638" y="2563835"/>
            <a:ext cx="3179688" cy="350749"/>
          </a:xfrm>
          <a:prstGeom prst="diamond">
            <a:avLst/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N06 是否需要检索？"/>
          <p:cNvSpPr txBox="1"/>
          <p:nvPr/>
        </p:nvSpPr>
        <p:spPr>
          <a:xfrm>
            <a:off x="3267794" y="2648014"/>
            <a:ext cx="2289375" cy="1578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4B58"/>
                </a:solidFill>
                <a:latin typeface="PingFang SC"/>
                <a:ea typeface="PingFang SC"/>
              </a:rPr>
              <a:t>是否需要检索？</a:t>
            </a:r>
          </a:p>
        </p:txBody>
      </p:sp>
      <p:sp>
        <p:nvSpPr>
          <p:cNvPr id="57" name="N06 工具调用决策"/>
          <p:cNvSpPr txBox="1"/>
          <p:nvPr/>
        </p:nvSpPr>
        <p:spPr>
          <a:xfrm>
            <a:off x="3522170" y="2774284"/>
            <a:ext cx="1780625" cy="105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54B58"/>
                </a:solidFill>
                <a:latin typeface="PingFang SC"/>
                <a:ea typeface="PingFang SC"/>
              </a:rPr>
              <a:t>工具调用决策</a:t>
            </a:r>
          </a:p>
        </p:txBody>
      </p:sp>
      <p:sp>
        <p:nvSpPr>
          <p:cNvPr id="58" name="原 Workflow N07 web_search 搜索候选"/>
          <p:cNvSpPr/>
          <p:nvPr/>
        </p:nvSpPr>
        <p:spPr>
          <a:xfrm>
            <a:off x="671672" y="3103449"/>
            <a:ext cx="3740810" cy="377730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N07 web_search 搜索候选"/>
          <p:cNvSpPr txBox="1"/>
          <p:nvPr/>
        </p:nvSpPr>
        <p:spPr>
          <a:xfrm>
            <a:off x="821304" y="3112893"/>
            <a:ext cx="3441545" cy="181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60" name="N07 M1 官方发现 · M5 第三方数量"/>
          <p:cNvSpPr txBox="1"/>
          <p:nvPr/>
        </p:nvSpPr>
        <p:spPr>
          <a:xfrm>
            <a:off x="821304" y="3313090"/>
            <a:ext cx="3441545" cy="151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M1 官方发现 · M5 第三方数量</a:t>
            </a:r>
          </a:p>
        </p:txBody>
      </p:sp>
      <p:sp>
        <p:nvSpPr>
          <p:cNvPr id="61" name="原 Workflow N08 web_fetch 读取正文"/>
          <p:cNvSpPr/>
          <p:nvPr/>
        </p:nvSpPr>
        <p:spPr>
          <a:xfrm>
            <a:off x="671672" y="3562122"/>
            <a:ext cx="3740810" cy="377730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N08 web_fetch 读取正文"/>
          <p:cNvSpPr txBox="1"/>
          <p:nvPr/>
        </p:nvSpPr>
        <p:spPr>
          <a:xfrm>
            <a:off x="821304" y="3571565"/>
            <a:ext cx="3441545" cy="181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63" name="N08 M2 正文取得 · M3 内容支撑"/>
          <p:cNvSpPr txBox="1"/>
          <p:nvPr/>
        </p:nvSpPr>
        <p:spPr>
          <a:xfrm>
            <a:off x="821304" y="3771762"/>
            <a:ext cx="3441545" cy="151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M2 正文取得 · M3 内容支撑</a:t>
            </a:r>
          </a:p>
        </p:txBody>
      </p:sp>
      <p:sp>
        <p:nvSpPr>
          <p:cNvPr id="64" name="原 Workflow N09 模型自带知识"/>
          <p:cNvSpPr/>
          <p:nvPr/>
        </p:nvSpPr>
        <p:spPr>
          <a:xfrm>
            <a:off x="6488632" y="3096704"/>
            <a:ext cx="4114891" cy="472162"/>
          </a:xfrm>
          <a:prstGeom prst="roundRect">
            <a:avLst>
              <a:gd name="adj" fmla="val 14000"/>
            </a:avLst>
          </a:prstGeom>
          <a:solidFill>
            <a:srgbClr val="EAE2F8"/>
          </a:solidFill>
          <a:ln w="10160">
            <a:solidFill>
              <a:srgbClr val="C6B9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N09 模型自带知识"/>
          <p:cNvSpPr txBox="1"/>
          <p:nvPr/>
        </p:nvSpPr>
        <p:spPr>
          <a:xfrm>
            <a:off x="6653228" y="3108508"/>
            <a:ext cx="3785700" cy="2266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695183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6" name="N09 M7 检索前知识（无工具回答）"/>
          <p:cNvSpPr txBox="1"/>
          <p:nvPr/>
        </p:nvSpPr>
        <p:spPr>
          <a:xfrm>
            <a:off x="6653228" y="3358755"/>
            <a:ext cx="3785700" cy="1888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95183"/>
                </a:solidFill>
                <a:latin typeface="PingFang SC"/>
                <a:ea typeface="PingFang SC"/>
              </a:rPr>
              <a:t>M7 检索前知识（无工具回答）</a:t>
            </a:r>
          </a:p>
        </p:txBody>
      </p:sp>
      <p:sp>
        <p:nvSpPr>
          <p:cNvPr id="67" name="原 Workflow N10 汇总当前证据（回灌）"/>
          <p:cNvSpPr/>
          <p:nvPr/>
        </p:nvSpPr>
        <p:spPr>
          <a:xfrm>
            <a:off x="1793915" y="4061266"/>
            <a:ext cx="4114891" cy="337259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AFCD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11" y="4069697"/>
            <a:ext cx="3785700" cy="161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56F5F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N10 M6 说法支持 · M8 调用成本"/>
          <p:cNvSpPr txBox="1"/>
          <p:nvPr/>
        </p:nvSpPr>
        <p:spPr>
          <a:xfrm>
            <a:off x="1958511" y="4248444"/>
            <a:ext cx="3785700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M6 说法支持 · M8 调用成本</a:t>
            </a:r>
          </a:p>
        </p:txBody>
      </p:sp>
      <p:sp>
        <p:nvSpPr>
          <p:cNvPr id="70" name="原 Workflow N11 ④ 证据是否充分？"/>
          <p:cNvSpPr/>
          <p:nvPr/>
        </p:nvSpPr>
        <p:spPr>
          <a:xfrm>
            <a:off x="2261516" y="4438996"/>
            <a:ext cx="3179688" cy="566595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N11 ④ 证据是否充分？"/>
          <p:cNvSpPr txBox="1"/>
          <p:nvPr/>
        </p:nvSpPr>
        <p:spPr>
          <a:xfrm>
            <a:off x="2643079" y="4563647"/>
            <a:ext cx="2416563" cy="203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④ 证据是否充分？</a:t>
            </a:r>
          </a:p>
        </p:txBody>
      </p:sp>
      <p:sp>
        <p:nvSpPr>
          <p:cNvPr id="72" name="N11 M4 / M9 / M10"/>
          <p:cNvSpPr txBox="1"/>
          <p:nvPr/>
        </p:nvSpPr>
        <p:spPr>
          <a:xfrm>
            <a:off x="2961048" y="4727960"/>
            <a:ext cx="1780625" cy="169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8A563E"/>
                </a:solidFill>
                <a:latin typeface="PingFang SC"/>
                <a:ea typeface="PingFang SC"/>
              </a:rPr>
              <a:t>M4 / M9 / M10</a:t>
            </a:r>
          </a:p>
        </p:txBody>
      </p:sp>
      <p:sp>
        <p:nvSpPr>
          <p:cNvPr id="73" name="原 Workflow N12 ⑥ 收敛（证据充分）"/>
          <p:cNvSpPr/>
          <p:nvPr/>
        </p:nvSpPr>
        <p:spPr>
          <a:xfrm>
            <a:off x="2167996" y="5113514"/>
            <a:ext cx="3366729" cy="269807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N12 ⑥ 收敛（证据充分）"/>
          <p:cNvSpPr txBox="1"/>
          <p:nvPr/>
        </p:nvSpPr>
        <p:spPr>
          <a:xfrm>
            <a:off x="2336333" y="5135099"/>
            <a:ext cx="3030056" cy="2266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⑥ 收敛（证据充分）</a:t>
            </a:r>
          </a:p>
        </p:txBody>
      </p:sp>
      <p:sp>
        <p:nvSpPr>
          <p:cNvPr id="75" name="原 Workflow N13 能否继续检索？"/>
          <p:cNvSpPr/>
          <p:nvPr/>
        </p:nvSpPr>
        <p:spPr>
          <a:xfrm>
            <a:off x="6095847" y="4438996"/>
            <a:ext cx="3740810" cy="566595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3 能否继续检索？"/>
          <p:cNvSpPr txBox="1"/>
          <p:nvPr/>
        </p:nvSpPr>
        <p:spPr>
          <a:xfrm>
            <a:off x="6656969" y="4580645"/>
            <a:ext cx="2618567" cy="198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77" name="N13 未达上限且预期有效"/>
          <p:cNvSpPr txBox="1"/>
          <p:nvPr/>
        </p:nvSpPr>
        <p:spPr>
          <a:xfrm>
            <a:off x="6918825" y="4767621"/>
            <a:ext cx="2094853" cy="1473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78" name="原 Workflow N14 是否仍有可靠证据？"/>
          <p:cNvSpPr/>
          <p:nvPr/>
        </p:nvSpPr>
        <p:spPr>
          <a:xfrm>
            <a:off x="5862046" y="5093279"/>
            <a:ext cx="4208411" cy="51263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N14 是否仍有可靠证据？"/>
          <p:cNvSpPr txBox="1"/>
          <p:nvPr/>
        </p:nvSpPr>
        <p:spPr>
          <a:xfrm>
            <a:off x="6367056" y="5206058"/>
            <a:ext cx="3198392" cy="1794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80" name="N14 官方／第三方／先验任一充分"/>
          <p:cNvSpPr txBox="1"/>
          <p:nvPr/>
        </p:nvSpPr>
        <p:spPr>
          <a:xfrm>
            <a:off x="6577476" y="5354722"/>
            <a:ext cx="2777551" cy="1332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81" name="原 Workflow N15 终答"/>
          <p:cNvSpPr/>
          <p:nvPr/>
        </p:nvSpPr>
        <p:spPr>
          <a:xfrm>
            <a:off x="1232794" y="5835249"/>
            <a:ext cx="9352026" cy="431691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N15 终答"/>
          <p:cNvSpPr txBox="1"/>
          <p:nvPr/>
        </p:nvSpPr>
        <p:spPr>
          <a:xfrm>
            <a:off x="1606875" y="5846041"/>
            <a:ext cx="8603863" cy="207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83" name="N15 M11 综合知识支撑（连续 0–100）"/>
          <p:cNvSpPr txBox="1"/>
          <p:nvPr/>
        </p:nvSpPr>
        <p:spPr>
          <a:xfrm>
            <a:off x="1606875" y="6074838"/>
            <a:ext cx="8603863" cy="172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C6176"/>
                </a:solidFill>
                <a:latin typeface="PingFang SC"/>
                <a:ea typeface="PingFang SC"/>
              </a:rPr>
              <a:t>M11 综合知识支撑（连续 0–100）</a:t>
            </a:r>
          </a:p>
        </p:txBody>
      </p:sp>
      <p:sp>
        <p:nvSpPr>
          <p:cNvPr id="84" name="原 Workflow 分支 否：依据模型先验"/>
          <p:cNvSpPr txBox="1"/>
          <p:nvPr/>
        </p:nvSpPr>
        <p:spPr>
          <a:xfrm>
            <a:off x="6563448" y="2563835"/>
            <a:ext cx="3927850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95183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85" name="原 Workflow 分支 是：调用工具检索"/>
          <p:cNvSpPr txBox="1"/>
          <p:nvPr/>
        </p:nvSpPr>
        <p:spPr>
          <a:xfrm>
            <a:off x="4786563" y="2934820"/>
            <a:ext cx="2712087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是：调用工具检索</a:t>
            </a:r>
          </a:p>
        </p:txBody>
      </p:sp>
      <p:sp>
        <p:nvSpPr>
          <p:cNvPr id="86" name="原 Workflow 分支 选中 URL"/>
          <p:cNvSpPr txBox="1"/>
          <p:nvPr/>
        </p:nvSpPr>
        <p:spPr>
          <a:xfrm>
            <a:off x="2822638" y="3454199"/>
            <a:ext cx="1645956" cy="1214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87" name="原 Workflow 分支 已知 URL&#10;可直接获取"/>
          <p:cNvSpPr txBox="1"/>
          <p:nvPr/>
        </p:nvSpPr>
        <p:spPr>
          <a:xfrm>
            <a:off x="4917492" y="3380002"/>
            <a:ext cx="1496324" cy="256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88" name="原 Workflow 分支 充分"/>
          <p:cNvSpPr txBox="1"/>
          <p:nvPr/>
        </p:nvSpPr>
        <p:spPr>
          <a:xfrm>
            <a:off x="4075809" y="4998846"/>
            <a:ext cx="748162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89" name="原 Workflow 分支 不足"/>
          <p:cNvSpPr txBox="1"/>
          <p:nvPr/>
        </p:nvSpPr>
        <p:spPr>
          <a:xfrm>
            <a:off x="5478613" y="4573900"/>
            <a:ext cx="598529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90" name="原 Workflow 分支 是：换检索词再搜索"/>
          <p:cNvSpPr txBox="1"/>
          <p:nvPr/>
        </p:nvSpPr>
        <p:spPr>
          <a:xfrm>
            <a:off x="9612209" y="3656554"/>
            <a:ext cx="2057445" cy="2698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91" name="原 Workflow 分支 否：检索已穷尽"/>
          <p:cNvSpPr txBox="1"/>
          <p:nvPr/>
        </p:nvSpPr>
        <p:spPr>
          <a:xfrm>
            <a:off x="8115885" y="5012337"/>
            <a:ext cx="2618567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92" name="原 Workflow 分支 有：依据证据作答"/>
          <p:cNvSpPr txBox="1"/>
          <p:nvPr/>
        </p:nvSpPr>
        <p:spPr>
          <a:xfrm>
            <a:off x="4356370" y="5599168"/>
            <a:ext cx="2712087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93" name="原 Workflow 分支 无：记忆补缺风险"/>
          <p:cNvSpPr txBox="1"/>
          <p:nvPr/>
        </p:nvSpPr>
        <p:spPr>
          <a:xfrm>
            <a:off x="8228109" y="5659874"/>
            <a:ext cx="3366729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  <p:sp>
        <p:nvSpPr>
          <p:cNvPr id="94" name="概念流程及证据边界说明"/>
          <p:cNvSpPr txBox="1"/>
          <p:nvPr/>
        </p:nvSpPr>
        <p:spPr>
          <a:xfrm>
            <a:off x="484632" y="6423660"/>
            <a:ext cx="112224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27B8C"/>
                </a:solidFill>
                <a:latin typeface="PingFang SC"/>
                <a:ea typeface="PingFang SC"/>
              </a:rPr>
              <a:t>概念环节定位，实际评分独立执行。模型可能无法可靠识别知识缺口；证据不足时，终答须显式说明边界。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95183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 · 一个代表例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M7：把知识自评改为回答核验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355080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五档关键词短写，仅表示档位顺序，前后分值不直接换算。缺测或正确性未知单列；09-21冻结规则。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82496"/>
            <a:ext cx="283464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2416" y="1636776"/>
            <a:ext cx="45994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8717F"/>
                </a:solidFill>
                <a:latin typeface="PingFang SC"/>
                <a:ea typeface="PingFang SC"/>
              </a:rPr>
              <a:t>改前 · 模型自评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157984"/>
            <a:ext cx="5102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
不足：正确性和原题覆盖难核验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682496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94576" y="1636776"/>
            <a:ext cx="45994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A52A8"/>
                </a:solidFill>
                <a:latin typeface="PingFang SC"/>
                <a:ea typeface="PingFang SC"/>
              </a:rPr>
              <a:t>改后 · 回答核验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57984"/>
            <a:ext cx="5102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首次工具前冻结同题无工具回答
优势：证据可追溯，自信不计分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50408" y="1819656"/>
            <a:ext cx="640080" cy="0"/>
          </a:xfrm>
          <a:prstGeom prst="line">
            <a:avLst/>
          </a:prstGeom>
          <a:ln w="13970">
            <a:solidFill>
              <a:srgbClr val="6A52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7改前自评阶梯"/>
          <p:cNvSpPr/>
          <p:nvPr/>
        </p:nvSpPr>
        <p:spPr>
          <a:xfrm>
            <a:off x="621792" y="3584448"/>
            <a:ext cx="4800600" cy="2066544"/>
          </a:xfrm>
          <a:custGeom>
            <a:avLst/>
            <a:gdLst/>
            <a:ahLst/>
            <a:cxnLst/>
            <a:rect l="l" t="t" r="r" b="b"/>
            <a:pathLst>
              <a:path w="4800600" h="2066544">
                <a:moveTo>
                  <a:pt x="0" y="2066544"/>
                </a:moveTo>
                <a:lnTo>
                  <a:pt x="0" y="1682496"/>
                </a:lnTo>
                <a:lnTo>
                  <a:pt x="960120" y="1682496"/>
                </a:lnTo>
                <a:lnTo>
                  <a:pt x="960120" y="1261872"/>
                </a:lnTo>
                <a:lnTo>
                  <a:pt x="1920240" y="1261872"/>
                </a:lnTo>
                <a:lnTo>
                  <a:pt x="1920240" y="841248"/>
                </a:lnTo>
                <a:lnTo>
                  <a:pt x="2880360" y="841248"/>
                </a:lnTo>
                <a:lnTo>
                  <a:pt x="2880360" y="420624"/>
                </a:lnTo>
                <a:lnTo>
                  <a:pt x="3840480" y="420624"/>
                </a:lnTo>
                <a:lnTo>
                  <a:pt x="3840480" y="0"/>
                </a:lnTo>
                <a:lnTo>
                  <a:pt x="4800600" y="0"/>
                </a:lnTo>
                <a:lnTo>
                  <a:pt x="4800600" y="2066544"/>
                </a:lnTo>
                <a:close/>
              </a:path>
            </a:pathLst>
          </a:custGeom>
          <a:solidFill>
            <a:srgbClr val="F1F2F3"/>
          </a:solidFill>
          <a:ln w="13970">
            <a:solidFill>
              <a:srgbClr val="D5D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" y="4361688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依赖现查
知识易过时</a:t>
            </a:r>
          </a:p>
        </p:txBody>
      </p:sp>
      <p:sp>
        <p:nvSpPr>
          <p:cNvPr id="22" name="改前档位1"/>
          <p:cNvSpPr txBox="1"/>
          <p:nvPr/>
        </p:nvSpPr>
        <p:spPr>
          <a:xfrm>
            <a:off x="621792" y="5308092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8195" y="3941063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知识薄弱
不敢给命令</a:t>
            </a:r>
          </a:p>
        </p:txBody>
      </p:sp>
      <p:sp>
        <p:nvSpPr>
          <p:cNvPr id="24" name="改前档位2"/>
          <p:cNvSpPr txBox="1"/>
          <p:nvPr/>
        </p:nvSpPr>
        <p:spPr>
          <a:xfrm>
            <a:off x="1581912" y="4887468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8316" y="3520439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已有概念
细节需检索</a:t>
            </a:r>
          </a:p>
        </p:txBody>
      </p:sp>
      <p:sp>
        <p:nvSpPr>
          <p:cNvPr id="26" name="改前档位3"/>
          <p:cNvSpPr txBox="1"/>
          <p:nvPr/>
        </p:nvSpPr>
        <p:spPr>
          <a:xfrm>
            <a:off x="2542032" y="4466844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8436" y="3099815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流程熟悉
可给骨架</a:t>
            </a:r>
          </a:p>
        </p:txBody>
      </p:sp>
      <p:sp>
        <p:nvSpPr>
          <p:cNvPr id="28" name="改前档位4"/>
          <p:cNvSpPr txBox="1"/>
          <p:nvPr/>
        </p:nvSpPr>
        <p:spPr>
          <a:xfrm>
            <a:off x="3502152" y="4046220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8556" y="2679191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覆盖密集
大体可靠</a:t>
            </a:r>
          </a:p>
        </p:txBody>
      </p:sp>
      <p:sp>
        <p:nvSpPr>
          <p:cNvPr id="30" name="改前档位5"/>
          <p:cNvSpPr txBox="1"/>
          <p:nvPr/>
        </p:nvSpPr>
        <p:spPr>
          <a:xfrm>
            <a:off x="4462272" y="3625596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31" name="M7改后证据阶梯"/>
          <p:cNvSpPr/>
          <p:nvPr/>
        </p:nvSpPr>
        <p:spPr>
          <a:xfrm>
            <a:off x="6473952" y="3584448"/>
            <a:ext cx="4800600" cy="2066544"/>
          </a:xfrm>
          <a:custGeom>
            <a:avLst/>
            <a:gdLst/>
            <a:ahLst/>
            <a:cxnLst/>
            <a:rect l="l" t="t" r="r" b="b"/>
            <a:pathLst>
              <a:path w="4800600" h="2066544">
                <a:moveTo>
                  <a:pt x="0" y="2066544"/>
                </a:moveTo>
                <a:lnTo>
                  <a:pt x="0" y="1682496"/>
                </a:lnTo>
                <a:lnTo>
                  <a:pt x="960120" y="1682496"/>
                </a:lnTo>
                <a:lnTo>
                  <a:pt x="960120" y="1261872"/>
                </a:lnTo>
                <a:lnTo>
                  <a:pt x="1920240" y="1261872"/>
                </a:lnTo>
                <a:lnTo>
                  <a:pt x="1920240" y="841248"/>
                </a:lnTo>
                <a:lnTo>
                  <a:pt x="2880360" y="841248"/>
                </a:lnTo>
                <a:lnTo>
                  <a:pt x="2880360" y="420624"/>
                </a:lnTo>
                <a:lnTo>
                  <a:pt x="3840480" y="420624"/>
                </a:lnTo>
                <a:lnTo>
                  <a:pt x="3840480" y="0"/>
                </a:lnTo>
                <a:lnTo>
                  <a:pt x="4800600" y="0"/>
                </a:lnTo>
                <a:lnTo>
                  <a:pt x="4800600" y="2066544"/>
                </a:lnTo>
                <a:close/>
              </a:path>
            </a:pathLst>
          </a:custGeom>
          <a:solidFill>
            <a:srgbClr val="F0EEF6"/>
          </a:solidFill>
          <a:ln w="13970">
            <a:solidFill>
              <a:srgbClr val="BCB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216" y="4361688"/>
            <a:ext cx="1133856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无可核验
正确知识
或关键主张错</a:t>
            </a:r>
          </a:p>
        </p:txBody>
      </p:sp>
      <p:sp>
        <p:nvSpPr>
          <p:cNvPr id="33" name="改后档位1"/>
          <p:cNvSpPr txBox="1"/>
          <p:nvPr/>
        </p:nvSpPr>
        <p:spPr>
          <a:xfrm>
            <a:off x="6473952" y="5308092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0356" y="3941063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仅正确概念
无具体方法</a:t>
            </a:r>
          </a:p>
        </p:txBody>
      </p:sp>
      <p:sp>
        <p:nvSpPr>
          <p:cNvPr id="35" name="改后档位2"/>
          <p:cNvSpPr txBox="1"/>
          <p:nvPr/>
        </p:nvSpPr>
        <p:spPr>
          <a:xfrm>
            <a:off x="7434072" y="4887468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0475" y="3520439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正确片段
关键细节缺</a:t>
            </a:r>
          </a:p>
        </p:txBody>
      </p:sp>
      <p:sp>
        <p:nvSpPr>
          <p:cNvPr id="37" name="改后档位3"/>
          <p:cNvSpPr txBox="1"/>
          <p:nvPr/>
        </p:nvSpPr>
        <p:spPr>
          <a:xfrm>
            <a:off x="8394192" y="4466844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0596" y="3099815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流程／解释
正确完整
参数约束缺</a:t>
            </a:r>
          </a:p>
        </p:txBody>
      </p:sp>
      <p:sp>
        <p:nvSpPr>
          <p:cNvPr id="39" name="改后档位4"/>
          <p:cNvSpPr txBox="1"/>
          <p:nvPr/>
        </p:nvSpPr>
        <p:spPr>
          <a:xfrm>
            <a:off x="9354312" y="4046220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0716" y="2679191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原题要求
准确全覆盖</a:t>
            </a:r>
          </a:p>
        </p:txBody>
      </p:sp>
      <p:sp>
        <p:nvSpPr>
          <p:cNvPr id="41" name="改后档位5"/>
          <p:cNvSpPr txBox="1"/>
          <p:nvPr/>
        </p:nvSpPr>
        <p:spPr>
          <a:xfrm>
            <a:off x="10314432" y="3625596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355E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355E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355E8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356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356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356F5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3712463"/>
            <a:ext cx="474573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069080"/>
            <a:ext cx="474573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712463"/>
            <a:ext cx="474573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6F5F"/>
                </a:solidFill>
                <a:latin typeface="PingFang SC"/>
                <a:ea typeface="PingFang SC"/>
              </a:rPr>
              <a:t>CANN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2824" y="4069080"/>
            <a:ext cx="474573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模型与实验安排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让三个模型分别完成同一组问题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91640"/>
            <a:ext cx="5696712" cy="49377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755648"/>
            <a:ext cx="5422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25组问题，每组 CUDA / CANN 各一题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" y="2185416"/>
            <a:ext cx="0" cy="17373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391156" y="2359152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91156" y="2359152"/>
            <a:ext cx="0" cy="155448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4476" y="2185416"/>
            <a:ext cx="0" cy="17373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4476" y="2359152"/>
            <a:ext cx="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4476" y="2359152"/>
            <a:ext cx="0" cy="155448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4476" y="2185416"/>
            <a:ext cx="0" cy="17373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4476" y="2359152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97796" y="2359152"/>
            <a:ext cx="0" cy="155448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1792" y="2542032"/>
            <a:ext cx="3538728" cy="10698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2779776"/>
            <a:ext cx="31729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255264"/>
            <a:ext cx="3172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2542032"/>
            <a:ext cx="3538728" cy="10698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2779776"/>
            <a:ext cx="31729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3255264"/>
            <a:ext cx="3172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2542032"/>
            <a:ext cx="3538728" cy="10698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1" y="2779776"/>
            <a:ext cx="31729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3255264"/>
            <a:ext cx="3172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91156" y="3611880"/>
            <a:ext cx="0" cy="210311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91156" y="3822191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4476" y="3611880"/>
            <a:ext cx="0" cy="210311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4476" y="3822191"/>
            <a:ext cx="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97796" y="3611880"/>
            <a:ext cx="0" cy="210311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094476" y="3822191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4476" y="3822191"/>
            <a:ext cx="0" cy="192024"/>
          </a:xfrm>
          <a:prstGeom prst="line">
            <a:avLst/>
          </a:prstGeom>
          <a:ln w="13970">
            <a:solidFill>
              <a:srgbClr val="355E8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30752" y="4078224"/>
            <a:ext cx="25146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355E85"/>
                </a:solidFill>
                <a:latin typeface="Inter ExtraLight"/>
                <a:ea typeface="PingFang SC"/>
              </a:rPr>
              <a:t>150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178808"/>
            <a:ext cx="448056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55E85"/>
                </a:solidFill>
                <a:latin typeface="PingFang SC"/>
                <a:ea typeface="PingFang SC"/>
              </a:rPr>
              <a:t>次实验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4882896"/>
            <a:ext cx="10954512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25组问题 × 2个平台 × 3个模型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1792" y="542239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同一工具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搜索 + 读取资料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10712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同一额度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0712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最多4次搜索 / 8次读取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1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同一标准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1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使用前页评分表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1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新对话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88551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每道题重新开始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实验怎么进行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一次实验：先回答，再查资料，最后作答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19072"/>
            <a:ext cx="109545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实例：Kimi 回答 CUDA 性能分析问题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59935" y="3236976"/>
            <a:ext cx="16459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63256" y="3236976"/>
            <a:ext cx="16459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" y="2468880"/>
            <a:ext cx="3438144" cy="1792224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" y="267919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679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660904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" y="3163824"/>
            <a:ext cx="3017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先凭已有知识回答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365760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看看不查资料时
能答到什么程度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2468880"/>
            <a:ext cx="3438144" cy="1792224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35424" y="267919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2679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660904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35424" y="3163824"/>
            <a:ext cx="3017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搜索并阅读资料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65760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记录找到的来源
以及实际读到的正文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2468880"/>
            <a:ext cx="3438144" cy="1792224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38744" y="267919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2679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9063" y="2660904"/>
            <a:ext cx="329184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38744" y="3163824"/>
            <a:ext cx="3017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结合资料再次作答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65760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保存最后的完整回答
用于评价对任务的帮助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4800600"/>
            <a:ext cx="34381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355E85"/>
                </a:solidFill>
                <a:latin typeface="Inter ExtraLight"/>
                <a:ea typeface="PingFang S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641848"/>
            <a:ext cx="3438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次搜索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42231" y="4809744"/>
            <a:ext cx="0" cy="98755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25112" y="4800600"/>
            <a:ext cx="34381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355E85"/>
                </a:solidFill>
                <a:latin typeface="Inter ExtraLight"/>
                <a:ea typeface="PingFang S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5641848"/>
            <a:ext cx="3438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次读取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45552" y="4809744"/>
            <a:ext cx="0" cy="98755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28431" y="5047488"/>
            <a:ext cx="343814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355E85"/>
                </a:solidFill>
                <a:latin typeface="PingFang SC"/>
                <a:ea typeface="PingFang SC"/>
              </a:rPr>
              <a:t>4分33秒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1" y="5641848"/>
            <a:ext cx="3438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用时约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190488"/>
            <a:ext cx="1095451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第一次回答、资料来源、最后回答、调用次数，都留下记录供评分使用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评分与复核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对照评分表打分，再回看记录复核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0784"/>
            <a:ext cx="4261104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初评 · GLM-5.3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1737360"/>
            <a:ext cx="675741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按同一张评分表评价三个被测模型的回答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231136"/>
            <a:ext cx="10945368" cy="1490472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423160"/>
            <a:ext cx="32369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97480"/>
                </a:solidFill>
                <a:latin typeface="PingFang SC"/>
                <a:ea typeface="PingFang SC"/>
              </a:rPr>
              <a:t>实验记录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423160"/>
            <a:ext cx="33101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97480"/>
                </a:solidFill>
                <a:latin typeface="PingFang SC"/>
                <a:ea typeface="PingFang SC"/>
              </a:rPr>
              <a:t>对应评分标准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42316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97480"/>
                </a:solidFill>
                <a:latin typeface="PingFang SC"/>
                <a:ea typeface="PingFang SC"/>
              </a:rPr>
              <a:t>得分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24528" y="3127248"/>
            <a:ext cx="438912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57031" y="3127248"/>
            <a:ext cx="585217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7824" y="2834640"/>
            <a:ext cx="3236976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第2次搜索，
才找到官方资料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2834640"/>
            <a:ext cx="331012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M1 官方发现
第2次搜索首次找到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688336"/>
            <a:ext cx="12252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0">
                <a:solidFill>
                  <a:srgbClr val="695183"/>
                </a:solidFill>
                <a:latin typeface="Inter ExtraLight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96728" y="3136392"/>
            <a:ext cx="612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160520"/>
            <a:ext cx="10945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复核：查证据，再审定修订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700016"/>
            <a:ext cx="3429000" cy="1152144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910328"/>
            <a:ext cx="30449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程序检查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5431536"/>
            <a:ext cx="30449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核对原文、分档与计算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87368" y="5276088"/>
            <a:ext cx="19202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325112" y="4700016"/>
            <a:ext cx="3429000" cy="1152144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4910328"/>
            <a:ext cx="30449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5431536"/>
            <a:ext cx="30449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辅助内容复核，提出修订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90688" y="5276088"/>
            <a:ext cx="19202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28431" y="4700016"/>
            <a:ext cx="3429000" cy="1152144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0456" y="4910328"/>
            <a:ext cx="30449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GPT-6 Astra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5431536"/>
            <a:ext cx="30449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主代理核对并审定修订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181344"/>
            <a:ext cx="1094536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初评与修订分别保存；复核覆盖重点内容，修改时留下依据和理由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结果怎么汇总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各模型分别算平均，再比较结论是否一致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0784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同一个指标下，先比较同题两侧，再汇总每个模型的任务平均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77056" y="2971800"/>
            <a:ext cx="0" cy="128015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77056" y="3099815"/>
            <a:ext cx="3575304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44768" y="2971800"/>
            <a:ext cx="0" cy="128015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77056" y="3950208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77056" y="4078224"/>
            <a:ext cx="3575304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44768" y="3950208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77056" y="4928616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77056" y="5056632"/>
            <a:ext cx="3575304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44768" y="4928616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52360" y="3099816"/>
            <a:ext cx="0" cy="19568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2360" y="3639312"/>
            <a:ext cx="384048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2459736"/>
            <a:ext cx="21214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2928" y="2350008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0" y="2350008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2459736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CUDA 任务平均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2459736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CANN 任务平均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438144"/>
            <a:ext cx="21214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 V4.1 Flash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52928" y="3328416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20640" y="3328416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5224" y="3438144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CUDA 任务平均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2936" y="3438144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CANN 任务平均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416552"/>
            <a:ext cx="21214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52928" y="4306824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20640" y="4306824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35224" y="4416552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CUDA 任务平均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2936" y="4416552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CANN 任务平均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2459736"/>
            <a:ext cx="3593592" cy="227685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2724912"/>
            <a:ext cx="31181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跨模型对照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3310128"/>
            <a:ext cx="3118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三个模型是否指向
相同的薄弱环节？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4197096"/>
            <a:ext cx="3118104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1792" y="5385816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1792" y="5605272"/>
            <a:ext cx="1094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把共同的缺口，转成设计改进线索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190488"/>
            <a:ext cx="1094536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更容易找到资料、更容易读取正文、更清楚的操作步骤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992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把提问、执行、记录和评分要求，整理成一套可以重复使用的方法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3209544"/>
            <a:ext cx="49377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43216" y="3209544"/>
            <a:ext cx="411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54696" y="2715768"/>
            <a:ext cx="0" cy="10972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54696" y="271576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54696" y="381304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" y="2450592"/>
            <a:ext cx="2706624" cy="15270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15768"/>
            <a:ext cx="22494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224942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一套问题、对照平台
以及实际执行的模型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322576"/>
            <a:ext cx="3557016" cy="177393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2706624"/>
            <a:ext cx="3136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383280"/>
            <a:ext cx="31363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统一执行与记录方式
按规则评价、保留依据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29514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414015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完整过程记录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82549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回答、搜索与读取资料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9242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11296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评分依据与任务缺口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2277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分项分数、依据、未满足需求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59028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后续汇总：用这些产物比较平台与模型，找到设计改进线索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14807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不同平台和模型
使用同一套规则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分数能回到原始记录
查到判断依据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持续复用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换任务、模型或平台
沿用同一套流程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